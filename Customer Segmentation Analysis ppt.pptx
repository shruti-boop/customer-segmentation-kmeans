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1" r:id="rId1"/>
  </p:sldMasterIdLst>
  <p:sldIdLst>
    <p:sldId id="256" r:id="rId2"/>
    <p:sldId id="292" r:id="rId3"/>
    <p:sldId id="258" r:id="rId4"/>
    <p:sldId id="259" r:id="rId5"/>
    <p:sldId id="260" r:id="rId6"/>
    <p:sldId id="261" r:id="rId7"/>
    <p:sldId id="262" r:id="rId8"/>
    <p:sldId id="263" r:id="rId9"/>
    <p:sldId id="264" r:id="rId10"/>
    <p:sldId id="265" r:id="rId11"/>
    <p:sldId id="301"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3" r:id="rId39"/>
    <p:sldId id="294" r:id="rId40"/>
    <p:sldId id="295" r:id="rId41"/>
    <p:sldId id="296" r:id="rId42"/>
    <p:sldId id="297" r:id="rId43"/>
    <p:sldId id="298" r:id="rId44"/>
    <p:sldId id="299" r:id="rId45"/>
    <p:sldId id="300" r:id="rId46"/>
    <p:sldId id="302" r:id="rId47"/>
    <p:sldId id="303" r:id="rId48"/>
    <p:sldId id="304" r:id="rId49"/>
    <p:sldId id="305" r:id="rId50"/>
    <p:sldId id="306" r:id="rId51"/>
    <p:sldId id="307" r:id="rId52"/>
    <p:sldId id="308" r:id="rId53"/>
    <p:sldId id="309" r:id="rId54"/>
    <p:sldId id="310" r:id="rId55"/>
    <p:sldId id="311" r:id="rId5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55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EFB2E50-DDAA-4305-B81A-2B35CDDE9392}" type="datetimeFigureOut">
              <a:rPr lang="en-IN" smtClean="0"/>
              <a:t>14-10-2025</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68B7EC2A-84A4-493F-8956-EC53932DCD35}" type="slidenum">
              <a:rPr lang="en-IN" smtClean="0"/>
              <a:t>‹#›</a:t>
            </a:fld>
            <a:endParaRPr lang="en-IN"/>
          </a:p>
        </p:txBody>
      </p:sp>
    </p:spTree>
    <p:extLst>
      <p:ext uri="{BB962C8B-B14F-4D97-AF65-F5344CB8AC3E}">
        <p14:creationId xmlns:p14="http://schemas.microsoft.com/office/powerpoint/2010/main" val="4080115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FB2E50-DDAA-4305-B81A-2B35CDDE9392}"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B7EC2A-84A4-493F-8956-EC53932DCD35}" type="slidenum">
              <a:rPr lang="en-IN" smtClean="0"/>
              <a:t>‹#›</a:t>
            </a:fld>
            <a:endParaRPr lang="en-IN"/>
          </a:p>
        </p:txBody>
      </p:sp>
    </p:spTree>
    <p:extLst>
      <p:ext uri="{BB962C8B-B14F-4D97-AF65-F5344CB8AC3E}">
        <p14:creationId xmlns:p14="http://schemas.microsoft.com/office/powerpoint/2010/main" val="2373097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FB2E50-DDAA-4305-B81A-2B35CDDE9392}"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B7EC2A-84A4-493F-8956-EC53932DCD35}" type="slidenum">
              <a:rPr lang="en-IN" smtClean="0"/>
              <a:t>‹#›</a:t>
            </a:fld>
            <a:endParaRPr lang="en-IN"/>
          </a:p>
        </p:txBody>
      </p:sp>
    </p:spTree>
    <p:extLst>
      <p:ext uri="{BB962C8B-B14F-4D97-AF65-F5344CB8AC3E}">
        <p14:creationId xmlns:p14="http://schemas.microsoft.com/office/powerpoint/2010/main" val="21321638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FB2E50-DDAA-4305-B81A-2B35CDDE9392}" type="datetimeFigureOut">
              <a:rPr lang="en-IN" smtClean="0"/>
              <a:t>14-10-2025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B7EC2A-84A4-493F-8956-EC53932DCD35}" type="slidenum">
              <a:rPr lang="en-IN" smtClean="0"/>
              <a:t>‹#›</a:t>
            </a:fld>
            <a:endParaRPr lang="en-IN"/>
          </a:p>
        </p:txBody>
      </p:sp>
    </p:spTree>
    <p:extLst>
      <p:ext uri="{BB962C8B-B14F-4D97-AF65-F5344CB8AC3E}">
        <p14:creationId xmlns:p14="http://schemas.microsoft.com/office/powerpoint/2010/main" val="515731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EFB2E50-DDAA-4305-B81A-2B35CDDE9392}" type="datetimeFigureOut">
              <a:rPr lang="en-IN" smtClean="0"/>
              <a:t>14-10-2025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8B7EC2A-84A4-493F-8956-EC53932DCD35}" type="slidenum">
              <a:rPr lang="en-IN" smtClean="0"/>
              <a:t>‹#›</a:t>
            </a:fld>
            <a:endParaRPr lang="en-IN"/>
          </a:p>
        </p:txBody>
      </p:sp>
    </p:spTree>
    <p:extLst>
      <p:ext uri="{BB962C8B-B14F-4D97-AF65-F5344CB8AC3E}">
        <p14:creationId xmlns:p14="http://schemas.microsoft.com/office/powerpoint/2010/main" val="41748179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EFB2E50-DDAA-4305-B81A-2B35CDDE9392}" type="datetimeFigureOut">
              <a:rPr lang="en-IN" smtClean="0"/>
              <a:t>14-10-2025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8B7EC2A-84A4-493F-8956-EC53932DCD35}" type="slidenum">
              <a:rPr lang="en-IN" smtClean="0"/>
              <a:t>‹#›</a:t>
            </a:fld>
            <a:endParaRPr lang="en-IN"/>
          </a:p>
        </p:txBody>
      </p:sp>
    </p:spTree>
    <p:extLst>
      <p:ext uri="{BB962C8B-B14F-4D97-AF65-F5344CB8AC3E}">
        <p14:creationId xmlns:p14="http://schemas.microsoft.com/office/powerpoint/2010/main" val="3837435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FB2E50-DDAA-4305-B81A-2B35CDDE9392}" type="datetimeFigureOut">
              <a:rPr lang="en-IN" smtClean="0"/>
              <a:t>14-10-2025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8B7EC2A-84A4-493F-8956-EC53932DCD35}" type="slidenum">
              <a:rPr lang="en-IN" smtClean="0"/>
              <a:t>‹#›</a:t>
            </a:fld>
            <a:endParaRPr lang="en-IN"/>
          </a:p>
        </p:txBody>
      </p:sp>
    </p:spTree>
    <p:extLst>
      <p:ext uri="{BB962C8B-B14F-4D97-AF65-F5344CB8AC3E}">
        <p14:creationId xmlns:p14="http://schemas.microsoft.com/office/powerpoint/2010/main" val="22033185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FB2E50-DDAA-4305-B81A-2B35CDDE9392}" type="datetimeFigureOut">
              <a:rPr lang="en-IN" smtClean="0"/>
              <a:t>14-10-2025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B7EC2A-84A4-493F-8956-EC53932DCD35}" type="slidenum">
              <a:rPr lang="en-IN" smtClean="0"/>
              <a:t>‹#›</a:t>
            </a:fld>
            <a:endParaRPr lang="en-IN"/>
          </a:p>
        </p:txBody>
      </p:sp>
    </p:spTree>
    <p:extLst>
      <p:ext uri="{BB962C8B-B14F-4D97-AF65-F5344CB8AC3E}">
        <p14:creationId xmlns:p14="http://schemas.microsoft.com/office/powerpoint/2010/main" val="4141220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FB2E50-DDAA-4305-B81A-2B35CDDE9392}" type="datetimeFigureOut">
              <a:rPr lang="en-IN" smtClean="0"/>
              <a:t>14-10-2025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B7EC2A-84A4-493F-8956-EC53932DCD35}" type="slidenum">
              <a:rPr lang="en-IN" smtClean="0"/>
              <a:t>‹#›</a:t>
            </a:fld>
            <a:endParaRPr lang="en-IN"/>
          </a:p>
        </p:txBody>
      </p:sp>
    </p:spTree>
    <p:extLst>
      <p:ext uri="{BB962C8B-B14F-4D97-AF65-F5344CB8AC3E}">
        <p14:creationId xmlns:p14="http://schemas.microsoft.com/office/powerpoint/2010/main" val="700205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FB2E50-DDAA-4305-B81A-2B35CDDE9392}" type="datetimeFigureOut">
              <a:rPr lang="en-IN" smtClean="0"/>
              <a:t>14-10-2025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B7EC2A-84A4-493F-8956-EC53932DCD35}" type="slidenum">
              <a:rPr lang="en-IN" smtClean="0"/>
              <a:t>‹#›</a:t>
            </a:fld>
            <a:endParaRPr lang="en-IN"/>
          </a:p>
        </p:txBody>
      </p:sp>
    </p:spTree>
    <p:extLst>
      <p:ext uri="{BB962C8B-B14F-4D97-AF65-F5344CB8AC3E}">
        <p14:creationId xmlns:p14="http://schemas.microsoft.com/office/powerpoint/2010/main" val="1146802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FB2E50-DDAA-4305-B81A-2B35CDDE9392}" type="datetimeFigureOut">
              <a:rPr lang="en-IN" smtClean="0"/>
              <a:t>14-10-2025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B7EC2A-84A4-493F-8956-EC53932DCD35}" type="slidenum">
              <a:rPr lang="en-IN" smtClean="0"/>
              <a:t>‹#›</a:t>
            </a:fld>
            <a:endParaRPr lang="en-IN"/>
          </a:p>
        </p:txBody>
      </p:sp>
    </p:spTree>
    <p:extLst>
      <p:ext uri="{BB962C8B-B14F-4D97-AF65-F5344CB8AC3E}">
        <p14:creationId xmlns:p14="http://schemas.microsoft.com/office/powerpoint/2010/main" val="25002678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FB2E50-DDAA-4305-B81A-2B35CDDE9392}" type="datetimeFigureOut">
              <a:rPr lang="en-IN" smtClean="0"/>
              <a:t>14-10-2025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B7EC2A-84A4-493F-8956-EC53932DCD35}"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590012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FB2E50-DDAA-4305-B81A-2B35CDDE9392}" type="datetimeFigureOut">
              <a:rPr lang="en-IN" smtClean="0"/>
              <a:t>14-10-2025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B7EC2A-84A4-493F-8956-EC53932DCD35}" type="slidenum">
              <a:rPr lang="en-IN" smtClean="0"/>
              <a:t>‹#›</a:t>
            </a:fld>
            <a:endParaRPr lang="en-IN"/>
          </a:p>
        </p:txBody>
      </p:sp>
    </p:spTree>
    <p:extLst>
      <p:ext uri="{BB962C8B-B14F-4D97-AF65-F5344CB8AC3E}">
        <p14:creationId xmlns:p14="http://schemas.microsoft.com/office/powerpoint/2010/main" val="36527055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EFB2E50-DDAA-4305-B81A-2B35CDDE9392}" type="datetimeFigureOut">
              <a:rPr lang="en-IN" smtClean="0"/>
              <a:t>14-10-2025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8B7EC2A-84A4-493F-8956-EC53932DCD35}" type="slidenum">
              <a:rPr lang="en-IN" smtClean="0"/>
              <a:t>‹#›</a:t>
            </a:fld>
            <a:endParaRPr lang="en-IN"/>
          </a:p>
        </p:txBody>
      </p:sp>
    </p:spTree>
    <p:extLst>
      <p:ext uri="{BB962C8B-B14F-4D97-AF65-F5344CB8AC3E}">
        <p14:creationId xmlns:p14="http://schemas.microsoft.com/office/powerpoint/2010/main" val="39353416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EFB2E50-DDAA-4305-B81A-2B35CDDE9392}" type="datetimeFigureOut">
              <a:rPr lang="en-IN" smtClean="0"/>
              <a:t>14-10-2025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8B7EC2A-84A4-493F-8956-EC53932DCD35}" type="slidenum">
              <a:rPr lang="en-IN" smtClean="0"/>
              <a:t>‹#›</a:t>
            </a:fld>
            <a:endParaRPr lang="en-IN"/>
          </a:p>
        </p:txBody>
      </p:sp>
    </p:spTree>
    <p:extLst>
      <p:ext uri="{BB962C8B-B14F-4D97-AF65-F5344CB8AC3E}">
        <p14:creationId xmlns:p14="http://schemas.microsoft.com/office/powerpoint/2010/main" val="37419404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FB2E50-DDAA-4305-B81A-2B35CDDE9392}"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B7EC2A-84A4-493F-8956-EC53932DCD35}" type="slidenum">
              <a:rPr lang="en-IN" smtClean="0"/>
              <a:t>‹#›</a:t>
            </a:fld>
            <a:endParaRPr lang="en-IN"/>
          </a:p>
        </p:txBody>
      </p:sp>
    </p:spTree>
    <p:extLst>
      <p:ext uri="{BB962C8B-B14F-4D97-AF65-F5344CB8AC3E}">
        <p14:creationId xmlns:p14="http://schemas.microsoft.com/office/powerpoint/2010/main" val="5286495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FB2E50-DDAA-4305-B81A-2B35CDDE9392}"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B7EC2A-84A4-493F-8956-EC53932DCD35}" type="slidenum">
              <a:rPr lang="en-IN" smtClean="0"/>
              <a:t>‹#›</a:t>
            </a:fld>
            <a:endParaRPr lang="en-IN"/>
          </a:p>
        </p:txBody>
      </p:sp>
    </p:spTree>
    <p:extLst>
      <p:ext uri="{BB962C8B-B14F-4D97-AF65-F5344CB8AC3E}">
        <p14:creationId xmlns:p14="http://schemas.microsoft.com/office/powerpoint/2010/main" val="2921317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EFB2E50-DDAA-4305-B81A-2B35CDDE9392}" type="datetimeFigureOut">
              <a:rPr lang="en-IN" smtClean="0"/>
              <a:t>14-10-2025</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8B7EC2A-84A4-493F-8956-EC53932DCD35}" type="slidenum">
              <a:rPr lang="en-IN" smtClean="0"/>
              <a:t>‹#›</a:t>
            </a:fld>
            <a:endParaRPr lang="en-IN"/>
          </a:p>
        </p:txBody>
      </p:sp>
    </p:spTree>
    <p:extLst>
      <p:ext uri="{BB962C8B-B14F-4D97-AF65-F5344CB8AC3E}">
        <p14:creationId xmlns:p14="http://schemas.microsoft.com/office/powerpoint/2010/main" val="2928759679"/>
      </p:ext>
    </p:extLst>
  </p:cSld>
  <p:clrMap bg1="dk1" tx1="lt1" bg2="dk2" tx2="lt2" accent1="accent1" accent2="accent2" accent3="accent3" accent4="accent4" accent5="accent5" accent6="accent6" hlink="hlink" folHlink="folHlink"/>
  <p:sldLayoutIdLst>
    <p:sldLayoutId id="2147483902" r:id="rId1"/>
    <p:sldLayoutId id="2147483903" r:id="rId2"/>
    <p:sldLayoutId id="2147483904" r:id="rId3"/>
    <p:sldLayoutId id="2147483905" r:id="rId4"/>
    <p:sldLayoutId id="2147483906" r:id="rId5"/>
    <p:sldLayoutId id="2147483907" r:id="rId6"/>
    <p:sldLayoutId id="2147483908" r:id="rId7"/>
    <p:sldLayoutId id="2147483909" r:id="rId8"/>
    <p:sldLayoutId id="2147483910" r:id="rId9"/>
    <p:sldLayoutId id="2147483911" r:id="rId10"/>
    <p:sldLayoutId id="2147483912" r:id="rId11"/>
    <p:sldLayoutId id="2147483913" r:id="rId12"/>
    <p:sldLayoutId id="2147483914" r:id="rId13"/>
    <p:sldLayoutId id="2147483915" r:id="rId14"/>
    <p:sldLayoutId id="2147483916" r:id="rId15"/>
    <p:sldLayoutId id="2147483917" r:id="rId16"/>
    <p:sldLayoutId id="2147483918"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EDB49-FB69-3290-BB04-28B4784A01D2}"/>
              </a:ext>
            </a:extLst>
          </p:cNvPr>
          <p:cNvSpPr>
            <a:spLocks noGrp="1"/>
          </p:cNvSpPr>
          <p:nvPr>
            <p:ph type="ctrTitle"/>
          </p:nvPr>
        </p:nvSpPr>
        <p:spPr>
          <a:xfrm>
            <a:off x="1897626" y="786581"/>
            <a:ext cx="8239432" cy="1868130"/>
          </a:xfrm>
        </p:spPr>
        <p:txBody>
          <a:bodyPr>
            <a:noAutofit/>
          </a:bodyPr>
          <a:lstStyle/>
          <a:p>
            <a:r>
              <a:rPr lang="en-US" dirty="0"/>
              <a:t>CUSTOMER SEGMENTATION</a:t>
            </a:r>
            <a:br>
              <a:rPr lang="en-US" dirty="0"/>
            </a:br>
            <a:r>
              <a:rPr lang="en-US" dirty="0"/>
              <a:t> ANALYSIS USING K-MEANS</a:t>
            </a:r>
            <a:br>
              <a:rPr lang="en-US" dirty="0"/>
            </a:br>
            <a:r>
              <a:rPr lang="en-US" dirty="0"/>
              <a:t> CLUSTERING                                                                                                                </a:t>
            </a:r>
            <a:endParaRPr lang="en-IN" dirty="0"/>
          </a:p>
        </p:txBody>
      </p:sp>
      <p:pic>
        <p:nvPicPr>
          <p:cNvPr id="4" name="Picture 3">
            <a:extLst>
              <a:ext uri="{FF2B5EF4-FFF2-40B4-BE49-F238E27FC236}">
                <a16:creationId xmlns:a16="http://schemas.microsoft.com/office/drawing/2014/main" id="{73FC5CC6-C136-B288-B4A9-E166D512D7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9303" y="2654711"/>
            <a:ext cx="7865807" cy="3962399"/>
          </a:xfrm>
          <a:prstGeom prst="rect">
            <a:avLst/>
          </a:prstGeom>
        </p:spPr>
      </p:pic>
    </p:spTree>
    <p:extLst>
      <p:ext uri="{BB962C8B-B14F-4D97-AF65-F5344CB8AC3E}">
        <p14:creationId xmlns:p14="http://schemas.microsoft.com/office/powerpoint/2010/main" val="510779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17929-3CD8-1F7E-48B1-488478283498}"/>
              </a:ext>
            </a:extLst>
          </p:cNvPr>
          <p:cNvSpPr>
            <a:spLocks noGrp="1"/>
          </p:cNvSpPr>
          <p:nvPr>
            <p:ph type="title"/>
          </p:nvPr>
        </p:nvSpPr>
        <p:spPr>
          <a:xfrm>
            <a:off x="1141413" y="0"/>
            <a:ext cx="9905998" cy="1288026"/>
          </a:xfrm>
        </p:spPr>
        <p:txBody>
          <a:bodyPr/>
          <a:lstStyle/>
          <a:p>
            <a:pPr algn="ctr"/>
            <a:r>
              <a:rPr lang="en-US" dirty="0"/>
              <a:t>contents</a:t>
            </a:r>
            <a:endParaRPr lang="en-IN" dirty="0"/>
          </a:p>
        </p:txBody>
      </p:sp>
      <p:sp>
        <p:nvSpPr>
          <p:cNvPr id="3" name="Content Placeholder 2">
            <a:extLst>
              <a:ext uri="{FF2B5EF4-FFF2-40B4-BE49-F238E27FC236}">
                <a16:creationId xmlns:a16="http://schemas.microsoft.com/office/drawing/2014/main" id="{7FB84D81-D7CA-F78F-4781-AD1027BCEDCB}"/>
              </a:ext>
            </a:extLst>
          </p:cNvPr>
          <p:cNvSpPr>
            <a:spLocks noGrp="1"/>
          </p:cNvSpPr>
          <p:nvPr>
            <p:ph idx="1"/>
          </p:nvPr>
        </p:nvSpPr>
        <p:spPr>
          <a:xfrm>
            <a:off x="1141412" y="875072"/>
            <a:ext cx="9905999" cy="5771534"/>
          </a:xfrm>
        </p:spPr>
        <p:txBody>
          <a:bodyPr>
            <a:noAutofit/>
          </a:bodyPr>
          <a:lstStyle/>
          <a:p>
            <a:r>
              <a:rPr lang="en-US" sz="2200" b="1" dirty="0"/>
              <a:t>Introduction                                                </a:t>
            </a:r>
          </a:p>
          <a:p>
            <a:r>
              <a:rPr lang="en-IN" sz="2200" b="1" dirty="0"/>
              <a:t>Dataset description</a:t>
            </a:r>
          </a:p>
          <a:p>
            <a:r>
              <a:rPr lang="en-IN" sz="2200" b="1" dirty="0"/>
              <a:t>Problem statement</a:t>
            </a:r>
          </a:p>
          <a:p>
            <a:r>
              <a:rPr lang="en-IN" sz="2200" b="1" dirty="0"/>
              <a:t>Main aim</a:t>
            </a:r>
          </a:p>
          <a:p>
            <a:r>
              <a:rPr lang="en-IN" sz="2200" b="1" dirty="0"/>
              <a:t>Literature review</a:t>
            </a:r>
          </a:p>
          <a:p>
            <a:r>
              <a:rPr lang="en-IN" sz="2200" b="1" dirty="0"/>
              <a:t>Definitions</a:t>
            </a:r>
          </a:p>
          <a:p>
            <a:r>
              <a:rPr lang="en-IN" sz="2200" b="1" dirty="0" err="1"/>
              <a:t>Methodlogy</a:t>
            </a:r>
            <a:endParaRPr lang="en-IN" sz="2200" b="1" dirty="0"/>
          </a:p>
          <a:p>
            <a:r>
              <a:rPr lang="en-IN" sz="2200" b="1" dirty="0" err="1"/>
              <a:t>Oservations</a:t>
            </a:r>
            <a:r>
              <a:rPr lang="en-IN" sz="2200" b="1" dirty="0"/>
              <a:t> </a:t>
            </a:r>
          </a:p>
          <a:p>
            <a:r>
              <a:rPr lang="en-IN" sz="2200" b="1" dirty="0"/>
              <a:t>Result</a:t>
            </a:r>
          </a:p>
          <a:p>
            <a:r>
              <a:rPr lang="en-IN" sz="2200" b="1" dirty="0"/>
              <a:t>Conclusion </a:t>
            </a:r>
          </a:p>
          <a:p>
            <a:r>
              <a:rPr lang="en-IN" sz="2200" b="1" dirty="0"/>
              <a:t>references</a:t>
            </a:r>
            <a:endParaRPr lang="en-US" sz="2200" b="1" dirty="0"/>
          </a:p>
        </p:txBody>
      </p:sp>
    </p:spTree>
    <p:extLst>
      <p:ext uri="{BB962C8B-B14F-4D97-AF65-F5344CB8AC3E}">
        <p14:creationId xmlns:p14="http://schemas.microsoft.com/office/powerpoint/2010/main" val="246298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0CD8E-F637-22A0-8C0F-D4666E87DF00}"/>
              </a:ext>
            </a:extLst>
          </p:cNvPr>
          <p:cNvSpPr>
            <a:spLocks noGrp="1"/>
          </p:cNvSpPr>
          <p:nvPr>
            <p:ph type="title"/>
          </p:nvPr>
        </p:nvSpPr>
        <p:spPr/>
        <p:txBody>
          <a:bodyPr/>
          <a:lstStyle/>
          <a:p>
            <a:r>
              <a:rPr lang="en-US" b="1" dirty="0"/>
              <a:t>INTRODUCTION</a:t>
            </a:r>
            <a:endParaRPr lang="en-IN" b="1" dirty="0"/>
          </a:p>
        </p:txBody>
      </p:sp>
      <p:sp>
        <p:nvSpPr>
          <p:cNvPr id="3" name="Content Placeholder 2">
            <a:extLst>
              <a:ext uri="{FF2B5EF4-FFF2-40B4-BE49-F238E27FC236}">
                <a16:creationId xmlns:a16="http://schemas.microsoft.com/office/drawing/2014/main" id="{01A4D1FB-9128-1C71-F498-515EF91B8334}"/>
              </a:ext>
            </a:extLst>
          </p:cNvPr>
          <p:cNvSpPr>
            <a:spLocks noGrp="1"/>
          </p:cNvSpPr>
          <p:nvPr>
            <p:ph idx="1"/>
          </p:nvPr>
        </p:nvSpPr>
        <p:spPr>
          <a:xfrm>
            <a:off x="1484310" y="2097089"/>
            <a:ext cx="10018713" cy="3694112"/>
          </a:xfrm>
        </p:spPr>
        <p:txBody>
          <a:bodyPr>
            <a:normAutofit fontScale="85000" lnSpcReduction="10000"/>
          </a:bodyPr>
          <a:lstStyle/>
          <a:p>
            <a:r>
              <a:rPr lang="en-US" sz="2600" dirty="0"/>
              <a:t>Customer Segmentation is the process of dividing the customer into distinct groups based on common characteristics</a:t>
            </a:r>
            <a:r>
              <a:rPr lang="en-US" dirty="0"/>
              <a:t>.</a:t>
            </a:r>
          </a:p>
          <a:p>
            <a:r>
              <a:rPr lang="en-US" sz="2600" dirty="0"/>
              <a:t>By understanding each cluster , companies can improve </a:t>
            </a:r>
            <a:r>
              <a:rPr lang="en-IN" sz="2600" dirty="0">
                <a:effectLst/>
                <a:latin typeface="Calibri" panose="020F0502020204030204" pitchFamily="34" charset="0"/>
                <a:ea typeface="Calibri" panose="020F0502020204030204" pitchFamily="34" charset="0"/>
                <a:cs typeface="Times New Roman" panose="02020603050405020304" pitchFamily="18" charset="0"/>
              </a:rPr>
              <a:t>marketing efforts, products, and services to deliver a more personalized and effective experience. </a:t>
            </a:r>
          </a:p>
          <a:p>
            <a:r>
              <a:rPr lang="en-IN" sz="2600" dirty="0"/>
              <a:t>This segmentation process helps to create  </a:t>
            </a:r>
            <a:r>
              <a:rPr lang="en-IN" sz="2600" dirty="0">
                <a:effectLst/>
                <a:latin typeface="Calibri" panose="020F0502020204030204" pitchFamily="34" charset="0"/>
                <a:ea typeface="Calibri" panose="020F0502020204030204" pitchFamily="34" charset="0"/>
                <a:cs typeface="Times New Roman" panose="02020603050405020304" pitchFamily="18" charset="0"/>
              </a:rPr>
              <a:t>targeted marketing campaigns, such as offering exclusive discounts to frequent shoppers or promoting specific products etc.</a:t>
            </a:r>
          </a:p>
          <a:p>
            <a:r>
              <a:rPr lang="en-IN" sz="2600" dirty="0">
                <a:effectLst/>
                <a:latin typeface="Calibri" panose="020F0502020204030204" pitchFamily="34" charset="0"/>
                <a:ea typeface="Calibri" panose="020F0502020204030204" pitchFamily="34" charset="0"/>
                <a:cs typeface="Times New Roman" panose="02020603050405020304" pitchFamily="18" charset="0"/>
              </a:rPr>
              <a:t>Customer segmentation is not a one-time activity but rather an ongoing process that requires continuous monitoring and adjustment</a:t>
            </a:r>
          </a:p>
          <a:p>
            <a:endParaRPr lang="en-IN" dirty="0"/>
          </a:p>
        </p:txBody>
      </p:sp>
    </p:spTree>
    <p:extLst>
      <p:ext uri="{BB962C8B-B14F-4D97-AF65-F5344CB8AC3E}">
        <p14:creationId xmlns:p14="http://schemas.microsoft.com/office/powerpoint/2010/main" val="3587479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8F094-358C-5510-DA17-D4FDBEF16A07}"/>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71087987-9156-CCCF-0418-40E0594F819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29150" y="618518"/>
            <a:ext cx="10118261" cy="5620964"/>
          </a:xfrm>
        </p:spPr>
      </p:pic>
    </p:spTree>
    <p:extLst>
      <p:ext uri="{BB962C8B-B14F-4D97-AF65-F5344CB8AC3E}">
        <p14:creationId xmlns:p14="http://schemas.microsoft.com/office/powerpoint/2010/main" val="3139866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17F25-4FC5-0CBB-6530-96E22DC45E8A}"/>
              </a:ext>
            </a:extLst>
          </p:cNvPr>
          <p:cNvSpPr>
            <a:spLocks noGrp="1"/>
          </p:cNvSpPr>
          <p:nvPr>
            <p:ph type="title"/>
          </p:nvPr>
        </p:nvSpPr>
        <p:spPr/>
        <p:txBody>
          <a:bodyPr>
            <a:normAutofit/>
          </a:bodyPr>
          <a:lstStyle/>
          <a:p>
            <a:pPr algn="ctr"/>
            <a:r>
              <a:rPr lang="en-US" b="1" dirty="0"/>
              <a:t>DATASET DESCRIPTION</a:t>
            </a:r>
            <a:endParaRPr lang="en-IN" b="1" dirty="0"/>
          </a:p>
        </p:txBody>
      </p:sp>
      <p:sp>
        <p:nvSpPr>
          <p:cNvPr id="7" name="Content Placeholder 6">
            <a:extLst>
              <a:ext uri="{FF2B5EF4-FFF2-40B4-BE49-F238E27FC236}">
                <a16:creationId xmlns:a16="http://schemas.microsoft.com/office/drawing/2014/main" id="{644411EA-EC43-F662-7635-1B873A0E6A79}"/>
              </a:ext>
            </a:extLst>
          </p:cNvPr>
          <p:cNvSpPr>
            <a:spLocks noGrp="1"/>
          </p:cNvSpPr>
          <p:nvPr>
            <p:ph idx="1"/>
          </p:nvPr>
        </p:nvSpPr>
        <p:spPr>
          <a:xfrm>
            <a:off x="6744928" y="1828799"/>
            <a:ext cx="5319253" cy="3070717"/>
          </a:xfrm>
        </p:spPr>
        <p:txBody>
          <a:bodyPr>
            <a:normAutofit fontScale="25000" lnSpcReduction="20000"/>
          </a:bodyPr>
          <a:lstStyle/>
          <a:p>
            <a:pPr marL="0" indent="0" algn="l">
              <a:buNone/>
            </a:pPr>
            <a:r>
              <a:rPr lang="en-US" sz="8000" b="0" i="0" u="none" strike="noStrike" baseline="0" dirty="0">
                <a:solidFill>
                  <a:srgbClr val="FFFFFF"/>
                </a:solidFill>
                <a:latin typeface="Roboto-Regular"/>
              </a:rPr>
              <a:t>The dataset name is </a:t>
            </a:r>
            <a:r>
              <a:rPr lang="en-US" sz="8000" i="1" dirty="0">
                <a:solidFill>
                  <a:srgbClr val="FFFFFF"/>
                </a:solidFill>
                <a:latin typeface="Roboto-Italic"/>
              </a:rPr>
              <a:t>Mall_Customer.csv</a:t>
            </a:r>
            <a:r>
              <a:rPr lang="en-US" sz="8000" b="0" i="1" u="none" strike="noStrike" baseline="0" dirty="0">
                <a:solidFill>
                  <a:srgbClr val="FFFFFF"/>
                </a:solidFill>
                <a:latin typeface="Roboto-Italic"/>
              </a:rPr>
              <a:t> </a:t>
            </a:r>
            <a:r>
              <a:rPr lang="en-US" sz="8000" b="0" i="0" u="none" strike="noStrike" baseline="0" dirty="0">
                <a:solidFill>
                  <a:srgbClr val="FFFFFF"/>
                </a:solidFill>
                <a:latin typeface="Roboto-Regular"/>
              </a:rPr>
              <a:t>consists of 5 columns which are </a:t>
            </a:r>
          </a:p>
          <a:p>
            <a:r>
              <a:rPr lang="en-US" sz="8000" b="0" i="0" u="none" strike="noStrike" baseline="0" dirty="0" err="1">
                <a:solidFill>
                  <a:srgbClr val="FFFFFF"/>
                </a:solidFill>
                <a:latin typeface="Roboto-Regular"/>
              </a:rPr>
              <a:t>CustomerID</a:t>
            </a:r>
            <a:endParaRPr lang="en-US" sz="8000" dirty="0">
              <a:solidFill>
                <a:srgbClr val="FFFFFF"/>
              </a:solidFill>
              <a:latin typeface="Roboto-Regular"/>
            </a:endParaRPr>
          </a:p>
          <a:p>
            <a:r>
              <a:rPr lang="en-US" sz="3800" b="0" i="0" u="none" strike="noStrike" baseline="0" dirty="0">
                <a:solidFill>
                  <a:srgbClr val="FFFFFF"/>
                </a:solidFill>
                <a:latin typeface="Roboto-Regular"/>
              </a:rPr>
              <a:t> </a:t>
            </a:r>
            <a:r>
              <a:rPr lang="en-US" sz="8000" b="0" i="0" u="none" strike="noStrike" baseline="0" dirty="0">
                <a:solidFill>
                  <a:srgbClr val="FFFFFF"/>
                </a:solidFill>
                <a:latin typeface="Roboto-Regular"/>
              </a:rPr>
              <a:t>Gender</a:t>
            </a:r>
          </a:p>
          <a:p>
            <a:r>
              <a:rPr lang="en-US" sz="3800" b="0" i="0" u="none" strike="noStrike" baseline="0" dirty="0">
                <a:solidFill>
                  <a:srgbClr val="FFFFFF"/>
                </a:solidFill>
                <a:latin typeface="Roboto-Regular"/>
              </a:rPr>
              <a:t> </a:t>
            </a:r>
            <a:r>
              <a:rPr lang="en-US" sz="8000" b="0" i="0" u="none" strike="noStrike" baseline="0" dirty="0">
                <a:solidFill>
                  <a:srgbClr val="FFFFFF"/>
                </a:solidFill>
                <a:latin typeface="Roboto-Regular"/>
              </a:rPr>
              <a:t>Age</a:t>
            </a:r>
          </a:p>
          <a:p>
            <a:r>
              <a:rPr lang="en-US" sz="8000" b="0" i="0" u="none" strike="noStrike" baseline="0" dirty="0">
                <a:solidFill>
                  <a:srgbClr val="FFFFFF"/>
                </a:solidFill>
                <a:latin typeface="Roboto-Regular"/>
              </a:rPr>
              <a:t>Annual Income(k$)</a:t>
            </a:r>
          </a:p>
          <a:p>
            <a:r>
              <a:rPr lang="en-US" sz="8000" b="0" i="0" u="none" strike="noStrike" baseline="0" dirty="0">
                <a:solidFill>
                  <a:srgbClr val="FFFFFF"/>
                </a:solidFill>
                <a:latin typeface="Roboto-Regular"/>
              </a:rPr>
              <a:t>Spending Score (1-100) </a:t>
            </a:r>
          </a:p>
          <a:p>
            <a:pPr marL="0" indent="0">
              <a:buNone/>
            </a:pPr>
            <a:r>
              <a:rPr lang="en-US" sz="8000" dirty="0">
                <a:solidFill>
                  <a:srgbClr val="FFFFFF"/>
                </a:solidFill>
                <a:latin typeface="Roboto-Regular"/>
              </a:rPr>
              <a:t>W</a:t>
            </a:r>
            <a:r>
              <a:rPr lang="en-US" sz="8000" b="0" i="0" u="none" strike="noStrike" baseline="0" dirty="0">
                <a:solidFill>
                  <a:srgbClr val="FFFFFF"/>
                </a:solidFill>
                <a:latin typeface="Roboto-Regular"/>
              </a:rPr>
              <a:t>here</a:t>
            </a:r>
            <a:r>
              <a:rPr lang="en-US" sz="8000" dirty="0">
                <a:solidFill>
                  <a:srgbClr val="FFFFFF"/>
                </a:solidFill>
                <a:latin typeface="Roboto-Regular"/>
              </a:rPr>
              <a:t> </a:t>
            </a:r>
            <a:r>
              <a:rPr lang="en-US" sz="8000" b="0" i="0" u="none" strike="noStrike" baseline="0" dirty="0">
                <a:solidFill>
                  <a:srgbClr val="FFFFFF"/>
                </a:solidFill>
                <a:latin typeface="Roboto-Regular"/>
              </a:rPr>
              <a:t>Gender is a categorical value and rest all </a:t>
            </a:r>
            <a:r>
              <a:rPr lang="en-IN" sz="8000" b="0" i="0" u="none" strike="noStrike" baseline="0" dirty="0">
                <a:solidFill>
                  <a:srgbClr val="FFFFFF"/>
                </a:solidFill>
                <a:latin typeface="Roboto-Regular"/>
              </a:rPr>
              <a:t>features are numeric.</a:t>
            </a:r>
            <a:endParaRPr lang="en-IN" sz="8000" dirty="0"/>
          </a:p>
          <a:p>
            <a:pPr marL="0" indent="0" algn="l">
              <a:buNone/>
            </a:pPr>
            <a:endParaRPr lang="en-IN" sz="2000" dirty="0"/>
          </a:p>
        </p:txBody>
      </p:sp>
      <p:pic>
        <p:nvPicPr>
          <p:cNvPr id="9" name="Picture 8">
            <a:extLst>
              <a:ext uri="{FF2B5EF4-FFF2-40B4-BE49-F238E27FC236}">
                <a16:creationId xmlns:a16="http://schemas.microsoft.com/office/drawing/2014/main" id="{79039039-E476-CF04-82EE-C852BAC9E0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6916" y="1828799"/>
            <a:ext cx="5673213" cy="4168877"/>
          </a:xfrm>
          <a:prstGeom prst="rect">
            <a:avLst/>
          </a:prstGeom>
        </p:spPr>
      </p:pic>
    </p:spTree>
    <p:extLst>
      <p:ext uri="{BB962C8B-B14F-4D97-AF65-F5344CB8AC3E}">
        <p14:creationId xmlns:p14="http://schemas.microsoft.com/office/powerpoint/2010/main" val="855465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60515-594A-C9D9-4197-D1A29B7477E8}"/>
              </a:ext>
            </a:extLst>
          </p:cNvPr>
          <p:cNvSpPr>
            <a:spLocks noGrp="1"/>
          </p:cNvSpPr>
          <p:nvPr>
            <p:ph type="title"/>
          </p:nvPr>
        </p:nvSpPr>
        <p:spPr/>
        <p:txBody>
          <a:bodyPr>
            <a:normAutofit/>
          </a:bodyPr>
          <a:lstStyle/>
          <a:p>
            <a:r>
              <a:rPr lang="en-US" sz="4000" b="1" dirty="0"/>
              <a:t>PROBLEM STATEMENT </a:t>
            </a:r>
            <a:endParaRPr lang="en-IN" sz="4000" b="1" dirty="0"/>
          </a:p>
        </p:txBody>
      </p:sp>
      <p:sp>
        <p:nvSpPr>
          <p:cNvPr id="3" name="Content Placeholder 2">
            <a:extLst>
              <a:ext uri="{FF2B5EF4-FFF2-40B4-BE49-F238E27FC236}">
                <a16:creationId xmlns:a16="http://schemas.microsoft.com/office/drawing/2014/main" id="{31D78CB1-0430-DC9B-DAAD-A5E03696768A}"/>
              </a:ext>
            </a:extLst>
          </p:cNvPr>
          <p:cNvSpPr>
            <a:spLocks noGrp="1"/>
          </p:cNvSpPr>
          <p:nvPr>
            <p:ph idx="1"/>
          </p:nvPr>
        </p:nvSpPr>
        <p:spPr/>
        <p:txBody>
          <a:bodyPr/>
          <a:lstStyle/>
          <a:p>
            <a:pPr marL="0" indent="0">
              <a:buNone/>
            </a:pPr>
            <a:r>
              <a:rPr lang="en-IN" kern="100" dirty="0">
                <a:latin typeface="Calibri" panose="020F0502020204030204" pitchFamily="34" charset="0"/>
                <a:ea typeface="Calibri" panose="020F0502020204030204" pitchFamily="34" charset="0"/>
                <a:cs typeface="Times New Roman" panose="02020603050405020304" pitchFamily="18" charset="0"/>
              </a:rPr>
              <a:t>Suppose we</a:t>
            </a:r>
            <a:r>
              <a:rPr lang="en-IN" kern="100" dirty="0">
                <a:effectLst/>
                <a:latin typeface="Calibri" panose="020F0502020204030204" pitchFamily="34" charset="0"/>
                <a:ea typeface="Calibri" panose="020F0502020204030204" pitchFamily="34" charset="0"/>
                <a:cs typeface="Times New Roman" panose="02020603050405020304" pitchFamily="18" charset="0"/>
              </a:rPr>
              <a:t> own a supermarket  mall. Through membership cards we get some details of mall customers. </a:t>
            </a:r>
            <a:r>
              <a:rPr lang="en-IN" kern="100" dirty="0">
                <a:latin typeface="Calibri" panose="020F0502020204030204" pitchFamily="34" charset="0"/>
                <a:ea typeface="Calibri" panose="020F0502020204030204" pitchFamily="34" charset="0"/>
                <a:cs typeface="Times New Roman" panose="02020603050405020304" pitchFamily="18" charset="0"/>
              </a:rPr>
              <a:t>S</a:t>
            </a:r>
            <a:r>
              <a:rPr lang="en-IN" kern="100" dirty="0">
                <a:effectLst/>
                <a:latin typeface="Calibri" panose="020F0502020204030204" pitchFamily="34" charset="0"/>
                <a:ea typeface="Calibri" panose="020F0502020204030204" pitchFamily="34" charset="0"/>
                <a:cs typeface="Times New Roman" panose="02020603050405020304" pitchFamily="18" charset="0"/>
              </a:rPr>
              <a:t>o our problem statement  is to understand the customers like who can be easily be the Target Customers so that the sense can be given to marketing team and plan the strategy accordingly</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0" indent="0">
              <a:buNone/>
            </a:pPr>
            <a:endParaRPr lang="en-IN" dirty="0"/>
          </a:p>
        </p:txBody>
      </p:sp>
    </p:spTree>
    <p:extLst>
      <p:ext uri="{BB962C8B-B14F-4D97-AF65-F5344CB8AC3E}">
        <p14:creationId xmlns:p14="http://schemas.microsoft.com/office/powerpoint/2010/main" val="1266678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8D50C-9B00-1CD1-5841-4AC71F51088B}"/>
              </a:ext>
            </a:extLst>
          </p:cNvPr>
          <p:cNvSpPr>
            <a:spLocks noGrp="1"/>
          </p:cNvSpPr>
          <p:nvPr>
            <p:ph type="title"/>
          </p:nvPr>
        </p:nvSpPr>
        <p:spPr/>
        <p:txBody>
          <a:bodyPr/>
          <a:lstStyle/>
          <a:p>
            <a:r>
              <a:rPr lang="en-US" dirty="0"/>
              <a:t> </a:t>
            </a:r>
            <a:r>
              <a:rPr lang="en-US" sz="4000" b="1" dirty="0"/>
              <a:t>MAIN AIM</a:t>
            </a:r>
            <a:endParaRPr lang="en-IN" sz="4000" b="1" dirty="0"/>
          </a:p>
        </p:txBody>
      </p:sp>
      <p:sp>
        <p:nvSpPr>
          <p:cNvPr id="3" name="Content Placeholder 2">
            <a:extLst>
              <a:ext uri="{FF2B5EF4-FFF2-40B4-BE49-F238E27FC236}">
                <a16:creationId xmlns:a16="http://schemas.microsoft.com/office/drawing/2014/main" id="{BFB93E0B-EA5B-9F96-B15C-8989419FC2E6}"/>
              </a:ext>
            </a:extLst>
          </p:cNvPr>
          <p:cNvSpPr>
            <a:spLocks noGrp="1"/>
          </p:cNvSpPr>
          <p:nvPr>
            <p:ph idx="1"/>
          </p:nvPr>
        </p:nvSpPr>
        <p:spPr/>
        <p:txBody>
          <a:bodyPr>
            <a:normAutofit lnSpcReduction="10000"/>
          </a:bodyPr>
          <a:lstStyle/>
          <a:p>
            <a:pPr marL="0" indent="0">
              <a:buNone/>
            </a:pPr>
            <a:r>
              <a:rPr lang="en-IN" sz="2800" kern="100" dirty="0">
                <a:effectLst/>
                <a:latin typeface="Calibri" panose="020F0502020204030204" pitchFamily="34" charset="0"/>
                <a:ea typeface="Calibri" panose="020F0502020204030204" pitchFamily="34" charset="0"/>
                <a:cs typeface="Times New Roman" panose="02020603050405020304" pitchFamily="18" charset="0"/>
              </a:rPr>
              <a:t>By the end of this case study , </a:t>
            </a:r>
            <a:r>
              <a:rPr lang="en-IN" sz="2800" kern="100" dirty="0">
                <a:latin typeface="Calibri" panose="020F0502020204030204" pitchFamily="34" charset="0"/>
                <a:ea typeface="Calibri" panose="020F0502020204030204" pitchFamily="34" charset="0"/>
                <a:cs typeface="Times New Roman" panose="02020603050405020304" pitchFamily="18" charset="0"/>
              </a:rPr>
              <a:t>we</a:t>
            </a:r>
            <a:r>
              <a:rPr lang="en-IN" sz="2800" kern="100" dirty="0">
                <a:effectLst/>
                <a:latin typeface="Calibri" panose="020F0502020204030204" pitchFamily="34" charset="0"/>
                <a:ea typeface="Calibri" panose="020F0502020204030204" pitchFamily="34" charset="0"/>
                <a:cs typeface="Times New Roman" panose="02020603050405020304" pitchFamily="18" charset="0"/>
              </a:rPr>
              <a:t> would be able to answer below questions.</a:t>
            </a:r>
          </a:p>
          <a:p>
            <a:pPr marL="342900" lvl="0" indent="-342900">
              <a:lnSpc>
                <a:spcPct val="107000"/>
              </a:lnSpc>
              <a:buFont typeface="+mj-lt"/>
              <a:buAutoNum type="arabicPeriod"/>
            </a:pPr>
            <a:r>
              <a:rPr lang="en-IN" kern="100" dirty="0">
                <a:effectLst/>
                <a:latin typeface="Calibri" panose="020F0502020204030204" pitchFamily="34" charset="0"/>
                <a:ea typeface="Calibri" panose="020F0502020204030204" pitchFamily="34" charset="0"/>
                <a:cs typeface="Times New Roman" panose="02020603050405020304" pitchFamily="18" charset="0"/>
              </a:rPr>
              <a:t>How to achieve customer segmentation using machine learning algorithm (K-Means Clustering) in Python in simplest way. </a:t>
            </a:r>
          </a:p>
          <a:p>
            <a:pPr marL="342900" lvl="0" indent="-342900">
              <a:lnSpc>
                <a:spcPct val="107000"/>
              </a:lnSpc>
              <a:buFont typeface="+mj-lt"/>
              <a:buAutoNum type="arabicPeriod"/>
            </a:pPr>
            <a:r>
              <a:rPr lang="en-IN" kern="100" dirty="0">
                <a:effectLst/>
                <a:latin typeface="Calibri" panose="020F0502020204030204" pitchFamily="34" charset="0"/>
                <a:ea typeface="Calibri" panose="020F0502020204030204" pitchFamily="34" charset="0"/>
                <a:cs typeface="Times New Roman" panose="02020603050405020304" pitchFamily="18" charset="0"/>
              </a:rPr>
              <a:t>Who are your target customers with whom you can start marketing strategy (easy to converse) </a:t>
            </a:r>
          </a:p>
          <a:p>
            <a:pPr marL="342900" lvl="0" indent="-342900">
              <a:lnSpc>
                <a:spcPct val="107000"/>
              </a:lnSpc>
              <a:spcAft>
                <a:spcPts val="800"/>
              </a:spcAft>
              <a:buFont typeface="+mj-lt"/>
              <a:buAutoNum type="arabicPeriod"/>
            </a:pPr>
            <a:r>
              <a:rPr lang="en-IN" kern="100" dirty="0">
                <a:effectLst/>
                <a:latin typeface="Calibri" panose="020F0502020204030204" pitchFamily="34" charset="0"/>
                <a:ea typeface="Calibri" panose="020F0502020204030204" pitchFamily="34" charset="0"/>
                <a:cs typeface="Times New Roman" panose="02020603050405020304" pitchFamily="18" charset="0"/>
              </a:rPr>
              <a:t> How the marketing strategy works in real world.</a:t>
            </a:r>
          </a:p>
          <a:p>
            <a:pPr marL="0" indent="0">
              <a:buNone/>
            </a:pPr>
            <a:endParaRPr lang="en-IN" dirty="0"/>
          </a:p>
        </p:txBody>
      </p:sp>
    </p:spTree>
    <p:extLst>
      <p:ext uri="{BB962C8B-B14F-4D97-AF65-F5344CB8AC3E}">
        <p14:creationId xmlns:p14="http://schemas.microsoft.com/office/powerpoint/2010/main" val="567021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A5DE2-EE3B-0007-2C40-E9C3947456BC}"/>
              </a:ext>
            </a:extLst>
          </p:cNvPr>
          <p:cNvSpPr>
            <a:spLocks noGrp="1"/>
          </p:cNvSpPr>
          <p:nvPr>
            <p:ph type="title"/>
          </p:nvPr>
        </p:nvSpPr>
        <p:spPr/>
        <p:txBody>
          <a:bodyPr>
            <a:normAutofit/>
          </a:bodyPr>
          <a:lstStyle/>
          <a:p>
            <a:pPr algn="ctr"/>
            <a:r>
              <a:rPr lang="en-US" sz="4000" b="1" dirty="0"/>
              <a:t>LITERATURE REVIEW</a:t>
            </a:r>
            <a:endParaRPr lang="en-IN" sz="4000" b="1" dirty="0"/>
          </a:p>
        </p:txBody>
      </p:sp>
      <p:graphicFrame>
        <p:nvGraphicFramePr>
          <p:cNvPr id="7" name="Content Placeholder 6">
            <a:extLst>
              <a:ext uri="{FF2B5EF4-FFF2-40B4-BE49-F238E27FC236}">
                <a16:creationId xmlns:a16="http://schemas.microsoft.com/office/drawing/2014/main" id="{37C249EF-4D33-1C95-67A0-D53A3A065169}"/>
              </a:ext>
            </a:extLst>
          </p:cNvPr>
          <p:cNvGraphicFramePr>
            <a:graphicFrameLocks noGrp="1"/>
          </p:cNvGraphicFramePr>
          <p:nvPr>
            <p:ph idx="1"/>
            <p:extLst>
              <p:ext uri="{D42A27DB-BD31-4B8C-83A1-F6EECF244321}">
                <p14:modId xmlns:p14="http://schemas.microsoft.com/office/powerpoint/2010/main" val="3761592145"/>
              </p:ext>
            </p:extLst>
          </p:nvPr>
        </p:nvGraphicFramePr>
        <p:xfrm>
          <a:off x="1141413" y="1936955"/>
          <a:ext cx="9906000" cy="4317734"/>
        </p:xfrm>
        <a:graphic>
          <a:graphicData uri="http://schemas.openxmlformats.org/drawingml/2006/table">
            <a:tbl>
              <a:tblPr firstRow="1" bandRow="1">
                <a:tableStyleId>{3C2FFA5D-87B4-456A-9821-1D502468CF0F}</a:tableStyleId>
              </a:tblPr>
              <a:tblGrid>
                <a:gridCol w="3302000">
                  <a:extLst>
                    <a:ext uri="{9D8B030D-6E8A-4147-A177-3AD203B41FA5}">
                      <a16:colId xmlns:a16="http://schemas.microsoft.com/office/drawing/2014/main" val="3021397006"/>
                    </a:ext>
                  </a:extLst>
                </a:gridCol>
                <a:gridCol w="3302000">
                  <a:extLst>
                    <a:ext uri="{9D8B030D-6E8A-4147-A177-3AD203B41FA5}">
                      <a16:colId xmlns:a16="http://schemas.microsoft.com/office/drawing/2014/main" val="2899553420"/>
                    </a:ext>
                  </a:extLst>
                </a:gridCol>
                <a:gridCol w="3302000">
                  <a:extLst>
                    <a:ext uri="{9D8B030D-6E8A-4147-A177-3AD203B41FA5}">
                      <a16:colId xmlns:a16="http://schemas.microsoft.com/office/drawing/2014/main" val="1524551090"/>
                    </a:ext>
                  </a:extLst>
                </a:gridCol>
              </a:tblGrid>
              <a:tr h="731937">
                <a:tc>
                  <a:txBody>
                    <a:bodyPr/>
                    <a:lstStyle/>
                    <a:p>
                      <a:pPr algn="ctr"/>
                      <a:r>
                        <a:rPr lang="en-US" dirty="0"/>
                        <a:t>Name Of The Author</a:t>
                      </a:r>
                      <a:endParaRPr lang="en-IN" dirty="0"/>
                    </a:p>
                  </a:txBody>
                  <a:tcPr/>
                </a:tc>
                <a:tc>
                  <a:txBody>
                    <a:bodyPr/>
                    <a:lstStyle/>
                    <a:p>
                      <a:pPr algn="ctr"/>
                      <a:r>
                        <a:rPr lang="en-US" dirty="0"/>
                        <a:t>Title Name</a:t>
                      </a:r>
                      <a:endParaRPr lang="en-IN" dirty="0"/>
                    </a:p>
                  </a:txBody>
                  <a:tcPr/>
                </a:tc>
                <a:tc>
                  <a:txBody>
                    <a:bodyPr/>
                    <a:lstStyle/>
                    <a:p>
                      <a:pPr algn="ctr"/>
                      <a:r>
                        <a:rPr lang="en-US" dirty="0"/>
                        <a:t>Journal Name</a:t>
                      </a:r>
                      <a:endParaRPr lang="en-IN" dirty="0"/>
                    </a:p>
                  </a:txBody>
                  <a:tcPr/>
                </a:tc>
                <a:extLst>
                  <a:ext uri="{0D108BD9-81ED-4DB2-BD59-A6C34878D82A}">
                    <a16:rowId xmlns:a16="http://schemas.microsoft.com/office/drawing/2014/main" val="2288679745"/>
                  </a:ext>
                </a:extLst>
              </a:tr>
              <a:tr h="996055">
                <a:tc>
                  <a:txBody>
                    <a:bodyPr/>
                    <a:lstStyle/>
                    <a:p>
                      <a:pPr algn="l"/>
                      <a:r>
                        <a:rPr lang="en-IN" sz="1800" kern="1200" dirty="0">
                          <a:solidFill>
                            <a:schemeClr val="dk1"/>
                          </a:solidFill>
                          <a:effectLst/>
                          <a:latin typeface="+mn-lt"/>
                          <a:ea typeface="+mn-ea"/>
                          <a:cs typeface="+mn-cs"/>
                        </a:rPr>
                        <a:t>Sari  </a:t>
                      </a:r>
                      <a:r>
                        <a:rPr lang="en-IN" sz="1800" kern="1200" dirty="0" err="1">
                          <a:solidFill>
                            <a:schemeClr val="dk1"/>
                          </a:solidFill>
                          <a:effectLst/>
                          <a:latin typeface="+mn-lt"/>
                          <a:ea typeface="+mn-ea"/>
                          <a:cs typeface="+mn-cs"/>
                        </a:rPr>
                        <a:t>Juni</a:t>
                      </a:r>
                      <a:r>
                        <a:rPr lang="en-IN" sz="1800" kern="1200" dirty="0">
                          <a:solidFill>
                            <a:schemeClr val="dk1"/>
                          </a:solidFill>
                          <a:effectLst/>
                          <a:latin typeface="+mn-lt"/>
                          <a:ea typeface="+mn-ea"/>
                          <a:cs typeface="+mn-cs"/>
                        </a:rPr>
                        <a:t>  </a:t>
                      </a:r>
                      <a:r>
                        <a:rPr lang="en-IN" sz="1800" kern="1200" dirty="0" err="1">
                          <a:solidFill>
                            <a:schemeClr val="dk1"/>
                          </a:solidFill>
                          <a:effectLst/>
                          <a:latin typeface="+mn-lt"/>
                          <a:ea typeface="+mn-ea"/>
                          <a:cs typeface="+mn-cs"/>
                        </a:rPr>
                        <a:t>Nurma</a:t>
                      </a:r>
                      <a:r>
                        <a:rPr lang="en-IN" sz="1800" kern="1200" dirty="0">
                          <a:solidFill>
                            <a:schemeClr val="dk1"/>
                          </a:solidFill>
                          <a:effectLst/>
                          <a:latin typeface="+mn-lt"/>
                          <a:ea typeface="+mn-ea"/>
                          <a:cs typeface="+mn-cs"/>
                        </a:rPr>
                        <a:t>,  Nugroho , </a:t>
                      </a:r>
                      <a:r>
                        <a:rPr lang="en-IN" sz="1800" kern="1200" dirty="0" err="1">
                          <a:solidFill>
                            <a:schemeClr val="dk1"/>
                          </a:solidFill>
                          <a:effectLst/>
                          <a:latin typeface="+mn-lt"/>
                          <a:ea typeface="+mn-ea"/>
                          <a:cs typeface="+mn-cs"/>
                        </a:rPr>
                        <a:t>Lukito</a:t>
                      </a:r>
                      <a:r>
                        <a:rPr lang="en-IN" sz="1800" kern="1200" dirty="0">
                          <a:solidFill>
                            <a:schemeClr val="dk1"/>
                          </a:solidFill>
                          <a:effectLst/>
                          <a:latin typeface="+mn-lt"/>
                          <a:ea typeface="+mn-ea"/>
                          <a:cs typeface="+mn-cs"/>
                        </a:rPr>
                        <a:t>. Edi , </a:t>
                      </a:r>
                      <a:r>
                        <a:rPr lang="en-IN" sz="1800" kern="1200" dirty="0" err="1">
                          <a:solidFill>
                            <a:schemeClr val="dk1"/>
                          </a:solidFill>
                          <a:effectLst/>
                          <a:latin typeface="+mn-lt"/>
                          <a:ea typeface="+mn-ea"/>
                          <a:cs typeface="+mn-cs"/>
                        </a:rPr>
                        <a:t>Ferdiana</a:t>
                      </a:r>
                      <a:r>
                        <a:rPr lang="en-IN" sz="1800" kern="1200" dirty="0">
                          <a:solidFill>
                            <a:schemeClr val="dk1"/>
                          </a:solidFill>
                          <a:effectLst/>
                          <a:latin typeface="+mn-lt"/>
                          <a:ea typeface="+mn-ea"/>
                          <a:cs typeface="+mn-cs"/>
                        </a:rPr>
                        <a:t>,  </a:t>
                      </a:r>
                      <a:r>
                        <a:rPr lang="en-IN" sz="1800" kern="1200" dirty="0" err="1">
                          <a:solidFill>
                            <a:schemeClr val="dk1"/>
                          </a:solidFill>
                          <a:effectLst/>
                          <a:latin typeface="+mn-lt"/>
                          <a:ea typeface="+mn-ea"/>
                          <a:cs typeface="+mn-cs"/>
                        </a:rPr>
                        <a:t>Ridi</a:t>
                      </a:r>
                      <a:r>
                        <a:rPr lang="en-IN" sz="1800" kern="1200" dirty="0">
                          <a:solidFill>
                            <a:schemeClr val="dk1"/>
                          </a:solidFill>
                          <a:effectLst/>
                          <a:latin typeface="+mn-lt"/>
                          <a:ea typeface="+mn-ea"/>
                          <a:cs typeface="+mn-cs"/>
                        </a:rPr>
                        <a:t> &amp; </a:t>
                      </a:r>
                      <a:r>
                        <a:rPr lang="en-IN" sz="1800" kern="1200" dirty="0" err="1">
                          <a:solidFill>
                            <a:schemeClr val="dk1"/>
                          </a:solidFill>
                          <a:effectLst/>
                          <a:latin typeface="+mn-lt"/>
                          <a:ea typeface="+mn-ea"/>
                          <a:cs typeface="+mn-cs"/>
                        </a:rPr>
                        <a:t>Santosa</a:t>
                      </a:r>
                      <a:r>
                        <a:rPr lang="en-IN" sz="1800" kern="1200" dirty="0">
                          <a:solidFill>
                            <a:schemeClr val="dk1"/>
                          </a:solidFill>
                          <a:effectLst/>
                          <a:latin typeface="+mn-lt"/>
                          <a:ea typeface="+mn-ea"/>
                          <a:cs typeface="+mn-cs"/>
                        </a:rPr>
                        <a:t> , P. </a:t>
                      </a:r>
                      <a:r>
                        <a:rPr lang="en-IN" sz="1800" kern="1200" dirty="0" err="1">
                          <a:solidFill>
                            <a:schemeClr val="dk1"/>
                          </a:solidFill>
                          <a:effectLst/>
                          <a:latin typeface="+mn-lt"/>
                          <a:ea typeface="+mn-ea"/>
                          <a:cs typeface="+mn-cs"/>
                        </a:rPr>
                        <a:t>Insap</a:t>
                      </a:r>
                      <a:r>
                        <a:rPr lang="en-IN" sz="1800" kern="1200" dirty="0">
                          <a:solidFill>
                            <a:schemeClr val="dk1"/>
                          </a:solidFill>
                          <a:effectLst/>
                          <a:latin typeface="+mn-lt"/>
                          <a:ea typeface="+mn-ea"/>
                          <a:cs typeface="+mn-cs"/>
                        </a:rPr>
                        <a:t> </a:t>
                      </a:r>
                      <a:endParaRPr lang="en-IN" dirty="0"/>
                    </a:p>
                  </a:txBody>
                  <a:tcPr/>
                </a:tc>
                <a:tc>
                  <a:txBody>
                    <a:bodyPr/>
                    <a:lstStyle/>
                    <a:p>
                      <a:pPr algn="ctr"/>
                      <a:r>
                        <a:rPr lang="en-IN" sz="1800" kern="1200" dirty="0">
                          <a:solidFill>
                            <a:schemeClr val="dk1"/>
                          </a:solidFill>
                          <a:effectLst/>
                          <a:latin typeface="+mn-lt"/>
                          <a:ea typeface="+mn-ea"/>
                          <a:cs typeface="+mn-cs"/>
                        </a:rPr>
                        <a:t>Review on Customer Segmentation Technique on Ecommerce (2016).</a:t>
                      </a:r>
                      <a:endParaRPr lang="en-IN" dirty="0"/>
                    </a:p>
                  </a:txBody>
                  <a:tcPr/>
                </a:tc>
                <a:tc>
                  <a:txBody>
                    <a:bodyPr/>
                    <a:lstStyle/>
                    <a:p>
                      <a:pPr algn="ctr"/>
                      <a:r>
                        <a:rPr lang="en-IN" sz="1800" i="1" kern="1200" dirty="0">
                          <a:solidFill>
                            <a:schemeClr val="dk1"/>
                          </a:solidFill>
                          <a:effectLst/>
                          <a:latin typeface="+mn-lt"/>
                          <a:ea typeface="+mn-ea"/>
                          <a:cs typeface="+mn-cs"/>
                        </a:rPr>
                        <a:t>Advanced Science Letters</a:t>
                      </a:r>
                      <a:endParaRPr lang="en-IN" dirty="0"/>
                    </a:p>
                  </a:txBody>
                  <a:tcPr/>
                </a:tc>
                <a:extLst>
                  <a:ext uri="{0D108BD9-81ED-4DB2-BD59-A6C34878D82A}">
                    <a16:rowId xmlns:a16="http://schemas.microsoft.com/office/drawing/2014/main" val="197125341"/>
                  </a:ext>
                </a:extLst>
              </a:tr>
              <a:tr h="1294871">
                <a:tc>
                  <a:txBody>
                    <a:bodyPr/>
                    <a:lstStyle/>
                    <a:p>
                      <a:pPr algn="ctr"/>
                      <a:r>
                        <a:rPr lang="en-IN" sz="1800" kern="1200" dirty="0">
                          <a:solidFill>
                            <a:schemeClr val="dk1"/>
                          </a:solidFill>
                          <a:effectLst/>
                          <a:latin typeface="+mn-lt"/>
                          <a:ea typeface="+mn-ea"/>
                          <a:cs typeface="+mn-cs"/>
                        </a:rPr>
                        <a:t>Chenguang Wang </a:t>
                      </a:r>
                      <a:endParaRPr lang="en-IN" dirty="0"/>
                    </a:p>
                  </a:txBody>
                  <a:tcPr/>
                </a:tc>
                <a:tc>
                  <a:txBody>
                    <a:bodyPr/>
                    <a:lstStyle/>
                    <a:p>
                      <a:pPr algn="ctr"/>
                      <a:r>
                        <a:rPr lang="en-IN" sz="1800" kern="1200" dirty="0">
                          <a:solidFill>
                            <a:schemeClr val="dk1"/>
                          </a:solidFill>
                          <a:effectLst/>
                          <a:latin typeface="+mn-lt"/>
                          <a:ea typeface="+mn-ea"/>
                          <a:cs typeface="+mn-cs"/>
                        </a:rPr>
                        <a:t>Efficient Customer Segmentation in digital marketing using Deep Learning with Swarm Intelligence Approach (2022).</a:t>
                      </a:r>
                      <a:endParaRPr lang="en-IN" dirty="0"/>
                    </a:p>
                  </a:txBody>
                  <a:tcPr/>
                </a:tc>
                <a:tc>
                  <a:txBody>
                    <a:bodyPr/>
                    <a:lstStyle/>
                    <a:p>
                      <a:pPr algn="ctr"/>
                      <a:r>
                        <a:rPr lang="en-IN" sz="1800" kern="1200" dirty="0">
                          <a:solidFill>
                            <a:schemeClr val="dk1"/>
                          </a:solidFill>
                          <a:effectLst/>
                          <a:latin typeface="+mn-lt"/>
                          <a:ea typeface="+mn-ea"/>
                          <a:cs typeface="+mn-cs"/>
                        </a:rPr>
                        <a:t>Information Processing and Management.</a:t>
                      </a:r>
                      <a:endParaRPr lang="en-IN" dirty="0"/>
                    </a:p>
                  </a:txBody>
                  <a:tcPr/>
                </a:tc>
                <a:extLst>
                  <a:ext uri="{0D108BD9-81ED-4DB2-BD59-A6C34878D82A}">
                    <a16:rowId xmlns:a16="http://schemas.microsoft.com/office/drawing/2014/main" val="2394004022"/>
                  </a:ext>
                </a:extLst>
              </a:tr>
              <a:tr h="1294871">
                <a:tc>
                  <a:txBody>
                    <a:bodyPr/>
                    <a:lstStyle/>
                    <a:p>
                      <a:pPr algn="ctr"/>
                      <a:r>
                        <a:rPr lang="en-IN" sz="1800" kern="1200" dirty="0" err="1">
                          <a:solidFill>
                            <a:schemeClr val="dk1"/>
                          </a:solidFill>
                          <a:effectLst/>
                          <a:latin typeface="+mn-lt"/>
                          <a:ea typeface="+mn-ea"/>
                          <a:cs typeface="+mn-cs"/>
                        </a:rPr>
                        <a:t>Rahma</a:t>
                      </a:r>
                      <a:r>
                        <a:rPr lang="en-IN" sz="1800" kern="1200" dirty="0">
                          <a:solidFill>
                            <a:schemeClr val="dk1"/>
                          </a:solidFill>
                          <a:effectLst/>
                          <a:latin typeface="+mn-lt"/>
                          <a:ea typeface="+mn-ea"/>
                          <a:cs typeface="+mn-cs"/>
                        </a:rPr>
                        <a:t> Wah </a:t>
                      </a:r>
                      <a:r>
                        <a:rPr lang="en-IN" sz="1800" kern="1200" dirty="0" err="1">
                          <a:solidFill>
                            <a:schemeClr val="dk1"/>
                          </a:solidFill>
                          <a:effectLst/>
                          <a:latin typeface="+mn-lt"/>
                          <a:ea typeface="+mn-ea"/>
                          <a:cs typeface="+mn-cs"/>
                        </a:rPr>
                        <a:t>Sembring</a:t>
                      </a:r>
                      <a:r>
                        <a:rPr lang="en-IN" sz="1800" kern="1200" dirty="0">
                          <a:solidFill>
                            <a:schemeClr val="dk1"/>
                          </a:solidFill>
                          <a:effectLst/>
                          <a:latin typeface="+mn-lt"/>
                          <a:ea typeface="+mn-ea"/>
                          <a:cs typeface="+mn-cs"/>
                        </a:rPr>
                        <a:t>  </a:t>
                      </a:r>
                      <a:r>
                        <a:rPr lang="en-IN" sz="1800" kern="1200" dirty="0" err="1">
                          <a:solidFill>
                            <a:schemeClr val="dk1"/>
                          </a:solidFill>
                          <a:effectLst/>
                          <a:latin typeface="+mn-lt"/>
                          <a:ea typeface="+mn-ea"/>
                          <a:cs typeface="+mn-cs"/>
                        </a:rPr>
                        <a:t>Brahama</a:t>
                      </a:r>
                      <a:r>
                        <a:rPr lang="en-IN" sz="1800" kern="1200" dirty="0">
                          <a:solidFill>
                            <a:schemeClr val="dk1"/>
                          </a:solidFill>
                          <a:effectLst/>
                          <a:latin typeface="+mn-lt"/>
                          <a:ea typeface="+mn-ea"/>
                          <a:cs typeface="+mn-cs"/>
                        </a:rPr>
                        <a:t>, Fahd </a:t>
                      </a:r>
                      <a:r>
                        <a:rPr lang="en-IN" sz="1800" kern="1200" dirty="0" err="1">
                          <a:solidFill>
                            <a:schemeClr val="dk1"/>
                          </a:solidFill>
                          <a:effectLst/>
                          <a:latin typeface="+mn-lt"/>
                          <a:ea typeface="+mn-ea"/>
                          <a:cs typeface="+mn-cs"/>
                        </a:rPr>
                        <a:t>Agodzo</a:t>
                      </a:r>
                      <a:r>
                        <a:rPr lang="en-IN" sz="1800" kern="1200" dirty="0">
                          <a:solidFill>
                            <a:schemeClr val="dk1"/>
                          </a:solidFill>
                          <a:effectLst/>
                          <a:latin typeface="+mn-lt"/>
                          <a:ea typeface="+mn-ea"/>
                          <a:cs typeface="+mn-cs"/>
                        </a:rPr>
                        <a:t> Mohammed, </a:t>
                      </a:r>
                      <a:r>
                        <a:rPr lang="en-IN" sz="1800" kern="1200" dirty="0" err="1">
                          <a:solidFill>
                            <a:schemeClr val="dk1"/>
                          </a:solidFill>
                          <a:effectLst/>
                          <a:latin typeface="+mn-lt"/>
                          <a:ea typeface="+mn-ea"/>
                          <a:cs typeface="+mn-cs"/>
                        </a:rPr>
                        <a:t>Kankamol</a:t>
                      </a:r>
                      <a:r>
                        <a:rPr lang="en-IN" sz="1800" kern="1200" dirty="0">
                          <a:solidFill>
                            <a:schemeClr val="dk1"/>
                          </a:solidFill>
                          <a:effectLst/>
                          <a:latin typeface="+mn-lt"/>
                          <a:ea typeface="+mn-ea"/>
                          <a:cs typeface="+mn-cs"/>
                        </a:rPr>
                        <a:t> </a:t>
                      </a:r>
                      <a:r>
                        <a:rPr lang="en-IN" sz="1800" kern="1200" dirty="0" err="1">
                          <a:solidFill>
                            <a:schemeClr val="dk1"/>
                          </a:solidFill>
                          <a:effectLst/>
                          <a:latin typeface="+mn-lt"/>
                          <a:ea typeface="+mn-ea"/>
                          <a:cs typeface="+mn-cs"/>
                        </a:rPr>
                        <a:t>Chairuong</a:t>
                      </a:r>
                      <a:endParaRPr lang="en-IN" dirty="0"/>
                    </a:p>
                  </a:txBody>
                  <a:tcPr/>
                </a:tc>
                <a:tc>
                  <a:txBody>
                    <a:bodyPr/>
                    <a:lstStyle/>
                    <a:p>
                      <a:pPr algn="ctr"/>
                      <a:r>
                        <a:rPr lang="en-IN" sz="1800" kern="1200" dirty="0">
                          <a:solidFill>
                            <a:schemeClr val="dk1"/>
                          </a:solidFill>
                          <a:effectLst/>
                          <a:latin typeface="+mn-lt"/>
                          <a:ea typeface="+mn-ea"/>
                          <a:cs typeface="+mn-cs"/>
                        </a:rPr>
                        <a:t> (2020)Customer Segmentation based on RFM model using K-Means , K-Medoids and DBSCAN methods  (2020).</a:t>
                      </a: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latin typeface="+mn-lt"/>
                          <a:ea typeface="+mn-ea"/>
                          <a:cs typeface="+mn-cs"/>
                        </a:rPr>
                        <a:t>Lontar </a:t>
                      </a:r>
                      <a:r>
                        <a:rPr lang="en-IN" sz="1800" kern="1200" dirty="0" err="1">
                          <a:solidFill>
                            <a:schemeClr val="dk1"/>
                          </a:solidFill>
                          <a:effectLst/>
                          <a:latin typeface="+mn-lt"/>
                          <a:ea typeface="+mn-ea"/>
                          <a:cs typeface="+mn-cs"/>
                        </a:rPr>
                        <a:t>Komputer</a:t>
                      </a:r>
                      <a:r>
                        <a:rPr lang="en-IN" sz="1800" kern="1200" dirty="0">
                          <a:solidFill>
                            <a:schemeClr val="dk1"/>
                          </a:solidFill>
                          <a:effectLst/>
                          <a:latin typeface="+mn-lt"/>
                          <a:ea typeface="+mn-ea"/>
                          <a:cs typeface="+mn-cs"/>
                        </a:rPr>
                        <a:t> </a:t>
                      </a:r>
                      <a:r>
                        <a:rPr lang="en-IN" sz="1800" kern="1200" dirty="0" err="1">
                          <a:solidFill>
                            <a:schemeClr val="dk1"/>
                          </a:solidFill>
                          <a:effectLst/>
                          <a:latin typeface="+mn-lt"/>
                          <a:ea typeface="+mn-ea"/>
                          <a:cs typeface="+mn-cs"/>
                        </a:rPr>
                        <a:t>Jurnal</a:t>
                      </a:r>
                      <a:r>
                        <a:rPr lang="en-IN" sz="1800" kern="1200" dirty="0">
                          <a:solidFill>
                            <a:schemeClr val="dk1"/>
                          </a:solidFill>
                          <a:effectLst/>
                          <a:latin typeface="+mn-lt"/>
                          <a:ea typeface="+mn-ea"/>
                          <a:cs typeface="+mn-cs"/>
                        </a:rPr>
                        <a:t> </a:t>
                      </a:r>
                      <a:r>
                        <a:rPr lang="en-IN" sz="1800" kern="1200" dirty="0" err="1">
                          <a:solidFill>
                            <a:schemeClr val="dk1"/>
                          </a:solidFill>
                          <a:effectLst/>
                          <a:latin typeface="+mn-lt"/>
                          <a:ea typeface="+mn-ea"/>
                          <a:cs typeface="+mn-cs"/>
                        </a:rPr>
                        <a:t>Ilmiah</a:t>
                      </a:r>
                      <a:r>
                        <a:rPr lang="en-IN" sz="1800" kern="1200" dirty="0">
                          <a:solidFill>
                            <a:schemeClr val="dk1"/>
                          </a:solidFill>
                          <a:effectLst/>
                          <a:latin typeface="+mn-lt"/>
                          <a:ea typeface="+mn-ea"/>
                          <a:cs typeface="+mn-cs"/>
                        </a:rPr>
                        <a:t> </a:t>
                      </a:r>
                      <a:r>
                        <a:rPr lang="en-IN" sz="1800" kern="1200" dirty="0" err="1">
                          <a:solidFill>
                            <a:schemeClr val="dk1"/>
                          </a:solidFill>
                          <a:effectLst/>
                          <a:latin typeface="+mn-lt"/>
                          <a:ea typeface="+mn-ea"/>
                          <a:cs typeface="+mn-cs"/>
                        </a:rPr>
                        <a:t>Teknology</a:t>
                      </a:r>
                      <a:r>
                        <a:rPr lang="en-IN" sz="1800" kern="1200" dirty="0">
                          <a:solidFill>
                            <a:schemeClr val="dk1"/>
                          </a:solidFill>
                          <a:effectLst/>
                          <a:latin typeface="+mn-lt"/>
                          <a:ea typeface="+mn-ea"/>
                          <a:cs typeface="+mn-cs"/>
                        </a:rPr>
                        <a:t> </a:t>
                      </a:r>
                      <a:r>
                        <a:rPr lang="en-IN" sz="1800" kern="1200" dirty="0" err="1">
                          <a:solidFill>
                            <a:schemeClr val="dk1"/>
                          </a:solidFill>
                          <a:effectLst/>
                          <a:latin typeface="+mn-lt"/>
                          <a:ea typeface="+mn-ea"/>
                          <a:cs typeface="+mn-cs"/>
                        </a:rPr>
                        <a:t>Informasi</a:t>
                      </a:r>
                      <a:r>
                        <a:rPr lang="en-IN" sz="1800" kern="1200" dirty="0">
                          <a:solidFill>
                            <a:schemeClr val="dk1"/>
                          </a:solidFill>
                          <a:effectLst/>
                          <a:latin typeface="+mn-lt"/>
                          <a:ea typeface="+mn-ea"/>
                          <a:cs typeface="+mn-cs"/>
                        </a:rPr>
                        <a:t>                           </a:t>
                      </a:r>
                    </a:p>
                    <a:p>
                      <a:endParaRPr lang="en-IN" dirty="0"/>
                    </a:p>
                  </a:txBody>
                  <a:tcPr/>
                </a:tc>
                <a:extLst>
                  <a:ext uri="{0D108BD9-81ED-4DB2-BD59-A6C34878D82A}">
                    <a16:rowId xmlns:a16="http://schemas.microsoft.com/office/drawing/2014/main" val="1906531845"/>
                  </a:ext>
                </a:extLst>
              </a:tr>
            </a:tbl>
          </a:graphicData>
        </a:graphic>
      </p:graphicFrame>
    </p:spTree>
    <p:extLst>
      <p:ext uri="{BB962C8B-B14F-4D97-AF65-F5344CB8AC3E}">
        <p14:creationId xmlns:p14="http://schemas.microsoft.com/office/powerpoint/2010/main" val="229340555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20D6A-7C90-1FF9-A006-829924C0FD68}"/>
              </a:ext>
            </a:extLst>
          </p:cNvPr>
          <p:cNvSpPr>
            <a:spLocks noGrp="1"/>
          </p:cNvSpPr>
          <p:nvPr>
            <p:ph type="title"/>
          </p:nvPr>
        </p:nvSpPr>
        <p:spPr/>
        <p:txBody>
          <a:bodyPr/>
          <a:lstStyle/>
          <a:p>
            <a:endParaRPr lang="en-IN" dirty="0"/>
          </a:p>
        </p:txBody>
      </p:sp>
      <p:graphicFrame>
        <p:nvGraphicFramePr>
          <p:cNvPr id="7" name="Content Placeholder 6">
            <a:extLst>
              <a:ext uri="{FF2B5EF4-FFF2-40B4-BE49-F238E27FC236}">
                <a16:creationId xmlns:a16="http://schemas.microsoft.com/office/drawing/2014/main" id="{436CE1D1-95DF-C93F-B443-E1C0749027D1}"/>
              </a:ext>
            </a:extLst>
          </p:cNvPr>
          <p:cNvGraphicFramePr>
            <a:graphicFrameLocks noGrp="1"/>
          </p:cNvGraphicFramePr>
          <p:nvPr>
            <p:ph idx="1"/>
            <p:extLst>
              <p:ext uri="{D42A27DB-BD31-4B8C-83A1-F6EECF244321}">
                <p14:modId xmlns:p14="http://schemas.microsoft.com/office/powerpoint/2010/main" val="578872785"/>
              </p:ext>
            </p:extLst>
          </p:nvPr>
        </p:nvGraphicFramePr>
        <p:xfrm>
          <a:off x="1141413" y="796414"/>
          <a:ext cx="9906000" cy="4748980"/>
        </p:xfrm>
        <a:graphic>
          <a:graphicData uri="http://schemas.openxmlformats.org/drawingml/2006/table">
            <a:tbl>
              <a:tblPr bandRow="1">
                <a:tableStyleId>{3C2FFA5D-87B4-456A-9821-1D502468CF0F}</a:tableStyleId>
              </a:tblPr>
              <a:tblGrid>
                <a:gridCol w="3302000">
                  <a:extLst>
                    <a:ext uri="{9D8B030D-6E8A-4147-A177-3AD203B41FA5}">
                      <a16:colId xmlns:a16="http://schemas.microsoft.com/office/drawing/2014/main" val="2233817098"/>
                    </a:ext>
                  </a:extLst>
                </a:gridCol>
                <a:gridCol w="3302000">
                  <a:extLst>
                    <a:ext uri="{9D8B030D-6E8A-4147-A177-3AD203B41FA5}">
                      <a16:colId xmlns:a16="http://schemas.microsoft.com/office/drawing/2014/main" val="284394927"/>
                    </a:ext>
                  </a:extLst>
                </a:gridCol>
                <a:gridCol w="3302000">
                  <a:extLst>
                    <a:ext uri="{9D8B030D-6E8A-4147-A177-3AD203B41FA5}">
                      <a16:colId xmlns:a16="http://schemas.microsoft.com/office/drawing/2014/main" val="867223910"/>
                    </a:ext>
                  </a:extLst>
                </a:gridCol>
              </a:tblGrid>
              <a:tr h="1871976">
                <a:tc>
                  <a:txBody>
                    <a:bodyPr/>
                    <a:lstStyle/>
                    <a:p>
                      <a:r>
                        <a:rPr lang="en-IN" sz="1800" kern="1200" dirty="0">
                          <a:solidFill>
                            <a:schemeClr val="dk1"/>
                          </a:solidFill>
                          <a:effectLst/>
                          <a:latin typeface="+mn-lt"/>
                          <a:ea typeface="+mn-ea"/>
                          <a:cs typeface="+mn-cs"/>
                        </a:rPr>
                        <a:t> </a:t>
                      </a:r>
                    </a:p>
                    <a:p>
                      <a:r>
                        <a:rPr lang="en-IN" sz="1800" kern="1200" dirty="0">
                          <a:solidFill>
                            <a:schemeClr val="dk1"/>
                          </a:solidFill>
                          <a:effectLst/>
                          <a:latin typeface="+mn-lt"/>
                          <a:ea typeface="+mn-ea"/>
                          <a:cs typeface="+mn-cs"/>
                        </a:rPr>
                        <a:t>Eman Hussein .Sharaf </a:t>
                      </a:r>
                      <a:r>
                        <a:rPr lang="en-IN" sz="1800" kern="1200" dirty="0" err="1">
                          <a:solidFill>
                            <a:schemeClr val="dk1"/>
                          </a:solidFill>
                          <a:effectLst/>
                          <a:latin typeface="+mn-lt"/>
                          <a:ea typeface="+mn-ea"/>
                          <a:cs typeface="+mn-cs"/>
                        </a:rPr>
                        <a:t>Addin</a:t>
                      </a:r>
                      <a:r>
                        <a:rPr lang="en-IN" sz="1800" kern="1200" dirty="0">
                          <a:solidFill>
                            <a:schemeClr val="dk1"/>
                          </a:solidFill>
                          <a:effectLst/>
                          <a:latin typeface="+mn-lt"/>
                          <a:ea typeface="+mn-ea"/>
                          <a:cs typeface="+mn-cs"/>
                        </a:rPr>
                        <a:t> , </a:t>
                      </a:r>
                      <a:r>
                        <a:rPr lang="en-IN" sz="1800" kern="1200" dirty="0" err="1">
                          <a:solidFill>
                            <a:schemeClr val="dk1"/>
                          </a:solidFill>
                          <a:effectLst/>
                          <a:latin typeface="+mn-lt"/>
                          <a:ea typeface="+mn-ea"/>
                          <a:cs typeface="+mn-cs"/>
                        </a:rPr>
                        <a:t>Novia</a:t>
                      </a:r>
                      <a:r>
                        <a:rPr lang="en-IN" sz="1800" kern="1200" dirty="0">
                          <a:solidFill>
                            <a:schemeClr val="dk1"/>
                          </a:solidFill>
                          <a:effectLst/>
                          <a:latin typeface="+mn-lt"/>
                          <a:ea typeface="+mn-ea"/>
                          <a:cs typeface="+mn-cs"/>
                        </a:rPr>
                        <a:t> </a:t>
                      </a:r>
                      <a:r>
                        <a:rPr lang="en-IN" sz="1800" kern="1200" dirty="0" err="1">
                          <a:solidFill>
                            <a:schemeClr val="dk1"/>
                          </a:solidFill>
                          <a:effectLst/>
                          <a:latin typeface="+mn-lt"/>
                          <a:ea typeface="+mn-ea"/>
                          <a:cs typeface="+mn-cs"/>
                        </a:rPr>
                        <a:t>Admodisastro</a:t>
                      </a:r>
                      <a:r>
                        <a:rPr lang="en-IN" sz="1800" kern="1200" dirty="0">
                          <a:solidFill>
                            <a:schemeClr val="dk1"/>
                          </a:solidFill>
                          <a:effectLst/>
                          <a:latin typeface="+mn-lt"/>
                          <a:ea typeface="+mn-ea"/>
                          <a:cs typeface="+mn-cs"/>
                        </a:rPr>
                        <a:t> ,  Siti Nur </a:t>
                      </a:r>
                      <a:r>
                        <a:rPr lang="en-IN" sz="1800" kern="1200" dirty="0" err="1">
                          <a:solidFill>
                            <a:schemeClr val="dk1"/>
                          </a:solidFill>
                          <a:effectLst/>
                          <a:latin typeface="+mn-lt"/>
                          <a:ea typeface="+mn-ea"/>
                          <a:cs typeface="+mn-cs"/>
                        </a:rPr>
                        <a:t>Syahirah</a:t>
                      </a:r>
                      <a:r>
                        <a:rPr lang="en-IN" sz="1800" kern="1200" dirty="0">
                          <a:solidFill>
                            <a:schemeClr val="dk1"/>
                          </a:solidFill>
                          <a:effectLst/>
                          <a:latin typeface="+mn-lt"/>
                          <a:ea typeface="+mn-ea"/>
                          <a:cs typeface="+mn-cs"/>
                        </a:rPr>
                        <a:t> ,  </a:t>
                      </a:r>
                      <a:r>
                        <a:rPr lang="en-IN" sz="1800" kern="1200" dirty="0" err="1">
                          <a:solidFill>
                            <a:schemeClr val="dk1"/>
                          </a:solidFill>
                          <a:effectLst/>
                          <a:latin typeface="+mn-lt"/>
                          <a:ea typeface="+mn-ea"/>
                          <a:cs typeface="+mn-cs"/>
                        </a:rPr>
                        <a:t>M.Ashri</a:t>
                      </a:r>
                      <a:r>
                        <a:rPr lang="en-IN" sz="1800" kern="1200" dirty="0">
                          <a:solidFill>
                            <a:schemeClr val="dk1"/>
                          </a:solidFill>
                          <a:effectLst/>
                          <a:latin typeface="+mn-lt"/>
                          <a:ea typeface="+mn-ea"/>
                          <a:cs typeface="+mn-cs"/>
                        </a:rPr>
                        <a:t> ,  </a:t>
                      </a:r>
                      <a:r>
                        <a:rPr lang="en-IN" sz="1800" kern="1200" dirty="0" err="1">
                          <a:solidFill>
                            <a:schemeClr val="dk1"/>
                          </a:solidFill>
                          <a:effectLst/>
                          <a:latin typeface="+mn-lt"/>
                          <a:ea typeface="+mn-ea"/>
                          <a:cs typeface="+mn-cs"/>
                        </a:rPr>
                        <a:t>Azrina</a:t>
                      </a:r>
                      <a:r>
                        <a:rPr lang="en-IN" sz="1800" kern="1200" dirty="0">
                          <a:solidFill>
                            <a:schemeClr val="dk1"/>
                          </a:solidFill>
                          <a:effectLst/>
                          <a:latin typeface="+mn-lt"/>
                          <a:ea typeface="+mn-ea"/>
                          <a:cs typeface="+mn-cs"/>
                        </a:rPr>
                        <a:t> </a:t>
                      </a:r>
                      <a:r>
                        <a:rPr lang="en-IN" sz="1800" kern="1200" dirty="0" err="1">
                          <a:solidFill>
                            <a:schemeClr val="dk1"/>
                          </a:solidFill>
                          <a:effectLst/>
                          <a:latin typeface="+mn-lt"/>
                          <a:ea typeface="+mn-ea"/>
                          <a:cs typeface="+mn-cs"/>
                        </a:rPr>
                        <a:t>Kamaruddin</a:t>
                      </a:r>
                      <a:r>
                        <a:rPr lang="en-IN" sz="1800" kern="1200" dirty="0">
                          <a:solidFill>
                            <a:schemeClr val="dk1"/>
                          </a:solidFill>
                          <a:effectLst/>
                          <a:latin typeface="+mn-lt"/>
                          <a:ea typeface="+mn-ea"/>
                          <a:cs typeface="+mn-cs"/>
                        </a:rPr>
                        <a:t> Yew C. Chong(2022). </a:t>
                      </a:r>
                      <a:endParaRPr lang="en-IN" dirty="0"/>
                    </a:p>
                  </a:txBody>
                  <a:tcPr/>
                </a:tc>
                <a:tc>
                  <a:txBody>
                    <a:bodyPr/>
                    <a:lstStyle/>
                    <a:p>
                      <a:endParaRPr lang="en-IN" sz="1800" kern="1200" dirty="0">
                        <a:solidFill>
                          <a:schemeClr val="dk1"/>
                        </a:solidFill>
                        <a:effectLst/>
                        <a:latin typeface="+mn-lt"/>
                        <a:ea typeface="+mn-ea"/>
                        <a:cs typeface="+mn-cs"/>
                      </a:endParaRPr>
                    </a:p>
                    <a:p>
                      <a:r>
                        <a:rPr lang="en-IN" sz="1800" kern="1200" dirty="0">
                          <a:solidFill>
                            <a:schemeClr val="dk1"/>
                          </a:solidFill>
                          <a:effectLst/>
                          <a:latin typeface="+mn-lt"/>
                          <a:ea typeface="+mn-ea"/>
                          <a:cs typeface="+mn-cs"/>
                        </a:rPr>
                        <a:t>Customer Mobile Behavioural Segmentation and Analysis in Telecom Using Machine Learning(2022) . </a:t>
                      </a:r>
                      <a:endParaRPr lang="en-IN" dirty="0"/>
                    </a:p>
                  </a:txBody>
                  <a:tcPr/>
                </a:tc>
                <a:tc>
                  <a:txBody>
                    <a:bodyPr/>
                    <a:lstStyle/>
                    <a:p>
                      <a:endParaRPr lang="en-IN" sz="1800" kern="1200" dirty="0">
                        <a:solidFill>
                          <a:schemeClr val="dk1"/>
                        </a:solidFill>
                        <a:effectLst/>
                        <a:latin typeface="+mn-lt"/>
                        <a:ea typeface="+mn-ea"/>
                        <a:cs typeface="+mn-cs"/>
                      </a:endParaRPr>
                    </a:p>
                    <a:p>
                      <a:endParaRPr lang="en-IN" sz="1800" kern="1200" dirty="0">
                        <a:solidFill>
                          <a:schemeClr val="dk1"/>
                        </a:solidFill>
                        <a:effectLst/>
                        <a:latin typeface="+mn-lt"/>
                        <a:ea typeface="+mn-ea"/>
                        <a:cs typeface="+mn-cs"/>
                      </a:endParaRPr>
                    </a:p>
                    <a:p>
                      <a:r>
                        <a:rPr lang="en-IN" sz="1800" kern="1200" dirty="0">
                          <a:solidFill>
                            <a:schemeClr val="dk1"/>
                          </a:solidFill>
                          <a:effectLst/>
                          <a:latin typeface="+mn-lt"/>
                          <a:ea typeface="+mn-ea"/>
                          <a:cs typeface="+mn-cs"/>
                        </a:rPr>
                        <a:t>Applied Artificial Intelligence</a:t>
                      </a:r>
                      <a:endParaRPr lang="en-IN" dirty="0"/>
                    </a:p>
                  </a:txBody>
                  <a:tcPr/>
                </a:tc>
                <a:extLst>
                  <a:ext uri="{0D108BD9-81ED-4DB2-BD59-A6C34878D82A}">
                    <a16:rowId xmlns:a16="http://schemas.microsoft.com/office/drawing/2014/main" val="499564865"/>
                  </a:ext>
                </a:extLst>
              </a:tr>
              <a:tr h="1438502">
                <a:tc>
                  <a:txBody>
                    <a:bodyPr/>
                    <a:lstStyle/>
                    <a:p>
                      <a:r>
                        <a:rPr lang="en-IN" sz="1800" kern="1200" dirty="0">
                          <a:solidFill>
                            <a:schemeClr val="dk1"/>
                          </a:solidFill>
                          <a:effectLst/>
                          <a:latin typeface="+mn-lt"/>
                          <a:ea typeface="+mn-ea"/>
                          <a:cs typeface="+mn-cs"/>
                        </a:rPr>
                        <a:t>M. A. </a:t>
                      </a:r>
                      <a:r>
                        <a:rPr lang="en-IN" sz="1800" kern="1200" dirty="0" err="1">
                          <a:solidFill>
                            <a:schemeClr val="dk1"/>
                          </a:solidFill>
                          <a:effectLst/>
                          <a:latin typeface="+mn-lt"/>
                          <a:ea typeface="+mn-ea"/>
                          <a:cs typeface="+mn-cs"/>
                        </a:rPr>
                        <a:t>Syakar</a:t>
                      </a:r>
                      <a:r>
                        <a:rPr lang="en-IN" sz="1800" kern="1200" dirty="0">
                          <a:solidFill>
                            <a:schemeClr val="dk1"/>
                          </a:solidFill>
                          <a:effectLst/>
                          <a:latin typeface="+mn-lt"/>
                          <a:ea typeface="+mn-ea"/>
                          <a:cs typeface="+mn-cs"/>
                        </a:rPr>
                        <a:t> , B. K. </a:t>
                      </a:r>
                      <a:r>
                        <a:rPr lang="en-IN" sz="1800" kern="1200" dirty="0" err="1">
                          <a:solidFill>
                            <a:schemeClr val="dk1"/>
                          </a:solidFill>
                          <a:effectLst/>
                          <a:latin typeface="+mn-lt"/>
                          <a:ea typeface="+mn-ea"/>
                          <a:cs typeface="+mn-cs"/>
                        </a:rPr>
                        <a:t>Khotimah</a:t>
                      </a:r>
                      <a:r>
                        <a:rPr lang="en-IN" sz="1800" kern="1200" dirty="0">
                          <a:solidFill>
                            <a:schemeClr val="dk1"/>
                          </a:solidFill>
                          <a:effectLst/>
                          <a:latin typeface="+mn-lt"/>
                          <a:ea typeface="+mn-ea"/>
                          <a:cs typeface="+mn-cs"/>
                        </a:rPr>
                        <a:t> , EMS </a:t>
                      </a:r>
                      <a:r>
                        <a:rPr lang="en-IN" sz="1800" kern="1200" dirty="0" err="1">
                          <a:solidFill>
                            <a:schemeClr val="dk1"/>
                          </a:solidFill>
                          <a:effectLst/>
                          <a:latin typeface="+mn-lt"/>
                          <a:ea typeface="+mn-ea"/>
                          <a:cs typeface="+mn-cs"/>
                        </a:rPr>
                        <a:t>Rochman</a:t>
                      </a:r>
                      <a:r>
                        <a:rPr lang="en-IN" sz="1800" kern="1200" dirty="0">
                          <a:solidFill>
                            <a:schemeClr val="dk1"/>
                          </a:solidFill>
                          <a:effectLst/>
                          <a:latin typeface="+mn-lt"/>
                          <a:ea typeface="+mn-ea"/>
                          <a:cs typeface="+mn-cs"/>
                        </a:rPr>
                        <a:t> , B. D. </a:t>
                      </a:r>
                      <a:r>
                        <a:rPr lang="en-IN" sz="1800" kern="1200" dirty="0" err="1">
                          <a:solidFill>
                            <a:schemeClr val="dk1"/>
                          </a:solidFill>
                          <a:effectLst/>
                          <a:latin typeface="+mn-lt"/>
                          <a:ea typeface="+mn-ea"/>
                          <a:cs typeface="+mn-cs"/>
                        </a:rPr>
                        <a:t>Satoto</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latin typeface="+mn-lt"/>
                          <a:ea typeface="+mn-ea"/>
                          <a:cs typeface="+mn-cs"/>
                        </a:rPr>
                        <a:t> Integration K-Means  Clustering Method and Elbow Method for identification of the best customer profile cluster(2018).</a:t>
                      </a:r>
                      <a:endParaRPr lang="en-IN" dirty="0"/>
                    </a:p>
                  </a:txBody>
                  <a:tcPr/>
                </a:tc>
                <a:tc>
                  <a:txBody>
                    <a:bodyPr/>
                    <a:lstStyle/>
                    <a:p>
                      <a:r>
                        <a:rPr lang="en-IN" sz="1800" kern="1200" dirty="0">
                          <a:solidFill>
                            <a:schemeClr val="dk1"/>
                          </a:solidFill>
                          <a:effectLst/>
                          <a:latin typeface="+mn-lt"/>
                          <a:ea typeface="+mn-ea"/>
                          <a:cs typeface="+mn-cs"/>
                        </a:rPr>
                        <a:t>IOP Conference Series: Materials Science and Engineering </a:t>
                      </a:r>
                      <a:endParaRPr lang="en-IN" dirty="0"/>
                    </a:p>
                  </a:txBody>
                  <a:tcPr/>
                </a:tc>
                <a:extLst>
                  <a:ext uri="{0D108BD9-81ED-4DB2-BD59-A6C34878D82A}">
                    <a16:rowId xmlns:a16="http://schemas.microsoft.com/office/drawing/2014/main" val="1802196554"/>
                  </a:ext>
                </a:extLst>
              </a:tr>
              <a:tr h="1438502">
                <a:tc>
                  <a:txBody>
                    <a:bodyPr/>
                    <a:lstStyle/>
                    <a:p>
                      <a:r>
                        <a:rPr lang="en-IN" sz="1800" kern="1200" dirty="0" err="1">
                          <a:solidFill>
                            <a:schemeClr val="dk1"/>
                          </a:solidFill>
                          <a:effectLst/>
                          <a:latin typeface="+mn-lt"/>
                          <a:ea typeface="+mn-ea"/>
                          <a:cs typeface="+mn-cs"/>
                        </a:rPr>
                        <a:t>Mediana</a:t>
                      </a:r>
                      <a:r>
                        <a:rPr lang="en-IN" sz="1800" kern="1200" dirty="0">
                          <a:solidFill>
                            <a:schemeClr val="dk1"/>
                          </a:solidFill>
                          <a:effectLst/>
                          <a:latin typeface="+mn-lt"/>
                          <a:ea typeface="+mn-ea"/>
                          <a:cs typeface="+mn-cs"/>
                        </a:rPr>
                        <a:t> </a:t>
                      </a:r>
                      <a:r>
                        <a:rPr lang="en-IN" sz="1800" kern="1200" dirty="0" err="1">
                          <a:solidFill>
                            <a:schemeClr val="dk1"/>
                          </a:solidFill>
                          <a:effectLst/>
                          <a:latin typeface="+mn-lt"/>
                          <a:ea typeface="+mn-ea"/>
                          <a:cs typeface="+mn-cs"/>
                        </a:rPr>
                        <a:t>Aryuni</a:t>
                      </a:r>
                      <a:r>
                        <a:rPr lang="en-IN" sz="1800" kern="1200" dirty="0">
                          <a:solidFill>
                            <a:schemeClr val="dk1"/>
                          </a:solidFill>
                          <a:effectLst/>
                          <a:latin typeface="+mn-lt"/>
                          <a:ea typeface="+mn-ea"/>
                          <a:cs typeface="+mn-cs"/>
                        </a:rPr>
                        <a:t> , Evaristus </a:t>
                      </a:r>
                      <a:r>
                        <a:rPr lang="en-IN" sz="1800" kern="1200" dirty="0" err="1">
                          <a:solidFill>
                            <a:schemeClr val="dk1"/>
                          </a:solidFill>
                          <a:effectLst/>
                          <a:latin typeface="+mn-lt"/>
                          <a:ea typeface="+mn-ea"/>
                          <a:cs typeface="+mn-cs"/>
                        </a:rPr>
                        <a:t>Didik</a:t>
                      </a:r>
                      <a:r>
                        <a:rPr lang="en-IN" sz="1800" kern="1200" dirty="0">
                          <a:solidFill>
                            <a:schemeClr val="dk1"/>
                          </a:solidFill>
                          <a:effectLst/>
                          <a:latin typeface="+mn-lt"/>
                          <a:ea typeface="+mn-ea"/>
                          <a:cs typeface="+mn-cs"/>
                        </a:rPr>
                        <a:t> </a:t>
                      </a:r>
                      <a:r>
                        <a:rPr lang="en-IN" sz="1800" kern="1200" dirty="0" err="1">
                          <a:solidFill>
                            <a:schemeClr val="dk1"/>
                          </a:solidFill>
                          <a:effectLst/>
                          <a:latin typeface="+mn-lt"/>
                          <a:ea typeface="+mn-ea"/>
                          <a:cs typeface="+mn-cs"/>
                        </a:rPr>
                        <a:t>Madyatmadja</a:t>
                      </a:r>
                      <a:r>
                        <a:rPr lang="en-IN" sz="1800" kern="1200" dirty="0">
                          <a:solidFill>
                            <a:schemeClr val="dk1"/>
                          </a:solidFill>
                          <a:effectLst/>
                          <a:latin typeface="+mn-lt"/>
                          <a:ea typeface="+mn-ea"/>
                          <a:cs typeface="+mn-cs"/>
                        </a:rPr>
                        <a:t> , Eka Miranda</a:t>
                      </a:r>
                      <a:endParaRPr lang="en-IN" dirty="0"/>
                    </a:p>
                  </a:txBody>
                  <a:tcPr/>
                </a:tc>
                <a:tc>
                  <a:txBody>
                    <a:bodyPr/>
                    <a:lstStyle/>
                    <a:p>
                      <a:r>
                        <a:rPr lang="en-IN" sz="1800" kern="1200" dirty="0">
                          <a:solidFill>
                            <a:schemeClr val="dk1"/>
                          </a:solidFill>
                          <a:effectLst/>
                          <a:latin typeface="+mn-lt"/>
                          <a:ea typeface="+mn-ea"/>
                          <a:cs typeface="+mn-cs"/>
                        </a:rPr>
                        <a:t>Customer Segmentation in XYZ Bank using K-Means and K-</a:t>
                      </a:r>
                      <a:r>
                        <a:rPr lang="en-IN" sz="1800" kern="1200" dirty="0" err="1">
                          <a:solidFill>
                            <a:schemeClr val="dk1"/>
                          </a:solidFill>
                          <a:effectLst/>
                          <a:latin typeface="+mn-lt"/>
                          <a:ea typeface="+mn-ea"/>
                          <a:cs typeface="+mn-cs"/>
                        </a:rPr>
                        <a:t>Meiods</a:t>
                      </a:r>
                      <a:r>
                        <a:rPr lang="en-IN" sz="1800" kern="1200" dirty="0">
                          <a:solidFill>
                            <a:schemeClr val="dk1"/>
                          </a:solidFill>
                          <a:effectLst/>
                          <a:latin typeface="+mn-lt"/>
                          <a:ea typeface="+mn-ea"/>
                          <a:cs typeface="+mn-cs"/>
                        </a:rPr>
                        <a:t> Clustering(2018). </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latin typeface="+mn-lt"/>
                          <a:ea typeface="+mn-ea"/>
                          <a:cs typeface="+mn-cs"/>
                        </a:rPr>
                        <a:t>International   Conference on Information Management and Technology(ITCM Tech)                                                            </a:t>
                      </a:r>
                    </a:p>
                    <a:p>
                      <a:endParaRPr lang="en-IN" dirty="0"/>
                    </a:p>
                  </a:txBody>
                  <a:tcPr/>
                </a:tc>
                <a:extLst>
                  <a:ext uri="{0D108BD9-81ED-4DB2-BD59-A6C34878D82A}">
                    <a16:rowId xmlns:a16="http://schemas.microsoft.com/office/drawing/2014/main" val="1247532551"/>
                  </a:ext>
                </a:extLst>
              </a:tr>
            </a:tbl>
          </a:graphicData>
        </a:graphic>
      </p:graphicFrame>
    </p:spTree>
    <p:extLst>
      <p:ext uri="{BB962C8B-B14F-4D97-AF65-F5344CB8AC3E}">
        <p14:creationId xmlns:p14="http://schemas.microsoft.com/office/powerpoint/2010/main" val="1666813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1F54F-7B0D-6D30-3F4E-97D362375528}"/>
              </a:ext>
            </a:extLst>
          </p:cNvPr>
          <p:cNvSpPr>
            <a:spLocks noGrp="1"/>
          </p:cNvSpPr>
          <p:nvPr>
            <p:ph type="title"/>
          </p:nvPr>
        </p:nvSpPr>
        <p:spPr>
          <a:xfrm>
            <a:off x="1141413" y="216310"/>
            <a:ext cx="9905998" cy="983225"/>
          </a:xfrm>
        </p:spPr>
        <p:txBody>
          <a:bodyPr>
            <a:normAutofit/>
          </a:bodyPr>
          <a:lstStyle/>
          <a:p>
            <a:pPr algn="ctr"/>
            <a:r>
              <a:rPr lang="en-US" sz="4000" b="1" dirty="0"/>
              <a:t>DEFINITIONS</a:t>
            </a:r>
            <a:endParaRPr lang="en-IN" sz="4000" b="1" dirty="0"/>
          </a:p>
        </p:txBody>
      </p:sp>
      <p:sp>
        <p:nvSpPr>
          <p:cNvPr id="3" name="Content Placeholder 2">
            <a:extLst>
              <a:ext uri="{FF2B5EF4-FFF2-40B4-BE49-F238E27FC236}">
                <a16:creationId xmlns:a16="http://schemas.microsoft.com/office/drawing/2014/main" id="{879DFABC-6CCA-0A1B-B04E-9A8586ECE963}"/>
              </a:ext>
            </a:extLst>
          </p:cNvPr>
          <p:cNvSpPr>
            <a:spLocks noGrp="1"/>
          </p:cNvSpPr>
          <p:nvPr>
            <p:ph idx="1"/>
          </p:nvPr>
        </p:nvSpPr>
        <p:spPr>
          <a:xfrm>
            <a:off x="717756" y="983226"/>
            <a:ext cx="10329656" cy="5152103"/>
          </a:xfrm>
        </p:spPr>
        <p:txBody>
          <a:bodyPr>
            <a:normAutofit fontScale="70000" lnSpcReduction="20000"/>
          </a:bodyPr>
          <a:lstStyle/>
          <a:p>
            <a:pPr>
              <a:lnSpc>
                <a:spcPct val="107000"/>
              </a:lnSpc>
              <a:spcAft>
                <a:spcPts val="800"/>
              </a:spcAft>
              <a:buFont typeface="Wingdings" panose="05000000000000000000" pitchFamily="2" charset="2"/>
              <a:buChar char="§"/>
            </a:pPr>
            <a:r>
              <a:rPr lang="en-IN" sz="3400" b="1" kern="100" dirty="0">
                <a:effectLst/>
                <a:latin typeface="Calibri" panose="020F0502020204030204" pitchFamily="34" charset="0"/>
                <a:ea typeface="Calibri" panose="020F0502020204030204" pitchFamily="34" charset="0"/>
                <a:cs typeface="Times New Roman" panose="02020603050405020304" pitchFamily="18" charset="0"/>
              </a:rPr>
              <a:t>  Machine Learning</a:t>
            </a:r>
            <a:endParaRPr lang="en-IN" sz="3400" b="1" kern="1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26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2900" kern="100" dirty="0">
                <a:effectLst/>
                <a:latin typeface="Calibri" panose="020F0502020204030204" pitchFamily="34" charset="0"/>
                <a:ea typeface="Calibri" panose="020F0502020204030204" pitchFamily="34" charset="0"/>
                <a:cs typeface="Times New Roman" panose="02020603050405020304" pitchFamily="18" charset="0"/>
              </a:rPr>
              <a:t>Machine learning (ML) is a branch of artificial intelligence that allows computers to learn        from and make decisions based on data without being explicitly programmed. It uses algorithms to find patterns in data, enabling predictions or decisions without human intervention. There are 3 types of ML : Supervised,  </a:t>
            </a:r>
            <a:r>
              <a:rPr lang="en-IN" sz="2900" kern="100" dirty="0">
                <a:latin typeface="Calibri" panose="020F0502020204030204" pitchFamily="34" charset="0"/>
                <a:ea typeface="Calibri" panose="020F0502020204030204" pitchFamily="34" charset="0"/>
                <a:cs typeface="Times New Roman" panose="02020603050405020304" pitchFamily="18" charset="0"/>
              </a:rPr>
              <a:t>Unsupervised, Reinforcement Learning.</a:t>
            </a:r>
          </a:p>
          <a:p>
            <a:pPr>
              <a:lnSpc>
                <a:spcPct val="107000"/>
              </a:lnSpc>
              <a:spcAft>
                <a:spcPts val="800"/>
              </a:spcAft>
              <a:buFont typeface="Wingdings" panose="05000000000000000000" pitchFamily="2" charset="2"/>
              <a:buChar char="§"/>
            </a:pPr>
            <a:r>
              <a:rPr lang="en-IN" sz="3400" kern="100" dirty="0">
                <a:latin typeface="Calibri" panose="020F0502020204030204" pitchFamily="34" charset="0"/>
                <a:ea typeface="Calibri" panose="020F0502020204030204" pitchFamily="34" charset="0"/>
                <a:cs typeface="Times New Roman" panose="02020603050405020304" pitchFamily="18" charset="0"/>
              </a:rPr>
              <a:t>  </a:t>
            </a:r>
            <a:r>
              <a:rPr lang="en-IN" sz="3400" b="1" kern="100" dirty="0">
                <a:latin typeface="Calibri" panose="020F0502020204030204" pitchFamily="34" charset="0"/>
                <a:ea typeface="Calibri" panose="020F0502020204030204" pitchFamily="34" charset="0"/>
                <a:cs typeface="Times New Roman" panose="02020603050405020304" pitchFamily="18" charset="0"/>
              </a:rPr>
              <a:t>Clustering</a:t>
            </a:r>
          </a:p>
          <a:p>
            <a:pPr marL="0" indent="0">
              <a:lnSpc>
                <a:spcPct val="107000"/>
              </a:lnSpc>
              <a:spcAft>
                <a:spcPts val="800"/>
              </a:spcAft>
              <a:buNone/>
            </a:pPr>
            <a:r>
              <a:rPr lang="en-IN" sz="23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2900" kern="100" dirty="0">
                <a:latin typeface="Calibri" panose="020F0502020204030204" pitchFamily="34" charset="0"/>
                <a:ea typeface="Calibri" panose="020F0502020204030204" pitchFamily="34" charset="0"/>
                <a:cs typeface="Times New Roman" panose="02020603050405020304" pitchFamily="18" charset="0"/>
              </a:rPr>
              <a:t>C</a:t>
            </a:r>
            <a:r>
              <a:rPr lang="en-IN" sz="2900" dirty="0">
                <a:effectLst/>
                <a:latin typeface="Calibri" panose="020F0502020204030204" pitchFamily="34" charset="0"/>
                <a:ea typeface="Calibri" panose="020F0502020204030204" pitchFamily="34" charset="0"/>
                <a:cs typeface="Times New Roman" panose="02020603050405020304" pitchFamily="18" charset="0"/>
              </a:rPr>
              <a:t>lustering is a machine learning technique used to group similar data points into clusters. It is an unsupervised learning method, meaning that it works on </a:t>
            </a:r>
            <a:r>
              <a:rPr lang="en-IN" sz="2900" dirty="0" err="1">
                <a:effectLst/>
                <a:latin typeface="Calibri" panose="020F0502020204030204" pitchFamily="34" charset="0"/>
                <a:ea typeface="Calibri" panose="020F0502020204030204" pitchFamily="34" charset="0"/>
                <a:cs typeface="Times New Roman" panose="02020603050405020304" pitchFamily="18" charset="0"/>
              </a:rPr>
              <a:t>unlabeled</a:t>
            </a:r>
            <a:r>
              <a:rPr lang="en-IN" sz="2900" dirty="0">
                <a:effectLst/>
                <a:latin typeface="Calibri" panose="020F0502020204030204" pitchFamily="34" charset="0"/>
                <a:ea typeface="Calibri" panose="020F0502020204030204" pitchFamily="34" charset="0"/>
                <a:cs typeface="Times New Roman" panose="02020603050405020304" pitchFamily="18" charset="0"/>
              </a:rPr>
              <a:t> data. </a:t>
            </a:r>
          </a:p>
          <a:p>
            <a:pPr>
              <a:lnSpc>
                <a:spcPct val="107000"/>
              </a:lnSpc>
              <a:spcAft>
                <a:spcPts val="800"/>
              </a:spcAft>
              <a:buFont typeface="Wingdings" panose="05000000000000000000" pitchFamily="2" charset="2"/>
              <a:buChar char="§"/>
            </a:pPr>
            <a:r>
              <a:rPr lang="en-IN" sz="3400" b="1" kern="100" dirty="0">
                <a:latin typeface="Calibri" panose="020F0502020204030204" pitchFamily="34" charset="0"/>
                <a:ea typeface="Calibri" panose="020F0502020204030204" pitchFamily="34" charset="0"/>
                <a:cs typeface="Times New Roman" panose="02020603050405020304" pitchFamily="18" charset="0"/>
              </a:rPr>
              <a:t>Elbow Method</a:t>
            </a:r>
          </a:p>
          <a:p>
            <a:pPr marL="0" indent="0">
              <a:lnSpc>
                <a:spcPct val="107000"/>
              </a:lnSpc>
              <a:spcAft>
                <a:spcPts val="800"/>
              </a:spcAft>
              <a:buNone/>
            </a:pPr>
            <a:r>
              <a:rPr lang="en-IN" sz="26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2900" dirty="0">
                <a:effectLst/>
                <a:latin typeface="Calibri" panose="020F0502020204030204" pitchFamily="34" charset="0"/>
                <a:ea typeface="Calibri" panose="020F0502020204030204" pitchFamily="34" charset="0"/>
                <a:cs typeface="Times New Roman" panose="02020603050405020304" pitchFamily="18" charset="0"/>
              </a:rPr>
              <a:t>The Elbow Method is used to determine the optimal number of clusters (K) for K-means clustering. By plotting WCSS values for different values of K, the "elbow point" is identified, where adding more clusters does not significantly decrease WCSS. This point suggests the best number of clusters for the data. </a:t>
            </a:r>
            <a:endParaRPr lang="en-IN" sz="29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831860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EB9DC7-6431-0989-AE83-A8F43C0F8CE5}"/>
              </a:ext>
            </a:extLst>
          </p:cNvPr>
          <p:cNvSpPr>
            <a:spLocks noGrp="1"/>
          </p:cNvSpPr>
          <p:nvPr>
            <p:ph idx="1"/>
          </p:nvPr>
        </p:nvSpPr>
        <p:spPr>
          <a:xfrm>
            <a:off x="176982" y="344129"/>
            <a:ext cx="10697495" cy="5447072"/>
          </a:xfrm>
        </p:spPr>
        <p:txBody>
          <a:bodyPr>
            <a:normAutofit/>
          </a:bodyPr>
          <a:lstStyle/>
          <a:p>
            <a:pPr>
              <a:buFont typeface="Wingdings" panose="05000000000000000000" pitchFamily="2" charset="2"/>
              <a:buChar char="§"/>
            </a:pPr>
            <a:r>
              <a:rPr lang="en-US" dirty="0"/>
              <a:t> k–Means algorithm </a:t>
            </a:r>
          </a:p>
          <a:p>
            <a:pPr marL="0" indent="0">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K Means algorithm in an iterative algorithm that tries to partition the dataset into K predefined distinct non overlapping sub groups which are called as cluster.</a:t>
            </a:r>
            <a:r>
              <a:rPr lang="en-IN" sz="1800" kern="100" dirty="0">
                <a:latin typeface="Calibri" panose="020F0502020204030204" pitchFamily="34" charset="0"/>
                <a:ea typeface="Calibri" panose="020F0502020204030204" pitchFamily="34" charset="0"/>
                <a:cs typeface="Times New Roman" panose="02020603050405020304" pitchFamily="18" charset="0"/>
              </a:rPr>
              <a:t> </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Here K is the total no of clusters. Every point belongs to only one cluster. Clusters cannot overlap.</a:t>
            </a:r>
          </a:p>
          <a:p>
            <a:pPr marL="0" indent="0">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goal is to minimize the </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Within-Cluster Sum of Squares (WCSS)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which is the sum of squared distances between each data point and its centroid. The algorithm continues until it converges to the most compact and distinct clusters.</a:t>
            </a:r>
          </a:p>
          <a:p>
            <a:pPr marL="0" indent="0">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In this project, the K-means algorithm was used </a:t>
            </a:r>
          </a:p>
          <a:p>
            <a:pPr marL="0" indent="0">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to segment customers into distinct groups based </a:t>
            </a:r>
          </a:p>
          <a:p>
            <a:pPr marL="0" indent="0">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on their attributes, such as spending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behavior</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and preferences.</a:t>
            </a:r>
          </a:p>
          <a:p>
            <a:pPr marL="0" indent="0">
              <a:lnSpc>
                <a:spcPct val="107000"/>
              </a:lnSpc>
              <a:spcAft>
                <a:spcPts val="800"/>
              </a:spcAft>
              <a:buNone/>
            </a:pPr>
            <a:endParaRPr lang="en-IN" dirty="0"/>
          </a:p>
        </p:txBody>
      </p:sp>
      <p:pic>
        <p:nvPicPr>
          <p:cNvPr id="4" name="Picture 3">
            <a:extLst>
              <a:ext uri="{FF2B5EF4-FFF2-40B4-BE49-F238E27FC236}">
                <a16:creationId xmlns:a16="http://schemas.microsoft.com/office/drawing/2014/main" id="{72CC5B97-A6C3-FFFD-8F52-0F54F99CD9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9521" y="2998838"/>
            <a:ext cx="5181600" cy="3151239"/>
          </a:xfrm>
          <a:prstGeom prst="rect">
            <a:avLst/>
          </a:prstGeom>
        </p:spPr>
      </p:pic>
    </p:spTree>
    <p:extLst>
      <p:ext uri="{BB962C8B-B14F-4D97-AF65-F5344CB8AC3E}">
        <p14:creationId xmlns:p14="http://schemas.microsoft.com/office/powerpoint/2010/main" val="1208634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418F8EA-F3FE-BA7B-0BCE-5C1A7DB76F13}"/>
                  </a:ext>
                </a:extLst>
              </p:cNvPr>
              <p:cNvSpPr>
                <a:spLocks noGrp="1"/>
              </p:cNvSpPr>
              <p:nvPr>
                <p:ph idx="1"/>
              </p:nvPr>
            </p:nvSpPr>
            <p:spPr>
              <a:xfrm>
                <a:off x="1141412" y="648930"/>
                <a:ext cx="9905999" cy="5142272"/>
              </a:xfrm>
            </p:spPr>
            <p:txBody>
              <a:bodyPr>
                <a:normAutofit fontScale="92500" lnSpcReduction="20000"/>
              </a:bodyPr>
              <a:lstStyle/>
              <a:p>
                <a:pPr>
                  <a:buFont typeface="Wingdings" panose="05000000000000000000" pitchFamily="2" charset="2"/>
                  <a:buChar char="§"/>
                </a:pPr>
                <a:r>
                  <a:rPr lang="en-IN" sz="2800" b="1" dirty="0">
                    <a:effectLst/>
                    <a:latin typeface="Calibri" panose="020F0502020204030204" pitchFamily="34" charset="0"/>
                    <a:ea typeface="Calibri" panose="020F0502020204030204" pitchFamily="34" charset="0"/>
                    <a:cs typeface="Times New Roman" panose="02020603050405020304" pitchFamily="18" charset="0"/>
                  </a:rPr>
                  <a:t> WCSS (Within-Cluster Sum of Squares)</a:t>
                </a:r>
              </a:p>
              <a:p>
                <a:pPr marL="0" indent="0">
                  <a:buNone/>
                </a:pPr>
                <a:r>
                  <a:rPr lang="en-IN" sz="2000" b="1" dirty="0">
                    <a:latin typeface="Calibri" panose="020F0502020204030204" pitchFamily="34" charset="0"/>
                    <a:ea typeface="Calibri" panose="020F0502020204030204" pitchFamily="34" charset="0"/>
                    <a:cs typeface="Times New Roman" panose="02020603050405020304" pitchFamily="18" charset="0"/>
                  </a:rPr>
                  <a:t> </a:t>
                </a:r>
                <a:r>
                  <a:rPr lang="en-IN" sz="2000" dirty="0">
                    <a:effectLst/>
                    <a:latin typeface="Calibri" panose="020F0502020204030204" pitchFamily="34" charset="0"/>
                    <a:ea typeface="Calibri" panose="020F0502020204030204" pitchFamily="34" charset="0"/>
                    <a:cs typeface="Times New Roman" panose="02020603050405020304" pitchFamily="18" charset="0"/>
                  </a:rPr>
                  <a:t>WCSS is a measure used in clustering to calculate the sum of the squared distances between each data point and its corresponding centroid within a cluster. It is an important metric to evaluate the compactness of clusters. Lower WCSS values indicate that the clusters are more tightly packed. </a:t>
                </a:r>
                <a:r>
                  <a:rPr lang="en-US" sz="2000" dirty="0"/>
                  <a:t>Mathematically, WCSS is expressed as:</a:t>
                </a:r>
              </a:p>
              <a:p>
                <a:pPr marL="0" indent="0">
                  <a:buNone/>
                </a:pPr>
                <a:r>
                  <a:rPr lang="en-US" sz="2000" dirty="0"/>
                  <a:t>                                 </a:t>
                </a:r>
                <a:r>
                  <a:rPr lang="en-US" dirty="0"/>
                  <a:t>WCSS = </a:t>
                </a:r>
                <a14:m>
                  <m:oMath xmlns:m="http://schemas.openxmlformats.org/officeDocument/2006/math">
                    <m:nary>
                      <m:naryPr>
                        <m:chr m:val="∑"/>
                        <m:limLoc m:val="undOvr"/>
                        <m:grow m:val="on"/>
                        <m:ctrlPr>
                          <a:rPr lang="en-US" i="1" smtClean="0">
                            <a:latin typeface="Cambria Math" panose="02040503050406030204" pitchFamily="18" charset="0"/>
                          </a:rPr>
                        </m:ctrlPr>
                      </m:naryPr>
                      <m:sub>
                        <m:r>
                          <a:rPr lang="en-US" i="1" smtClean="0">
                            <a:latin typeface="Cambria Math" panose="02040503050406030204" pitchFamily="18" charset="0"/>
                          </a:rPr>
                          <m:t>𝑖</m:t>
                        </m:r>
                        <m:r>
                          <a:rPr lang="en-US" i="1" smtClean="0">
                            <a:latin typeface="Cambria Math" panose="02040503050406030204" pitchFamily="18" charset="0"/>
                          </a:rPr>
                          <m:t>=1</m:t>
                        </m:r>
                      </m:sub>
                      <m:sup>
                        <m:r>
                          <a:rPr lang="en-US" i="1" smtClean="0">
                            <a:latin typeface="Cambria Math" panose="02040503050406030204" pitchFamily="18" charset="0"/>
                          </a:rPr>
                          <m:t>𝑘</m:t>
                        </m:r>
                      </m:sup>
                      <m:e>
                        <m:nary>
                          <m:naryPr>
                            <m:chr m:val="∑"/>
                            <m:limLoc m:val="undOvr"/>
                            <m:grow m:val="on"/>
                            <m:supHide m:val="on"/>
                            <m:ctrlPr>
                              <a:rPr lang="en-US" i="1" smtClean="0">
                                <a:latin typeface="Cambria Math" panose="02040503050406030204" pitchFamily="18" charset="0"/>
                              </a:rPr>
                            </m:ctrlPr>
                          </m:naryPr>
                          <m:sub>
                            <m:r>
                              <m:rPr>
                                <m:brk/>
                                <m:aln/>
                              </m:rPr>
                              <a:rPr lang="en-US" b="0" i="1" smtClean="0">
                                <a:latin typeface="Cambria Math" panose="02040503050406030204" pitchFamily="18" charset="0"/>
                              </a:rPr>
                              <m:t>𝑥</m:t>
                            </m:r>
                            <m:r>
                              <a:rPr lang="en-US" i="1" smtClean="0">
                                <a:latin typeface="Cambria Math" panose="02040503050406030204" pitchFamily="18" charset="0"/>
                              </a:rPr>
                              <m:t>∈</m:t>
                            </m:r>
                            <m:sSub>
                              <m:sSubPr>
                                <m:ctrlPr>
                                  <a:rPr lang="en-US" i="1" smtClean="0">
                                    <a:solidFill>
                                      <a:srgbClr val="836967"/>
                                    </a:solidFill>
                                    <a:latin typeface="Cambria Math" panose="02040503050406030204" pitchFamily="18" charset="0"/>
                                  </a:rPr>
                                </m:ctrlPr>
                              </m:sSubPr>
                              <m:e>
                                <m:r>
                                  <a:rPr lang="en-US" i="1" smtClean="0">
                                    <a:latin typeface="Cambria Math" panose="02040503050406030204" pitchFamily="18" charset="0"/>
                                  </a:rPr>
                                  <m:t>𝐶</m:t>
                                </m:r>
                              </m:e>
                              <m:sub>
                                <m:r>
                                  <a:rPr lang="en-US" i="1" smtClean="0">
                                    <a:latin typeface="Cambria Math" panose="02040503050406030204" pitchFamily="18" charset="0"/>
                                  </a:rPr>
                                  <m:t>𝑖</m:t>
                                </m:r>
                              </m:sub>
                            </m:sSub>
                          </m:sub>
                          <m:sup/>
                          <m:e>
                            <m:sSup>
                              <m:sSupPr>
                                <m:ctrlPr>
                                  <a:rPr lang="en-US" i="1" smtClean="0">
                                    <a:solidFill>
                                      <a:srgbClr val="836967"/>
                                    </a:solidFill>
                                    <a:latin typeface="Cambria Math" panose="02040503050406030204" pitchFamily="18" charset="0"/>
                                  </a:rPr>
                                </m:ctrlPr>
                              </m:sSupPr>
                              <m:e>
                                <m:d>
                                  <m:dPr>
                                    <m:begChr m:val="‖"/>
                                    <m:endChr m:val="‖"/>
                                    <m:ctrlPr>
                                      <a:rPr lang="en-US" i="1" smtClean="0">
                                        <a:solidFill>
                                          <a:srgbClr val="836967"/>
                                        </a:solidFill>
                                        <a:latin typeface="Cambria Math" panose="02040503050406030204" pitchFamily="18" charset="0"/>
                                      </a:rPr>
                                    </m:ctrlPr>
                                  </m:dPr>
                                  <m:e>
                                    <m:r>
                                      <a:rPr lang="en-US"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e>
                                </m:d>
                              </m:e>
                              <m:sup>
                                <m:r>
                                  <a:rPr lang="en-US" i="1" smtClean="0">
                                    <a:latin typeface="Cambria Math" panose="02040503050406030204" pitchFamily="18" charset="0"/>
                                  </a:rPr>
                                  <m:t>2</m:t>
                                </m:r>
                              </m:sup>
                            </m:sSup>
                          </m:e>
                        </m:nary>
                      </m:e>
                    </m:nary>
                  </m:oMath>
                </a14:m>
                <a:endParaRPr lang="en-US" dirty="0"/>
              </a:p>
              <a:p>
                <a:pPr>
                  <a:lnSpc>
                    <a:spcPct val="107000"/>
                  </a:lnSpc>
                  <a:spcAft>
                    <a:spcPts val="800"/>
                  </a:spcAft>
                </a:pPr>
                <a:r>
                  <a:rPr lang="en-IN" sz="2200" kern="100" dirty="0">
                    <a:effectLst/>
                    <a:latin typeface="Calibri" panose="020F0502020204030204" pitchFamily="34" charset="0"/>
                    <a:ea typeface="Times New Roman" panose="02020603050405020304" pitchFamily="18" charset="0"/>
                    <a:cs typeface="Times New Roman" panose="02020603050405020304" pitchFamily="18" charset="0"/>
                  </a:rPr>
                  <a:t>k  is number of clusters.</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 xmlns:m="http://schemas.openxmlformats.org/officeDocument/2006/math">
                    <m:sSub>
                      <m:sSubPr>
                        <m:ctrlPr>
                          <a:rPr lang="en-IN" sz="22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IN" sz="2200" i="1" kern="100">
                            <a:effectLst/>
                            <a:latin typeface="Cambria Math" panose="02040503050406030204" pitchFamily="18" charset="0"/>
                            <a:ea typeface="Calibri" panose="020F0502020204030204" pitchFamily="34" charset="0"/>
                            <a:cs typeface="Times New Roman" panose="02020603050405020304" pitchFamily="18" charset="0"/>
                          </a:rPr>
                          <m:t>𝐶</m:t>
                        </m:r>
                      </m:e>
                      <m:sub>
                        <m:r>
                          <a:rPr lang="en-IN" sz="2200" i="1" kern="100">
                            <a:effectLst/>
                            <a:latin typeface="Cambria Math" panose="02040503050406030204" pitchFamily="18" charset="0"/>
                            <a:ea typeface="Calibri" panose="020F0502020204030204" pitchFamily="34" charset="0"/>
                            <a:cs typeface="Times New Roman" panose="02020603050405020304" pitchFamily="18" charset="0"/>
                          </a:rPr>
                          <m:t>𝑖</m:t>
                        </m:r>
                      </m:sub>
                    </m:sSub>
                  </m:oMath>
                </a14:m>
                <a:r>
                  <a:rPr lang="en-IN" sz="2200" kern="100" dirty="0">
                    <a:effectLst/>
                    <a:latin typeface="Calibri" panose="020F0502020204030204" pitchFamily="34" charset="0"/>
                    <a:ea typeface="Times New Roman" panose="02020603050405020304" pitchFamily="18" charset="0"/>
                    <a:cs typeface="Times New Roman" panose="02020603050405020304" pitchFamily="18" charset="0"/>
                  </a:rPr>
                  <a:t> is the </a:t>
                </a:r>
                <a14:m>
                  <m:oMath xmlns:m="http://schemas.openxmlformats.org/officeDocument/2006/math">
                    <m:sSup>
                      <m:sSupPr>
                        <m:ctrlPr>
                          <a:rPr lang="en-IN" sz="22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IN" sz="2200" i="1" kern="100">
                            <a:effectLst/>
                            <a:latin typeface="Cambria Math" panose="02040503050406030204" pitchFamily="18" charset="0"/>
                            <a:ea typeface="Times New Roman" panose="02020603050405020304" pitchFamily="18" charset="0"/>
                            <a:cs typeface="Times New Roman" panose="02020603050405020304" pitchFamily="18" charset="0"/>
                          </a:rPr>
                          <m:t>𝑖</m:t>
                        </m:r>
                      </m:e>
                      <m:sup>
                        <m:r>
                          <a:rPr lang="en-IN" sz="2200" i="1" kern="100">
                            <a:effectLst/>
                            <a:latin typeface="Cambria Math" panose="02040503050406030204" pitchFamily="18" charset="0"/>
                            <a:ea typeface="Times New Roman" panose="02020603050405020304" pitchFamily="18" charset="0"/>
                            <a:cs typeface="Times New Roman" panose="02020603050405020304" pitchFamily="18" charset="0"/>
                          </a:rPr>
                          <m:t>𝑡h</m:t>
                        </m:r>
                      </m:sup>
                    </m:sSup>
                  </m:oMath>
                </a14:m>
                <a:r>
                  <a:rPr lang="en-IN" sz="2200" kern="100" dirty="0">
                    <a:effectLst/>
                    <a:latin typeface="Calibri" panose="020F0502020204030204" pitchFamily="34" charset="0"/>
                    <a:ea typeface="Times New Roman" panose="02020603050405020304" pitchFamily="18" charset="0"/>
                    <a:cs typeface="Times New Roman" panose="02020603050405020304" pitchFamily="18" charset="0"/>
                  </a:rPr>
                  <a:t> cluster                                                                   </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2200" kern="100" dirty="0">
                    <a:effectLst/>
                    <a:latin typeface="Calibri" panose="020F0502020204030204" pitchFamily="34" charset="0"/>
                    <a:ea typeface="Times New Roman" panose="02020603050405020304" pitchFamily="18" charset="0"/>
                    <a:cs typeface="Times New Roman" panose="02020603050405020304" pitchFamily="18" charset="0"/>
                  </a:rPr>
                  <a:t>x  denotes the data points in cluster </a:t>
                </a:r>
                <a14:m>
                  <m:oMath xmlns:m="http://schemas.openxmlformats.org/officeDocument/2006/math">
                    <m:sSub>
                      <m:sSubPr>
                        <m:ctrlPr>
                          <a:rPr lang="en-IN" sz="22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IN" sz="2200" i="1" kern="100">
                            <a:effectLst/>
                            <a:latin typeface="Cambria Math" panose="02040503050406030204" pitchFamily="18" charset="0"/>
                            <a:ea typeface="Calibri" panose="020F0502020204030204" pitchFamily="34" charset="0"/>
                            <a:cs typeface="Times New Roman" panose="02020603050405020304" pitchFamily="18" charset="0"/>
                          </a:rPr>
                          <m:t>𝐶</m:t>
                        </m:r>
                      </m:e>
                      <m:sub>
                        <m:r>
                          <a:rPr lang="en-IN" sz="2200" i="1" kern="100">
                            <a:effectLst/>
                            <a:latin typeface="Cambria Math" panose="02040503050406030204" pitchFamily="18" charset="0"/>
                            <a:ea typeface="Calibri" panose="020F0502020204030204" pitchFamily="34" charset="0"/>
                            <a:cs typeface="Times New Roman" panose="02020603050405020304" pitchFamily="18" charset="0"/>
                          </a:rPr>
                          <m:t>𝑖</m:t>
                        </m:r>
                      </m:sub>
                    </m:sSub>
                  </m:oMath>
                </a14:m>
                <a:r>
                  <a:rPr lang="en-IN" sz="2200" kern="1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 xmlns:m="http://schemas.openxmlformats.org/officeDocument/2006/math">
                    <m:sSub>
                      <m:sSubPr>
                        <m:ctrlPr>
                          <a:rPr lang="en-IN" sz="22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IN" sz="2200" i="1" kern="100">
                            <a:effectLst/>
                            <a:latin typeface="Cambria Math" panose="02040503050406030204" pitchFamily="18" charset="0"/>
                            <a:ea typeface="Calibri" panose="020F0502020204030204" pitchFamily="34" charset="0"/>
                            <a:cs typeface="Times New Roman" panose="02020603050405020304" pitchFamily="18" charset="0"/>
                          </a:rPr>
                          <m:t>𝜇</m:t>
                        </m:r>
                      </m:e>
                      <m:sub>
                        <m:r>
                          <a:rPr lang="en-IN" sz="2200" i="1" kern="100">
                            <a:effectLst/>
                            <a:latin typeface="Cambria Math" panose="02040503050406030204" pitchFamily="18" charset="0"/>
                            <a:ea typeface="Calibri" panose="020F0502020204030204" pitchFamily="34" charset="0"/>
                            <a:cs typeface="Times New Roman" panose="02020603050405020304" pitchFamily="18" charset="0"/>
                          </a:rPr>
                          <m:t>𝑖</m:t>
                        </m:r>
                        <m:r>
                          <a:rPr lang="en-IN" sz="2200" i="1" kern="100">
                            <a:effectLst/>
                            <a:latin typeface="Cambria Math" panose="02040503050406030204" pitchFamily="18" charset="0"/>
                            <a:ea typeface="Calibri" panose="020F0502020204030204" pitchFamily="34" charset="0"/>
                            <a:cs typeface="Times New Roman" panose="02020603050405020304" pitchFamily="18" charset="0"/>
                          </a:rPr>
                          <m:t> </m:t>
                        </m:r>
                      </m:sub>
                    </m:sSub>
                  </m:oMath>
                </a14:m>
                <a:r>
                  <a:rPr lang="en-IN" sz="2200" kern="100" dirty="0">
                    <a:effectLst/>
                    <a:latin typeface="Calibri" panose="020F0502020204030204" pitchFamily="34" charset="0"/>
                    <a:ea typeface="Times New Roman" panose="02020603050405020304" pitchFamily="18" charset="0"/>
                    <a:cs typeface="Times New Roman" panose="02020603050405020304" pitchFamily="18" charset="0"/>
                  </a:rPr>
                  <a:t>is the centroid of cluster </a:t>
                </a:r>
                <a14:m>
                  <m:oMath xmlns:m="http://schemas.openxmlformats.org/officeDocument/2006/math">
                    <m:sSub>
                      <m:sSubPr>
                        <m:ctrlPr>
                          <a:rPr lang="en-IN" sz="22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IN" sz="2200" i="1" kern="100">
                            <a:effectLst/>
                            <a:latin typeface="Cambria Math" panose="02040503050406030204" pitchFamily="18" charset="0"/>
                            <a:ea typeface="Calibri" panose="020F0502020204030204" pitchFamily="34" charset="0"/>
                            <a:cs typeface="Times New Roman" panose="02020603050405020304" pitchFamily="18" charset="0"/>
                          </a:rPr>
                          <m:t>𝐶</m:t>
                        </m:r>
                      </m:e>
                      <m:sub>
                        <m:r>
                          <a:rPr lang="en-IN" sz="2200" i="1" kern="100">
                            <a:effectLst/>
                            <a:latin typeface="Cambria Math" panose="02040503050406030204" pitchFamily="18" charset="0"/>
                            <a:ea typeface="Calibri" panose="020F0502020204030204" pitchFamily="34" charset="0"/>
                            <a:cs typeface="Times New Roman" panose="02020603050405020304" pitchFamily="18" charset="0"/>
                          </a:rPr>
                          <m:t>𝑖</m:t>
                        </m:r>
                      </m:sub>
                    </m:sSub>
                  </m:oMath>
                </a14:m>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 xmlns:m="http://schemas.openxmlformats.org/officeDocument/2006/math">
                    <m:sSup>
                      <m:sSupPr>
                        <m:ctrlPr>
                          <a:rPr lang="en-IN" sz="2200" i="1" kern="100">
                            <a:effectLst/>
                            <a:latin typeface="Cambria Math" panose="02040503050406030204" pitchFamily="18" charset="0"/>
                            <a:ea typeface="Calibri" panose="020F0502020204030204" pitchFamily="34" charset="0"/>
                            <a:cs typeface="Times New Roman" panose="02020603050405020304" pitchFamily="18" charset="0"/>
                          </a:rPr>
                        </m:ctrlPr>
                      </m:sSupPr>
                      <m:e>
                        <m:r>
                          <a:rPr lang="en-IN" sz="2200" i="1" kern="100">
                            <a:effectLst/>
                            <a:latin typeface="Cambria Math" panose="02040503050406030204" pitchFamily="18" charset="0"/>
                            <a:ea typeface="Calibri" panose="020F0502020204030204" pitchFamily="34" charset="0"/>
                            <a:cs typeface="Times New Roman" panose="02020603050405020304" pitchFamily="18" charset="0"/>
                          </a:rPr>
                          <m:t> </m:t>
                        </m:r>
                        <m:r>
                          <a:rPr lang="en-IN" sz="2200" i="1" kern="100">
                            <a:effectLst/>
                            <a:latin typeface="Cambria Math" panose="02040503050406030204" pitchFamily="18" charset="0"/>
                            <a:ea typeface="Calibri" panose="020F0502020204030204" pitchFamily="34" charset="0"/>
                            <a:cs typeface="Times New Roman" panose="02020603050405020304" pitchFamily="18" charset="0"/>
                          </a:rPr>
                          <m:t>𝘐𝘐</m:t>
                        </m:r>
                        <m:r>
                          <a:rPr lang="en-IN" sz="2200" i="1" kern="100">
                            <a:effectLst/>
                            <a:latin typeface="Cambria Math" panose="02040503050406030204" pitchFamily="18" charset="0"/>
                            <a:ea typeface="Calibri" panose="020F0502020204030204" pitchFamily="34" charset="0"/>
                            <a:cs typeface="Times New Roman" panose="02020603050405020304" pitchFamily="18" charset="0"/>
                          </a:rPr>
                          <m:t>𝑥</m:t>
                        </m:r>
                        <m:r>
                          <a:rPr lang="en-IN" sz="2200" i="1" kern="100">
                            <a:effectLst/>
                            <a:latin typeface="Cambria Math" panose="02040503050406030204" pitchFamily="18" charset="0"/>
                            <a:ea typeface="Calibri" panose="020F0502020204030204" pitchFamily="34" charset="0"/>
                            <a:cs typeface="Times New Roman" panose="02020603050405020304" pitchFamily="18" charset="0"/>
                          </a:rPr>
                          <m:t> − </m:t>
                        </m:r>
                        <m:r>
                          <a:rPr lang="en-IN" sz="2200" i="1" kern="100">
                            <a:effectLst/>
                            <a:latin typeface="Cambria Math" panose="02040503050406030204" pitchFamily="18" charset="0"/>
                            <a:ea typeface="Calibri" panose="020F0502020204030204" pitchFamily="34" charset="0"/>
                            <a:cs typeface="Times New Roman" panose="02020603050405020304" pitchFamily="18" charset="0"/>
                          </a:rPr>
                          <m:t>𝜇</m:t>
                        </m:r>
                        <m:r>
                          <a:rPr lang="en-IN" sz="2200" i="1" kern="100">
                            <a:effectLst/>
                            <a:latin typeface="Cambria Math" panose="02040503050406030204" pitchFamily="18" charset="0"/>
                            <a:ea typeface="Calibri" panose="020F0502020204030204" pitchFamily="34" charset="0"/>
                            <a:cs typeface="Times New Roman" panose="02020603050405020304" pitchFamily="18" charset="0"/>
                          </a:rPr>
                          <m:t>𝘐𝘐</m:t>
                        </m:r>
                      </m:e>
                      <m:sup>
                        <m:r>
                          <a:rPr lang="en-IN" sz="2200" i="1" kern="100">
                            <a:effectLst/>
                            <a:latin typeface="Cambria Math" panose="02040503050406030204" pitchFamily="18" charset="0"/>
                            <a:ea typeface="Calibri" panose="020F0502020204030204" pitchFamily="34" charset="0"/>
                            <a:cs typeface="Times New Roman" panose="02020603050405020304" pitchFamily="18" charset="0"/>
                          </a:rPr>
                          <m:t>2</m:t>
                        </m:r>
                      </m:sup>
                    </m:sSup>
                  </m:oMath>
                </a14:m>
                <a:r>
                  <a:rPr lang="en-IN" sz="2200" kern="100" dirty="0">
                    <a:effectLst/>
                    <a:latin typeface="Calibri" panose="020F0502020204030204" pitchFamily="34" charset="0"/>
                    <a:ea typeface="Times New Roman" panose="02020603050405020304" pitchFamily="18" charset="0"/>
                    <a:cs typeface="Times New Roman" panose="02020603050405020304" pitchFamily="18" charset="0"/>
                  </a:rPr>
                  <a:t> is the squared Euclidean distance between x and </a:t>
                </a:r>
                <a14:m>
                  <m:oMath xmlns:m="http://schemas.openxmlformats.org/officeDocument/2006/math">
                    <m:sSub>
                      <m:sSubPr>
                        <m:ctrlPr>
                          <a:rPr lang="en-IN" sz="22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IN" sz="2200" i="1" kern="100">
                            <a:effectLst/>
                            <a:latin typeface="Cambria Math" panose="02040503050406030204" pitchFamily="18" charset="0"/>
                            <a:ea typeface="Calibri" panose="020F0502020204030204" pitchFamily="34" charset="0"/>
                            <a:cs typeface="Times New Roman" panose="02020603050405020304" pitchFamily="18" charset="0"/>
                          </a:rPr>
                          <m:t>𝜇</m:t>
                        </m:r>
                      </m:e>
                      <m:sub>
                        <m:r>
                          <a:rPr lang="en-IN" sz="2200" i="1" kern="100">
                            <a:effectLst/>
                            <a:latin typeface="Cambria Math" panose="02040503050406030204" pitchFamily="18" charset="0"/>
                            <a:ea typeface="Calibri" panose="020F0502020204030204" pitchFamily="34" charset="0"/>
                            <a:cs typeface="Times New Roman" panose="02020603050405020304" pitchFamily="18" charset="0"/>
                          </a:rPr>
                          <m:t>𝑖</m:t>
                        </m:r>
                        <m:r>
                          <a:rPr lang="en-IN" sz="2200" i="1" kern="100">
                            <a:effectLst/>
                            <a:latin typeface="Cambria Math" panose="02040503050406030204" pitchFamily="18" charset="0"/>
                            <a:ea typeface="Calibri" panose="020F0502020204030204" pitchFamily="34" charset="0"/>
                            <a:cs typeface="Times New Roman" panose="02020603050405020304" pitchFamily="18" charset="0"/>
                          </a:rPr>
                          <m:t> </m:t>
                        </m:r>
                      </m:sub>
                    </m:sSub>
                  </m:oMath>
                </a14:m>
                <a:r>
                  <a:rPr lang="en-IN" sz="2200" kern="100" dirty="0">
                    <a:effectLst/>
                    <a:latin typeface="Calibri" panose="020F0502020204030204" pitchFamily="34" charset="0"/>
                    <a:ea typeface="Times New Roman" panose="02020603050405020304" pitchFamily="18" charset="0"/>
                    <a:cs typeface="Times New Roman" panose="02020603050405020304" pitchFamily="18" charset="0"/>
                  </a:rPr>
                  <a:t>.</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mc:Choice>
        <mc:Fallback xmlns="">
          <p:sp>
            <p:nvSpPr>
              <p:cNvPr id="3" name="Content Placeholder 2">
                <a:extLst>
                  <a:ext uri="{FF2B5EF4-FFF2-40B4-BE49-F238E27FC236}">
                    <a16:creationId xmlns:a16="http://schemas.microsoft.com/office/drawing/2014/main" id="{D418F8EA-F3FE-BA7B-0BCE-5C1A7DB76F13}"/>
                  </a:ext>
                </a:extLst>
              </p:cNvPr>
              <p:cNvSpPr>
                <a:spLocks noGrp="1" noRot="1" noChangeAspect="1" noMove="1" noResize="1" noEditPoints="1" noAdjustHandles="1" noChangeArrowheads="1" noChangeShapeType="1" noTextEdit="1"/>
              </p:cNvSpPr>
              <p:nvPr>
                <p:ph idx="1"/>
              </p:nvPr>
            </p:nvSpPr>
            <p:spPr>
              <a:xfrm>
                <a:off x="1141412" y="648930"/>
                <a:ext cx="9905999" cy="5142272"/>
              </a:xfrm>
              <a:blipFill>
                <a:blip r:embed="rId2"/>
                <a:stretch>
                  <a:fillRect l="-1415" t="-2488"/>
                </a:stretch>
              </a:blipFill>
            </p:spPr>
            <p:txBody>
              <a:bodyPr/>
              <a:lstStyle/>
              <a:p>
                <a:r>
                  <a:rPr lang="en-IN">
                    <a:noFill/>
                  </a:rPr>
                  <a:t> </a:t>
                </a:r>
              </a:p>
            </p:txBody>
          </p:sp>
        </mc:Fallback>
      </mc:AlternateContent>
    </p:spTree>
    <p:extLst>
      <p:ext uri="{BB962C8B-B14F-4D97-AF65-F5344CB8AC3E}">
        <p14:creationId xmlns:p14="http://schemas.microsoft.com/office/powerpoint/2010/main" val="385867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437F2-EA97-BA51-E202-B2B242372D55}"/>
              </a:ext>
            </a:extLst>
          </p:cNvPr>
          <p:cNvSpPr>
            <a:spLocks noGrp="1"/>
          </p:cNvSpPr>
          <p:nvPr>
            <p:ph type="title"/>
          </p:nvPr>
        </p:nvSpPr>
        <p:spPr>
          <a:xfrm>
            <a:off x="1141413" y="618518"/>
            <a:ext cx="9905998" cy="5369327"/>
          </a:xfrm>
        </p:spPr>
        <p:txBody>
          <a:bodyPr>
            <a:normAutofit/>
          </a:bodyPr>
          <a:lstStyle/>
          <a:p>
            <a:pPr algn="ctr"/>
            <a:r>
              <a:rPr lang="en-US" sz="5400" b="1" dirty="0"/>
              <a:t>METHODLOGY</a:t>
            </a:r>
            <a:endParaRPr lang="en-IN" sz="5400" b="1" dirty="0"/>
          </a:p>
        </p:txBody>
      </p:sp>
    </p:spTree>
    <p:extLst>
      <p:ext uri="{BB962C8B-B14F-4D97-AF65-F5344CB8AC3E}">
        <p14:creationId xmlns:p14="http://schemas.microsoft.com/office/powerpoint/2010/main" val="34486015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A0C5C8-0982-D008-5393-A949A79C6BF5}"/>
              </a:ext>
            </a:extLst>
          </p:cNvPr>
          <p:cNvSpPr>
            <a:spLocks noGrp="1"/>
          </p:cNvSpPr>
          <p:nvPr>
            <p:ph idx="1"/>
          </p:nvPr>
        </p:nvSpPr>
        <p:spPr>
          <a:xfrm>
            <a:off x="1141413" y="462116"/>
            <a:ext cx="9905999" cy="6164826"/>
          </a:xfrm>
        </p:spPr>
        <p:txBody>
          <a:bodyPr>
            <a:normAutofit/>
          </a:bodyPr>
          <a:lstStyle/>
          <a:p>
            <a:pPr marL="0" indent="0">
              <a:buNone/>
            </a:pPr>
            <a:r>
              <a:rPr lang="en-US" dirty="0"/>
              <a:t>Step 1:  DATA COLLECTION</a:t>
            </a:r>
          </a:p>
          <a:p>
            <a:pPr marL="0" indent="0">
              <a:buNone/>
            </a:pPr>
            <a:r>
              <a:rPr lang="en-US" dirty="0"/>
              <a:t>              As </a:t>
            </a:r>
            <a:r>
              <a:rPr lang="en-US" dirty="0" err="1"/>
              <a:t>metioned</a:t>
            </a:r>
            <a:r>
              <a:rPr lang="en-US" dirty="0"/>
              <a:t> above we use  the dataset </a:t>
            </a:r>
            <a:r>
              <a:rPr lang="en-US" dirty="0" err="1"/>
              <a:t>Mall_Customers</a:t>
            </a:r>
            <a:r>
              <a:rPr lang="en-US" dirty="0"/>
              <a:t>  for this project. We took this dataset from the Kaggle website .</a:t>
            </a:r>
          </a:p>
          <a:p>
            <a:pPr marL="0" indent="0">
              <a:buNone/>
            </a:pPr>
            <a:r>
              <a:rPr lang="en-US" dirty="0"/>
              <a:t>Step 2 :  INSTALLING LIBRARIES</a:t>
            </a:r>
          </a:p>
          <a:p>
            <a:pPr marL="0" indent="0">
              <a:buNone/>
            </a:pPr>
            <a:r>
              <a:rPr lang="en-US" dirty="0"/>
              <a:t>               For this we need certain libraries such as pandas , </a:t>
            </a:r>
            <a:r>
              <a:rPr lang="en-US" dirty="0" err="1"/>
              <a:t>numpy</a:t>
            </a:r>
            <a:r>
              <a:rPr lang="en-US" dirty="0"/>
              <a:t> ,seaborn , </a:t>
            </a:r>
          </a:p>
          <a:p>
            <a:pPr marL="0" indent="0">
              <a:buNone/>
            </a:pPr>
            <a:r>
              <a:rPr lang="en-US" dirty="0"/>
              <a:t> matplotlib </a:t>
            </a:r>
            <a:r>
              <a:rPr lang="en-US" dirty="0" err="1"/>
              <a:t>etc</a:t>
            </a:r>
            <a:r>
              <a:rPr lang="en-US" dirty="0"/>
              <a:t> . We first install these libraries using “pip” command. i .e </a:t>
            </a:r>
          </a:p>
          <a:p>
            <a:pPr marL="0" indent="0">
              <a:buNone/>
            </a:pPr>
            <a:r>
              <a:rPr lang="en-US" dirty="0">
                <a:solidFill>
                  <a:schemeClr val="bg1"/>
                </a:solidFill>
              </a:rPr>
              <a:t>                     ! pip install pandas </a:t>
            </a:r>
            <a:r>
              <a:rPr lang="en-US" dirty="0" err="1">
                <a:solidFill>
                  <a:schemeClr val="bg1"/>
                </a:solidFill>
              </a:rPr>
              <a:t>numpy</a:t>
            </a:r>
            <a:r>
              <a:rPr lang="en-US" dirty="0">
                <a:solidFill>
                  <a:schemeClr val="bg1"/>
                </a:solidFill>
              </a:rPr>
              <a:t> seaborn matplotlib </a:t>
            </a:r>
          </a:p>
          <a:p>
            <a:pPr marL="0" indent="0">
              <a:buNone/>
            </a:pPr>
            <a:endParaRPr lang="en-US" dirty="0"/>
          </a:p>
          <a:p>
            <a:pPr marL="0" indent="0">
              <a:buNone/>
            </a:pPr>
            <a:r>
              <a:rPr lang="en-US" dirty="0"/>
              <a:t>Step 3 :  IMPORTING LIBRARIES </a:t>
            </a:r>
          </a:p>
          <a:p>
            <a:pPr marL="0" indent="0">
              <a:buNone/>
            </a:pPr>
            <a:r>
              <a:rPr lang="en-US" dirty="0"/>
              <a:t>         After installing the required libraries we import it into to notebook for analysis. It also import some other libraries for better conclusions</a:t>
            </a:r>
            <a:endParaRPr lang="en-IN" dirty="0"/>
          </a:p>
        </p:txBody>
      </p:sp>
      <p:sp>
        <p:nvSpPr>
          <p:cNvPr id="2" name="Rectangle 1">
            <a:extLst>
              <a:ext uri="{FF2B5EF4-FFF2-40B4-BE49-F238E27FC236}">
                <a16:creationId xmlns:a16="http://schemas.microsoft.com/office/drawing/2014/main" id="{4481D4ED-EF49-D9BB-145A-6FB9638D1D67}"/>
              </a:ext>
            </a:extLst>
          </p:cNvPr>
          <p:cNvSpPr/>
          <p:nvPr/>
        </p:nvSpPr>
        <p:spPr>
          <a:xfrm>
            <a:off x="2861187" y="3726426"/>
            <a:ext cx="6115665" cy="67842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032738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06A96C0-0B9A-CEAF-46B3-07098326FAF1}"/>
              </a:ext>
            </a:extLst>
          </p:cNvPr>
          <p:cNvSpPr>
            <a:spLocks noGrp="1"/>
          </p:cNvSpPr>
          <p:nvPr>
            <p:ph idx="1"/>
          </p:nvPr>
        </p:nvSpPr>
        <p:spPr>
          <a:xfrm>
            <a:off x="884904" y="383458"/>
            <a:ext cx="10162508" cy="6331974"/>
          </a:xfrm>
        </p:spPr>
        <p:txBody>
          <a:bodyPr/>
          <a:lstStyle/>
          <a:p>
            <a:pPr marL="0" lvl="0" indent="0">
              <a:lnSpc>
                <a:spcPct val="107000"/>
              </a:lnSpc>
              <a:buNone/>
            </a:pPr>
            <a:r>
              <a:rPr lang="en-IN" sz="2000" b="1" u="sng" kern="100" dirty="0">
                <a:effectLst/>
                <a:latin typeface="Calibri" panose="020F0502020204030204" pitchFamily="34" charset="0"/>
                <a:ea typeface="Calibri" panose="020F0502020204030204" pitchFamily="34" charset="0"/>
                <a:cs typeface="Times New Roman" panose="02020603050405020304" pitchFamily="18" charset="0"/>
              </a:rPr>
              <a:t>mpl_toolkits.mplot3d</a:t>
            </a:r>
            <a:r>
              <a:rPr lang="en-IN" sz="2000" u="sng" kern="100" dirty="0">
                <a:latin typeface="Calibri" panose="020F0502020204030204" pitchFamily="34" charset="0"/>
                <a:ea typeface="Calibri" panose="020F0502020204030204" pitchFamily="34" charset="0"/>
                <a:cs typeface="Times New Roman" panose="02020603050405020304" pitchFamily="18" charset="0"/>
              </a:rPr>
              <a:t>:   </a:t>
            </a:r>
            <a:r>
              <a:rPr lang="en-IN" sz="2000" b="1" u="sng"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A toolkit for 3D plotting in Matplotlib. It is a part of the matplotlib package. So   it doesn’t require installation.</a:t>
            </a:r>
          </a:p>
          <a:p>
            <a:pPr marL="0" lvl="0" indent="0">
              <a:lnSpc>
                <a:spcPct val="107000"/>
              </a:lnSpc>
              <a:buNone/>
            </a:pPr>
            <a:endParaRPr lang="en-IN" sz="20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buNone/>
            </a:pPr>
            <a:r>
              <a:rPr lang="en-IN" sz="2000" b="1" u="sng" kern="100" dirty="0">
                <a:effectLst/>
                <a:latin typeface="Calibri" panose="020F0502020204030204" pitchFamily="34" charset="0"/>
                <a:ea typeface="Calibri" panose="020F0502020204030204" pitchFamily="34" charset="0"/>
                <a:cs typeface="Times New Roman" panose="02020603050405020304" pitchFamily="18" charset="0"/>
              </a:rPr>
              <a:t>%matplotlib inline</a:t>
            </a:r>
            <a:r>
              <a:rPr lang="en-IN" sz="2000" u="sng" kern="100" dirty="0">
                <a:latin typeface="Calibri" panose="020F0502020204030204" pitchFamily="34" charset="0"/>
                <a:ea typeface="Calibri" panose="020F0502020204030204" pitchFamily="34" charset="0"/>
                <a:cs typeface="Times New Roman" panose="02020603050405020304" pitchFamily="18" charset="0"/>
              </a:rPr>
              <a:t>:  </a:t>
            </a:r>
            <a:r>
              <a:rPr lang="en-IN" sz="2000" b="1" u="sng"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A </a:t>
            </a:r>
            <a:r>
              <a:rPr lang="en-IN" sz="2000" kern="100" dirty="0" err="1">
                <a:effectLst/>
                <a:latin typeface="Calibri" panose="020F0502020204030204" pitchFamily="34" charset="0"/>
                <a:ea typeface="Calibri" panose="020F0502020204030204" pitchFamily="34" charset="0"/>
                <a:cs typeface="Times New Roman" panose="02020603050405020304" pitchFamily="18" charset="0"/>
              </a:rPr>
              <a:t>Jupyter</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notebook magic command that allows for inline display of Matplotlib plots. </a:t>
            </a:r>
          </a:p>
          <a:p>
            <a:pPr marL="0" lvl="0" indent="0">
              <a:lnSpc>
                <a:spcPct val="107000"/>
              </a:lnSpc>
              <a:buNone/>
            </a:pPr>
            <a:endParaRPr lang="en-IN" sz="20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buNone/>
            </a:pPr>
            <a:r>
              <a:rPr lang="en-IN" sz="2000" b="1" u="sng" kern="100" dirty="0">
                <a:effectLst/>
                <a:latin typeface="Calibri" panose="020F0502020204030204" pitchFamily="34" charset="0"/>
                <a:ea typeface="Calibri" panose="020F0502020204030204" pitchFamily="34" charset="0"/>
                <a:cs typeface="Times New Roman" panose="02020603050405020304" pitchFamily="18" charset="0"/>
              </a:rPr>
              <a:t>Warnings :</a:t>
            </a:r>
            <a:r>
              <a:rPr lang="en-IN" sz="2000" b="1" u="sng" kern="100" dirty="0">
                <a:latin typeface="Calibri" panose="020F0502020204030204" pitchFamily="34" charset="0"/>
                <a:ea typeface="Calibri" panose="020F0502020204030204" pitchFamily="34" charset="0"/>
                <a:cs typeface="Times New Roman" panose="02020603050405020304" pitchFamily="18" charset="0"/>
              </a:rPr>
              <a:t>  </a:t>
            </a:r>
            <a:r>
              <a:rPr lang="en-IN" sz="2000" u="sng"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A built-in Python module to control the display of warnings that may arise during code execution. It comes with python by default and so it doesn’t need to be installed.</a:t>
            </a:r>
          </a:p>
          <a:p>
            <a:pPr marL="0" lvl="0" indent="0" algn="ctr">
              <a:lnSpc>
                <a:spcPct val="107000"/>
              </a:lnSpc>
              <a:buNone/>
            </a:pPr>
            <a:endParaRPr lang="en-IN" sz="2000" kern="100" dirty="0">
              <a:latin typeface="Calibri" panose="020F0502020204030204" pitchFamily="34" charset="0"/>
              <a:ea typeface="Calibri" panose="020F0502020204030204" pitchFamily="34" charset="0"/>
              <a:cs typeface="Times New Roman" panose="02020603050405020304" pitchFamily="18" charset="0"/>
            </a:endParaRPr>
          </a:p>
          <a:p>
            <a:pPr marL="0" lvl="0" indent="0" algn="ctr">
              <a:lnSpc>
                <a:spcPct val="107000"/>
              </a:lnSpc>
              <a:buNone/>
            </a:pP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pic>
        <p:nvPicPr>
          <p:cNvPr id="12" name="Picture 11">
            <a:extLst>
              <a:ext uri="{FF2B5EF4-FFF2-40B4-BE49-F238E27FC236}">
                <a16:creationId xmlns:a16="http://schemas.microsoft.com/office/drawing/2014/main" id="{B5090186-3A8F-30D1-7595-692116AB90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0154" y="3677264"/>
            <a:ext cx="4591691" cy="2880851"/>
          </a:xfrm>
          <a:prstGeom prst="rect">
            <a:avLst/>
          </a:prstGeom>
        </p:spPr>
      </p:pic>
    </p:spTree>
    <p:extLst>
      <p:ext uri="{BB962C8B-B14F-4D97-AF65-F5344CB8AC3E}">
        <p14:creationId xmlns:p14="http://schemas.microsoft.com/office/powerpoint/2010/main" val="892649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1000"/>
                                        <p:tgtEl>
                                          <p:spTgt spid="7">
                                            <p:txEl>
                                              <p:pRg st="0" end="0"/>
                                            </p:txEl>
                                          </p:spTgt>
                                        </p:tgtEl>
                                      </p:cBhvr>
                                    </p:animEffect>
                                    <p:anim calcmode="lin" valueType="num">
                                      <p:cBhvr>
                                        <p:cTn id="13"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fade">
                                      <p:cBhvr>
                                        <p:cTn id="19" dur="1000"/>
                                        <p:tgtEl>
                                          <p:spTgt spid="7">
                                            <p:txEl>
                                              <p:pRg st="2" end="2"/>
                                            </p:txEl>
                                          </p:spTgt>
                                        </p:tgtEl>
                                      </p:cBhvr>
                                    </p:animEffect>
                                    <p:anim calcmode="lin" valueType="num">
                                      <p:cBhvr>
                                        <p:cTn id="20"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7">
                                            <p:txEl>
                                              <p:pRg st="4" end="4"/>
                                            </p:txEl>
                                          </p:spTgt>
                                        </p:tgtEl>
                                        <p:attrNameLst>
                                          <p:attrName>style.visibility</p:attrName>
                                        </p:attrNameLst>
                                      </p:cBhvr>
                                      <p:to>
                                        <p:strVal val="visible"/>
                                      </p:to>
                                    </p:set>
                                    <p:animEffect transition="in" filter="fade">
                                      <p:cBhvr>
                                        <p:cTn id="26" dur="1000"/>
                                        <p:tgtEl>
                                          <p:spTgt spid="7">
                                            <p:txEl>
                                              <p:pRg st="4" end="4"/>
                                            </p:txEl>
                                          </p:spTgt>
                                        </p:tgtEl>
                                      </p:cBhvr>
                                    </p:animEffect>
                                    <p:anim calcmode="lin" valueType="num">
                                      <p:cBhvr>
                                        <p:cTn id="27"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DF7C1F-5181-0E70-4904-7B5740383D1E}"/>
              </a:ext>
            </a:extLst>
          </p:cNvPr>
          <p:cNvSpPr>
            <a:spLocks noGrp="1"/>
          </p:cNvSpPr>
          <p:nvPr>
            <p:ph idx="1"/>
          </p:nvPr>
        </p:nvSpPr>
        <p:spPr>
          <a:xfrm>
            <a:off x="1141412" y="147484"/>
            <a:ext cx="9905999" cy="6243483"/>
          </a:xfrm>
        </p:spPr>
        <p:txBody>
          <a:bodyPr/>
          <a:lstStyle/>
          <a:p>
            <a:pPr marL="0" indent="0">
              <a:buNone/>
            </a:pPr>
            <a:r>
              <a:rPr lang="en-US" b="1" u="sng" dirty="0"/>
              <a:t>pandas : </a:t>
            </a:r>
            <a:r>
              <a:rPr lang="en-US" dirty="0"/>
              <a:t>It provides structures like data frame for handling structured data</a:t>
            </a:r>
          </a:p>
          <a:p>
            <a:pPr marL="0" indent="0">
              <a:buNone/>
            </a:pPr>
            <a:r>
              <a:rPr lang="en-US" b="1" u="sng" dirty="0" err="1"/>
              <a:t>numpy</a:t>
            </a:r>
            <a:r>
              <a:rPr lang="en-US" b="1" u="sng" dirty="0"/>
              <a:t> :  </a:t>
            </a:r>
            <a:r>
              <a:rPr lang="en-IN" kern="0" dirty="0">
                <a:effectLst/>
                <a:latin typeface="Times New Roman" panose="02020603050405020304" pitchFamily="18" charset="0"/>
                <a:ea typeface="Times New Roman" panose="02020603050405020304" pitchFamily="18" charset="0"/>
              </a:rPr>
              <a:t>Provides support for numerical operations and working with arrays.</a:t>
            </a:r>
            <a:endParaRPr lang="en-US" dirty="0"/>
          </a:p>
          <a:p>
            <a:pPr marL="0" indent="0">
              <a:buNone/>
            </a:pPr>
            <a:r>
              <a:rPr lang="en-US" b="1" u="sng" dirty="0"/>
              <a:t>matplotlib:  </a:t>
            </a:r>
            <a:r>
              <a:rPr lang="en-US" dirty="0"/>
              <a:t>Used </a:t>
            </a:r>
            <a:r>
              <a:rPr lang="en-IN" kern="100" dirty="0">
                <a:effectLst/>
                <a:latin typeface="Calibri" panose="020F0502020204030204" pitchFamily="34" charset="0"/>
                <a:ea typeface="Calibri" panose="020F0502020204030204" pitchFamily="34" charset="0"/>
                <a:cs typeface="Times New Roman" panose="02020603050405020304" pitchFamily="18" charset="0"/>
              </a:rPr>
              <a:t>for creating static  and interactive visualizations in Python.</a:t>
            </a:r>
          </a:p>
          <a:p>
            <a:pPr marL="0" indent="0">
              <a:buNone/>
            </a:pPr>
            <a:r>
              <a:rPr lang="en-US" b="1" u="sng" dirty="0"/>
              <a:t>seaborn : </a:t>
            </a:r>
            <a:r>
              <a:rPr lang="en-US" dirty="0"/>
              <a:t>Built on top of matplotlib which is used for visualization</a:t>
            </a:r>
          </a:p>
          <a:p>
            <a:pPr marL="0" indent="0">
              <a:buNone/>
            </a:pPr>
            <a:endParaRPr lang="en-US" dirty="0"/>
          </a:p>
          <a:p>
            <a:pPr marL="0" indent="0">
              <a:buNone/>
            </a:pPr>
            <a:r>
              <a:rPr lang="en-US" dirty="0"/>
              <a:t>Step 4 :  LOADING OF DATASET</a:t>
            </a:r>
          </a:p>
          <a:p>
            <a:pPr marL="0" indent="0">
              <a:buNone/>
            </a:pPr>
            <a:r>
              <a:rPr lang="en-US" dirty="0"/>
              <a:t>              we load the dataset </a:t>
            </a:r>
            <a:r>
              <a:rPr lang="en-US" dirty="0" err="1"/>
              <a:t>Mall_Customers</a:t>
            </a:r>
            <a:r>
              <a:rPr lang="en-US" dirty="0"/>
              <a:t> to the notebook</a:t>
            </a:r>
          </a:p>
          <a:p>
            <a:pPr marL="0" indent="0">
              <a:buNone/>
            </a:pPr>
            <a:r>
              <a:rPr lang="en-US" dirty="0"/>
              <a:t>                </a:t>
            </a:r>
          </a:p>
          <a:p>
            <a:pPr marL="0" indent="0">
              <a:buNone/>
            </a:pPr>
            <a:r>
              <a:rPr lang="en-US" dirty="0"/>
              <a:t>           </a:t>
            </a:r>
          </a:p>
          <a:p>
            <a:endParaRPr lang="en-IN" dirty="0"/>
          </a:p>
        </p:txBody>
      </p:sp>
      <p:pic>
        <p:nvPicPr>
          <p:cNvPr id="5" name="Picture 4">
            <a:extLst>
              <a:ext uri="{FF2B5EF4-FFF2-40B4-BE49-F238E27FC236}">
                <a16:creationId xmlns:a16="http://schemas.microsoft.com/office/drawing/2014/main" id="{70C63058-601F-5E02-6053-23839DBA5B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2811" y="4316361"/>
            <a:ext cx="6106377" cy="1641986"/>
          </a:xfrm>
          <a:prstGeom prst="rect">
            <a:avLst/>
          </a:prstGeom>
          <a:ln>
            <a:noFill/>
          </a:ln>
          <a:effectLst>
            <a:softEdge rad="112500"/>
          </a:effectLst>
        </p:spPr>
      </p:pic>
    </p:spTree>
    <p:extLst>
      <p:ext uri="{BB962C8B-B14F-4D97-AF65-F5344CB8AC3E}">
        <p14:creationId xmlns:p14="http://schemas.microsoft.com/office/powerpoint/2010/main" val="2538370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77492-A981-5D56-D481-3772A4552133}"/>
              </a:ext>
            </a:extLst>
          </p:cNvPr>
          <p:cNvSpPr>
            <a:spLocks noGrp="1"/>
          </p:cNvSpPr>
          <p:nvPr>
            <p:ph type="title"/>
          </p:nvPr>
        </p:nvSpPr>
        <p:spPr>
          <a:xfrm>
            <a:off x="1141413" y="108156"/>
            <a:ext cx="9905998" cy="1219199"/>
          </a:xfrm>
        </p:spPr>
        <p:txBody>
          <a:bodyPr/>
          <a:lstStyle/>
          <a:p>
            <a:r>
              <a:rPr lang="en-US" dirty="0"/>
              <a:t>Step 5 : data preprocessing</a:t>
            </a:r>
            <a:endParaRPr lang="en-IN" dirty="0"/>
          </a:p>
        </p:txBody>
      </p:sp>
      <p:sp>
        <p:nvSpPr>
          <p:cNvPr id="3" name="Content Placeholder 2">
            <a:extLst>
              <a:ext uri="{FF2B5EF4-FFF2-40B4-BE49-F238E27FC236}">
                <a16:creationId xmlns:a16="http://schemas.microsoft.com/office/drawing/2014/main" id="{1AFE8D8B-E2CB-CEFB-2B31-F5BFE8361A99}"/>
              </a:ext>
            </a:extLst>
          </p:cNvPr>
          <p:cNvSpPr>
            <a:spLocks noGrp="1"/>
          </p:cNvSpPr>
          <p:nvPr>
            <p:ph idx="1"/>
          </p:nvPr>
        </p:nvSpPr>
        <p:spPr>
          <a:xfrm>
            <a:off x="1141412" y="1170039"/>
            <a:ext cx="9905999" cy="5329083"/>
          </a:xfrm>
        </p:spPr>
        <p:txBody>
          <a:bodyPr>
            <a:normAutofit/>
          </a:bodyPr>
          <a:lstStyle/>
          <a:p>
            <a:pPr marL="457200" indent="-457200">
              <a:buFont typeface="+mj-lt"/>
              <a:buAutoNum type="alphaLcParenR"/>
            </a:pPr>
            <a:r>
              <a:rPr lang="en-US" dirty="0"/>
              <a:t>Data Overview</a:t>
            </a:r>
          </a:p>
          <a:p>
            <a:pPr marL="0" indent="0">
              <a:buNone/>
            </a:pPr>
            <a:r>
              <a:rPr lang="en-US" sz="2000" dirty="0"/>
              <a:t>             To understand dataset structure and </a:t>
            </a:r>
            <a:r>
              <a:rPr lang="en-IN" sz="2000" dirty="0">
                <a:effectLst/>
                <a:latin typeface="Calibri" panose="020F0502020204030204" pitchFamily="34" charset="0"/>
                <a:ea typeface="Calibri" panose="020F0502020204030204" pitchFamily="34" charset="0"/>
                <a:cs typeface="Times New Roman" panose="02020603050405020304" pitchFamily="18" charset="0"/>
              </a:rPr>
              <a:t> to check whether the dataset is loaded, we take few rows from the Mall Customers. </a:t>
            </a:r>
          </a:p>
          <a:p>
            <a:pPr marL="0" indent="0" algn="ctr">
              <a:buNone/>
            </a:pPr>
            <a:endParaRPr lang="en-US" sz="2000" dirty="0"/>
          </a:p>
          <a:p>
            <a:pPr marL="0" indent="0">
              <a:buNone/>
            </a:pPr>
            <a:r>
              <a:rPr lang="en-US" dirty="0"/>
              <a:t>          </a:t>
            </a:r>
          </a:p>
          <a:p>
            <a:pPr marL="0" indent="0">
              <a:buNone/>
            </a:pPr>
            <a:endParaRPr lang="en-US" dirty="0"/>
          </a:p>
          <a:p>
            <a:pPr marL="0" indent="0">
              <a:buNone/>
            </a:pPr>
            <a:endParaRPr lang="en-US" dirty="0"/>
          </a:p>
          <a:p>
            <a:pPr marL="0" indent="0">
              <a:buNone/>
            </a:pPr>
            <a:endParaRPr lang="en-US" dirty="0"/>
          </a:p>
          <a:p>
            <a:pPr marL="0" indent="0">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It will load the first 5 data</a:t>
            </a:r>
            <a:r>
              <a:rPr lang="en-US" sz="1800" dirty="0">
                <a:effectLst/>
                <a:latin typeface="Calibri" panose="020F0502020204030204" pitchFamily="34" charset="0"/>
                <a:ea typeface="Calibri" panose="020F0502020204030204" pitchFamily="34" charset="0"/>
                <a:cs typeface="Times New Roman" panose="02020603050405020304" pitchFamily="18" charset="0"/>
              </a:rPr>
              <a:t>. Here we take these 5 because viewing all will be time consuming , taking first 5 columns will give manageable glimpse of data. Also head() in python or  R display first 5 by default, making it a standard practice for initial exploration.  </a:t>
            </a:r>
            <a:endParaRPr lang="en-IN" dirty="0"/>
          </a:p>
        </p:txBody>
      </p:sp>
      <p:pic>
        <p:nvPicPr>
          <p:cNvPr id="5" name="Picture 4">
            <a:extLst>
              <a:ext uri="{FF2B5EF4-FFF2-40B4-BE49-F238E27FC236}">
                <a16:creationId xmlns:a16="http://schemas.microsoft.com/office/drawing/2014/main" id="{79CE61EF-708C-7460-4CCD-CCD0298E0D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3871" y="2497393"/>
            <a:ext cx="6194323" cy="2684207"/>
          </a:xfrm>
          <a:prstGeom prst="rect">
            <a:avLst/>
          </a:prstGeom>
          <a:ln>
            <a:noFill/>
          </a:ln>
          <a:effectLst>
            <a:softEdge rad="112500"/>
          </a:effectLst>
        </p:spPr>
      </p:pic>
    </p:spTree>
    <p:extLst>
      <p:ext uri="{BB962C8B-B14F-4D97-AF65-F5344CB8AC3E}">
        <p14:creationId xmlns:p14="http://schemas.microsoft.com/office/powerpoint/2010/main" val="1237027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E2379365-4ADD-33E5-FF9E-179A36458BC2}"/>
              </a:ext>
            </a:extLst>
          </p:cNvPr>
          <p:cNvSpPr>
            <a:spLocks noGrp="1"/>
          </p:cNvSpPr>
          <p:nvPr>
            <p:ph idx="1"/>
          </p:nvPr>
        </p:nvSpPr>
        <p:spPr>
          <a:xfrm>
            <a:off x="1141413" y="491613"/>
            <a:ext cx="10372162" cy="5299588"/>
          </a:xfrm>
        </p:spPr>
        <p:txBody>
          <a:bodyPr>
            <a:normAutofit/>
          </a:bodyPr>
          <a:lstStyle/>
          <a:p>
            <a:pPr marL="0" indent="0">
              <a:buNone/>
            </a:pPr>
            <a:r>
              <a:rPr lang="en-US" dirty="0"/>
              <a:t>b) Dataset shape</a:t>
            </a:r>
          </a:p>
          <a:p>
            <a:pPr marL="0" indent="0">
              <a:buNone/>
            </a:pPr>
            <a:r>
              <a:rPr lang="en-IN" dirty="0">
                <a:effectLst/>
                <a:latin typeface="Calibri" panose="020F0502020204030204" pitchFamily="34" charset="0"/>
                <a:ea typeface="Calibri" panose="020F0502020204030204" pitchFamily="34" charset="0"/>
                <a:cs typeface="Times New Roman" panose="02020603050405020304" pitchFamily="18" charset="0"/>
              </a:rPr>
              <a:t>             To understand the number of rows and columns.</a:t>
            </a:r>
            <a:r>
              <a:rPr lang="en-US" dirty="0"/>
              <a:t> </a:t>
            </a:r>
            <a:r>
              <a:rPr lang="en-IN" sz="2400" dirty="0">
                <a:effectLst/>
                <a:latin typeface="Calibri" panose="020F0502020204030204" pitchFamily="34" charset="0"/>
                <a:ea typeface="Calibri" panose="020F0502020204030204" pitchFamily="34" charset="0"/>
                <a:cs typeface="Times New Roman" panose="02020603050405020304" pitchFamily="18" charset="0"/>
              </a:rPr>
              <a:t>The dimension of our dataset is checked </a:t>
            </a:r>
          </a:p>
          <a:p>
            <a:pPr marL="0" indent="0">
              <a:buNone/>
            </a:pPr>
            <a:endParaRPr lang="en-IN"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dirty="0">
                <a:effectLst/>
                <a:latin typeface="Calibri" panose="020F0502020204030204" pitchFamily="34" charset="0"/>
                <a:ea typeface="Calibri" panose="020F0502020204030204" pitchFamily="34" charset="0"/>
                <a:cs typeface="Times New Roman" panose="02020603050405020304" pitchFamily="18" charset="0"/>
              </a:rPr>
              <a:t>From this we understood thar our dataset is consist of 200 columns and 5 rows</a:t>
            </a:r>
          </a:p>
          <a:p>
            <a:pPr marL="0" indent="0">
              <a:buNone/>
            </a:pPr>
            <a:endParaRPr lang="en-IN"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id="{A50DFB21-EFD9-5C94-9A16-02D79EE04D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1124" y="2320413"/>
            <a:ext cx="4621160" cy="2428567"/>
          </a:xfrm>
          <a:prstGeom prst="rect">
            <a:avLst/>
          </a:prstGeom>
          <a:ln>
            <a:noFill/>
          </a:ln>
          <a:effectLst>
            <a:softEdge rad="112500"/>
          </a:effectLst>
        </p:spPr>
      </p:pic>
    </p:spTree>
    <p:extLst>
      <p:ext uri="{BB962C8B-B14F-4D97-AF65-F5344CB8AC3E}">
        <p14:creationId xmlns:p14="http://schemas.microsoft.com/office/powerpoint/2010/main" val="1834491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16FDF51-68E5-8256-6923-F3456EEACD59}"/>
              </a:ext>
            </a:extLst>
          </p:cNvPr>
          <p:cNvSpPr>
            <a:spLocks noGrp="1"/>
          </p:cNvSpPr>
          <p:nvPr>
            <p:ph idx="1"/>
          </p:nvPr>
        </p:nvSpPr>
        <p:spPr>
          <a:xfrm>
            <a:off x="1141412" y="68826"/>
            <a:ext cx="10401659" cy="6390968"/>
          </a:xfrm>
        </p:spPr>
        <p:txBody>
          <a:bodyPr>
            <a:normAutofit fontScale="77500" lnSpcReduction="20000"/>
          </a:bodyPr>
          <a:lstStyle/>
          <a:p>
            <a:pPr marL="0" indent="0">
              <a:buNone/>
            </a:pPr>
            <a:r>
              <a:rPr lang="en-IN" sz="2800" dirty="0">
                <a:latin typeface="Calibri" panose="020F0502020204030204" pitchFamily="34" charset="0"/>
                <a:ea typeface="Calibri" panose="020F0502020204030204" pitchFamily="34" charset="0"/>
                <a:cs typeface="Times New Roman" panose="02020603050405020304" pitchFamily="18" charset="0"/>
              </a:rPr>
              <a:t>c) </a:t>
            </a:r>
            <a:r>
              <a:rPr lang="en-IN" sz="2800" b="1" kern="100" dirty="0">
                <a:effectLst/>
                <a:latin typeface="Calibri" panose="020F0502020204030204" pitchFamily="34" charset="0"/>
                <a:ea typeface="Calibri" panose="020F0502020204030204" pitchFamily="34" charset="0"/>
                <a:cs typeface="Times New Roman" panose="02020603050405020304" pitchFamily="18" charset="0"/>
              </a:rPr>
              <a:t>Checking for the missing values</a:t>
            </a:r>
            <a:r>
              <a:rPr lang="en-IN" sz="2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buNone/>
            </a:pPr>
            <a:r>
              <a:rPr lang="en-IN" sz="2800" kern="100" dirty="0">
                <a:latin typeface="Calibri" panose="020F0502020204030204" pitchFamily="34" charset="0"/>
                <a:ea typeface="Calibri" panose="020F0502020204030204" pitchFamily="34" charset="0"/>
                <a:cs typeface="Times New Roman" panose="02020603050405020304" pitchFamily="18" charset="0"/>
              </a:rPr>
              <a:t>                </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3100" dirty="0">
                <a:effectLst/>
                <a:latin typeface="Calibri" panose="020F0502020204030204" pitchFamily="34" charset="0"/>
                <a:ea typeface="Calibri" panose="020F0502020204030204" pitchFamily="34" charset="0"/>
                <a:cs typeface="Times New Roman" panose="02020603050405020304" pitchFamily="18" charset="0"/>
              </a:rPr>
              <a:t>It is a very important step. If missing values are not handled carefully, they may result in an incorrect prediction. This can be handled by deleting the row or by calculating the mean of the row or column where the values are missing</a:t>
            </a:r>
            <a:endParaRPr lang="en-IN" sz="31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sz="3100" kern="100" dirty="0">
                <a:effectLst/>
                <a:latin typeface="Calibri" panose="020F0502020204030204" pitchFamily="34" charset="0"/>
                <a:ea typeface="Calibri" panose="020F0502020204030204" pitchFamily="34" charset="0"/>
                <a:cs typeface="Times New Roman" panose="02020603050405020304" pitchFamily="18" charset="0"/>
              </a:rPr>
              <a:t>The result shows that there are no missing values in the dataset. This confirmed that further data cleaning  is not required for missing values.</a:t>
            </a:r>
          </a:p>
          <a:p>
            <a:pPr marL="0" indent="0">
              <a:buNone/>
            </a:pPr>
            <a:endParaRPr lang="en-IN" sz="3100" kern="100" dirty="0">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10" name="Picture 9">
            <a:extLst>
              <a:ext uri="{FF2B5EF4-FFF2-40B4-BE49-F238E27FC236}">
                <a16:creationId xmlns:a16="http://schemas.microsoft.com/office/drawing/2014/main" id="{DAEFB7FB-FCF4-961E-F8B2-60F6D1FC14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6994" y="2127722"/>
            <a:ext cx="5742038" cy="2602555"/>
          </a:xfrm>
          <a:prstGeom prst="rect">
            <a:avLst/>
          </a:prstGeom>
          <a:ln>
            <a:noFill/>
          </a:ln>
          <a:effectLst>
            <a:softEdge rad="112500"/>
          </a:effectLst>
        </p:spPr>
      </p:pic>
    </p:spTree>
    <p:extLst>
      <p:ext uri="{BB962C8B-B14F-4D97-AF65-F5344CB8AC3E}">
        <p14:creationId xmlns:p14="http://schemas.microsoft.com/office/powerpoint/2010/main" val="227776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5BB4BE-611D-A8C2-2BDD-04160BC51F2D}"/>
              </a:ext>
            </a:extLst>
          </p:cNvPr>
          <p:cNvSpPr>
            <a:spLocks noGrp="1"/>
          </p:cNvSpPr>
          <p:nvPr>
            <p:ph idx="1"/>
          </p:nvPr>
        </p:nvSpPr>
        <p:spPr>
          <a:xfrm>
            <a:off x="1141412" y="98323"/>
            <a:ext cx="9905999" cy="6646606"/>
          </a:xfrm>
        </p:spPr>
        <p:txBody>
          <a:bodyPr>
            <a:normAutofit fontScale="85000" lnSpcReduction="20000"/>
          </a:bodyPr>
          <a:lstStyle/>
          <a:p>
            <a:pPr marL="0" indent="0">
              <a:buNone/>
            </a:pPr>
            <a:r>
              <a:rPr lang="en-IN" sz="2800" kern="100" dirty="0">
                <a:latin typeface="Calibri" panose="020F0502020204030204" pitchFamily="34" charset="0"/>
                <a:ea typeface="Calibri" panose="020F0502020204030204" pitchFamily="34" charset="0"/>
                <a:cs typeface="Times New Roman" panose="02020603050405020304" pitchFamily="18" charset="0"/>
              </a:rPr>
              <a:t>d) Data Information</a:t>
            </a:r>
          </a:p>
          <a:p>
            <a:pPr marL="0" indent="0">
              <a:buNone/>
            </a:pPr>
            <a:r>
              <a:rPr lang="en-IN" sz="2800" dirty="0">
                <a:effectLst/>
                <a:latin typeface="Calibri" panose="020F0502020204030204" pitchFamily="34" charset="0"/>
                <a:ea typeface="Calibri" panose="020F0502020204030204" pitchFamily="34" charset="0"/>
                <a:cs typeface="Times New Roman" panose="02020603050405020304" pitchFamily="18" charset="0"/>
              </a:rPr>
              <a:t>The dataset information is required to check the datatypes of each column and number of non-null values in each. </a:t>
            </a: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sz="2600" dirty="0">
                <a:effectLst/>
                <a:latin typeface="Calibri" panose="020F0502020204030204" pitchFamily="34" charset="0"/>
                <a:ea typeface="Calibri" panose="020F0502020204030204" pitchFamily="34" charset="0"/>
                <a:cs typeface="Times New Roman" panose="02020603050405020304" pitchFamily="18" charset="0"/>
              </a:rPr>
              <a:t>From the result , we understood that the dataset is stored efficiently with numeric variables as integers and categorical data(gender) as an object(string). This ensures the data is ready for further analysis.</a:t>
            </a:r>
            <a:endParaRPr lang="en-IN" sz="2600" dirty="0"/>
          </a:p>
        </p:txBody>
      </p:sp>
      <p:pic>
        <p:nvPicPr>
          <p:cNvPr id="5" name="Picture 4">
            <a:extLst>
              <a:ext uri="{FF2B5EF4-FFF2-40B4-BE49-F238E27FC236}">
                <a16:creationId xmlns:a16="http://schemas.microsoft.com/office/drawing/2014/main" id="{ED08C9E9-B83F-4809-C91F-E53FCC5118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4399" y="1425677"/>
            <a:ext cx="7583498" cy="3736258"/>
          </a:xfrm>
          <a:prstGeom prst="rect">
            <a:avLst/>
          </a:prstGeom>
        </p:spPr>
      </p:pic>
    </p:spTree>
    <p:extLst>
      <p:ext uri="{BB962C8B-B14F-4D97-AF65-F5344CB8AC3E}">
        <p14:creationId xmlns:p14="http://schemas.microsoft.com/office/powerpoint/2010/main" val="620769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5AE719-BDD1-186D-1578-E6DE48E6CA85}"/>
              </a:ext>
            </a:extLst>
          </p:cNvPr>
          <p:cNvSpPr>
            <a:spLocks noGrp="1"/>
          </p:cNvSpPr>
          <p:nvPr>
            <p:ph idx="1"/>
          </p:nvPr>
        </p:nvSpPr>
        <p:spPr>
          <a:xfrm>
            <a:off x="825910" y="0"/>
            <a:ext cx="10844980" cy="6607277"/>
          </a:xfrm>
        </p:spPr>
        <p:txBody>
          <a:bodyPr/>
          <a:lstStyle/>
          <a:p>
            <a:pPr marL="457200" indent="-457200">
              <a:buAutoNum type="alphaLcParenR" startAt="5"/>
            </a:pPr>
            <a:r>
              <a:rPr lang="en-US" dirty="0"/>
              <a:t>Data Renaming</a:t>
            </a:r>
            <a:r>
              <a:rPr lang="en-IN" dirty="0"/>
              <a:t>  </a:t>
            </a:r>
          </a:p>
          <a:p>
            <a:pPr marL="0" indent="0">
              <a:buNone/>
            </a:pPr>
            <a:r>
              <a:rPr lang="en-IN" dirty="0"/>
              <a:t>      </a:t>
            </a:r>
            <a:r>
              <a:rPr lang="en-IN" kern="100" dirty="0">
                <a:effectLst/>
                <a:latin typeface="Calibri" panose="020F0502020204030204" pitchFamily="34" charset="0"/>
                <a:ea typeface="Calibri" panose="020F0502020204030204" pitchFamily="34" charset="0"/>
                <a:cs typeface="Times New Roman" panose="02020603050405020304" pitchFamily="18" charset="0"/>
              </a:rPr>
              <a:t>Here we renamed  the columns “Annual Income(k$)” and “Spending Score(1-100)” to Annual Income and Spending Score for easy preference. </a:t>
            </a:r>
          </a:p>
          <a:p>
            <a:pPr marL="0" indent="0">
              <a:buNone/>
            </a:pPr>
            <a:endParaRPr lang="en-US" dirty="0"/>
          </a:p>
        </p:txBody>
      </p:sp>
      <p:pic>
        <p:nvPicPr>
          <p:cNvPr id="5" name="Picture 4">
            <a:extLst>
              <a:ext uri="{FF2B5EF4-FFF2-40B4-BE49-F238E27FC236}">
                <a16:creationId xmlns:a16="http://schemas.microsoft.com/office/drawing/2014/main" id="{29FDE670-DDEC-6C57-F18C-BA6944313D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8568" y="1809135"/>
            <a:ext cx="8701548" cy="4532672"/>
          </a:xfrm>
          <a:prstGeom prst="rect">
            <a:avLst/>
          </a:prstGeom>
        </p:spPr>
      </p:pic>
    </p:spTree>
    <p:extLst>
      <p:ext uri="{BB962C8B-B14F-4D97-AF65-F5344CB8AC3E}">
        <p14:creationId xmlns:p14="http://schemas.microsoft.com/office/powerpoint/2010/main" val="3706399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540B84-27A9-4226-CD46-141D580669A0}"/>
              </a:ext>
            </a:extLst>
          </p:cNvPr>
          <p:cNvSpPr>
            <a:spLocks noGrp="1"/>
          </p:cNvSpPr>
          <p:nvPr>
            <p:ph type="title"/>
          </p:nvPr>
        </p:nvSpPr>
        <p:spPr>
          <a:xfrm>
            <a:off x="1141413" y="78659"/>
            <a:ext cx="9905998" cy="1307690"/>
          </a:xfrm>
        </p:spPr>
        <p:txBody>
          <a:bodyPr>
            <a:normAutofit/>
          </a:bodyPr>
          <a:lstStyle/>
          <a:p>
            <a:r>
              <a:rPr lang="en-IN" b="1" dirty="0">
                <a:effectLst/>
                <a:latin typeface="Calibri" panose="020F0502020204030204" pitchFamily="34" charset="0"/>
                <a:ea typeface="Calibri" panose="020F0502020204030204" pitchFamily="34" charset="0"/>
                <a:cs typeface="Times New Roman" panose="02020603050405020304" pitchFamily="18" charset="0"/>
              </a:rPr>
              <a:t>Step 6 :Exploratory Data Analysis (EDA)</a:t>
            </a:r>
            <a:endParaRPr lang="en-IN" dirty="0"/>
          </a:p>
        </p:txBody>
      </p:sp>
      <p:sp>
        <p:nvSpPr>
          <p:cNvPr id="5" name="Content Placeholder 4">
            <a:extLst>
              <a:ext uri="{FF2B5EF4-FFF2-40B4-BE49-F238E27FC236}">
                <a16:creationId xmlns:a16="http://schemas.microsoft.com/office/drawing/2014/main" id="{403207CC-5C0A-D8F9-30E9-445E20E9FEDD}"/>
              </a:ext>
            </a:extLst>
          </p:cNvPr>
          <p:cNvSpPr>
            <a:spLocks noGrp="1"/>
          </p:cNvSpPr>
          <p:nvPr>
            <p:ph idx="1"/>
          </p:nvPr>
        </p:nvSpPr>
        <p:spPr>
          <a:xfrm>
            <a:off x="1141412" y="1150374"/>
            <a:ext cx="9905999" cy="5388078"/>
          </a:xfrm>
        </p:spPr>
        <p:txBody>
          <a:bodyPr/>
          <a:lstStyle/>
          <a:p>
            <a:pPr marL="457200" indent="-457200">
              <a:buAutoNum type="alphaLcParenR"/>
            </a:pPr>
            <a:r>
              <a:rPr lang="en-IN" kern="100" dirty="0">
                <a:latin typeface="Calibri" panose="020F0502020204030204" pitchFamily="34" charset="0"/>
                <a:ea typeface="Calibri" panose="020F0502020204030204" pitchFamily="34" charset="0"/>
                <a:cs typeface="Times New Roman" panose="02020603050405020304" pitchFamily="18" charset="0"/>
              </a:rPr>
              <a:t>Summary statistics </a:t>
            </a:r>
          </a:p>
          <a:p>
            <a:pPr marL="0" indent="0">
              <a:buNone/>
            </a:pPr>
            <a:r>
              <a:rPr lang="en-IN" kern="100"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buNone/>
            </a:pPr>
            <a:r>
              <a:rPr lang="en-IN"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dirty="0"/>
              <a:t>        </a:t>
            </a:r>
          </a:p>
        </p:txBody>
      </p:sp>
      <p:pic>
        <p:nvPicPr>
          <p:cNvPr id="7" name="Picture 6">
            <a:extLst>
              <a:ext uri="{FF2B5EF4-FFF2-40B4-BE49-F238E27FC236}">
                <a16:creationId xmlns:a16="http://schemas.microsoft.com/office/drawing/2014/main" id="{6E48A6B5-24B9-28BD-A598-6C1BC98E75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9807" y="1700980"/>
            <a:ext cx="9035846" cy="4837472"/>
          </a:xfrm>
          <a:prstGeom prst="rect">
            <a:avLst/>
          </a:prstGeom>
        </p:spPr>
      </p:pic>
    </p:spTree>
    <p:extLst>
      <p:ext uri="{BB962C8B-B14F-4D97-AF65-F5344CB8AC3E}">
        <p14:creationId xmlns:p14="http://schemas.microsoft.com/office/powerpoint/2010/main" val="3215675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298284-F0F5-342F-481E-8A17C08C452F}"/>
              </a:ext>
            </a:extLst>
          </p:cNvPr>
          <p:cNvSpPr>
            <a:spLocks noGrp="1"/>
          </p:cNvSpPr>
          <p:nvPr>
            <p:ph idx="1"/>
          </p:nvPr>
        </p:nvSpPr>
        <p:spPr>
          <a:xfrm>
            <a:off x="1141412" y="314632"/>
            <a:ext cx="9905999" cy="3923071"/>
          </a:xfrm>
        </p:spPr>
        <p:txBody>
          <a:bodyPr>
            <a:normAutofit/>
          </a:bodyPr>
          <a:lstStyle/>
          <a:p>
            <a:pPr marL="0" indent="0">
              <a:lnSpc>
                <a:spcPct val="107000"/>
              </a:lnSpc>
              <a:spcAft>
                <a:spcPts val="800"/>
              </a:spcAft>
              <a:buNone/>
            </a:pPr>
            <a:endParaRPr lang="en-US" dirty="0"/>
          </a:p>
          <a:p>
            <a:pPr marL="0" indent="0">
              <a:lnSpc>
                <a:spcPct val="107000"/>
              </a:lnSpc>
              <a:spcAft>
                <a:spcPts val="800"/>
              </a:spcAft>
              <a:buNone/>
            </a:pPr>
            <a:r>
              <a:rPr lang="en-US" dirty="0"/>
              <a:t>Here we generated summary statistics of the dataset . </a:t>
            </a:r>
            <a:r>
              <a:rPr lang="en-IN" kern="100" dirty="0">
                <a:effectLst/>
                <a:latin typeface="Calibri" panose="020F0502020204030204" pitchFamily="34" charset="0"/>
                <a:ea typeface="Calibri" panose="020F0502020204030204" pitchFamily="34" charset="0"/>
                <a:cs typeface="Times New Roman" panose="02020603050405020304" pitchFamily="18" charset="0"/>
              </a:rPr>
              <a:t>It describes about the count which counts the no of rows in it, mean of the columns, standard deviations, maximum and minimum and percentiles etc. From the statistics </a:t>
            </a:r>
          </a:p>
          <a:p>
            <a:pPr>
              <a:lnSpc>
                <a:spcPct val="107000"/>
              </a:lnSpc>
              <a:spcAft>
                <a:spcPts val="800"/>
              </a:spcAft>
            </a:pPr>
            <a:r>
              <a:rPr lang="en-IN" kern="100" dirty="0">
                <a:effectLst/>
                <a:latin typeface="Calibri" panose="020F0502020204030204" pitchFamily="34" charset="0"/>
                <a:ea typeface="Calibri" panose="020F0502020204030204" pitchFamily="34" charset="0"/>
                <a:cs typeface="Times New Roman" panose="02020603050405020304" pitchFamily="18" charset="0"/>
              </a:rPr>
              <a:t>The mean age of customers is 38.85 years.</a:t>
            </a:r>
          </a:p>
          <a:p>
            <a:pPr>
              <a:lnSpc>
                <a:spcPct val="107000"/>
              </a:lnSpc>
              <a:spcAft>
                <a:spcPts val="800"/>
              </a:spcAft>
            </a:pPr>
            <a:r>
              <a:rPr lang="en-IN" kern="100" dirty="0">
                <a:effectLst/>
                <a:latin typeface="Calibri" panose="020F0502020204030204" pitchFamily="34" charset="0"/>
                <a:ea typeface="Calibri" panose="020F0502020204030204" pitchFamily="34" charset="0"/>
                <a:cs typeface="Times New Roman" panose="02020603050405020304" pitchFamily="18" charset="0"/>
              </a:rPr>
              <a:t>The average annual income is $60.56k</a:t>
            </a:r>
          </a:p>
          <a:p>
            <a:pPr>
              <a:lnSpc>
                <a:spcPct val="107000"/>
              </a:lnSpc>
              <a:spcAft>
                <a:spcPts val="800"/>
              </a:spcAft>
            </a:pPr>
            <a:r>
              <a:rPr lang="en-IN" kern="100" dirty="0">
                <a:effectLst/>
                <a:latin typeface="Calibri" panose="020F0502020204030204" pitchFamily="34" charset="0"/>
                <a:ea typeface="Calibri" panose="020F0502020204030204" pitchFamily="34" charset="0"/>
                <a:cs typeface="Times New Roman" panose="02020603050405020304" pitchFamily="18" charset="0"/>
              </a:rPr>
              <a:t>The average spending score is 50.20</a:t>
            </a:r>
          </a:p>
          <a:p>
            <a:pPr marL="0" indent="0">
              <a:buNone/>
            </a:pPr>
            <a:endParaRPr lang="en-IN" dirty="0"/>
          </a:p>
        </p:txBody>
      </p:sp>
    </p:spTree>
    <p:extLst>
      <p:ext uri="{BB962C8B-B14F-4D97-AF65-F5344CB8AC3E}">
        <p14:creationId xmlns:p14="http://schemas.microsoft.com/office/powerpoint/2010/main" val="2477184716"/>
      </p:ext>
    </p:extLst>
  </p:cSld>
  <p:clrMapOvr>
    <a:masterClrMapping/>
  </p:clrMapOvr>
  <p:transition spd="slow">
    <p:randomBar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B7DF85-6375-022B-581B-B5466079B6BA}"/>
              </a:ext>
            </a:extLst>
          </p:cNvPr>
          <p:cNvSpPr>
            <a:spLocks noGrp="1"/>
          </p:cNvSpPr>
          <p:nvPr>
            <p:ph idx="1"/>
          </p:nvPr>
        </p:nvSpPr>
        <p:spPr>
          <a:xfrm>
            <a:off x="540774" y="117986"/>
            <a:ext cx="10506637" cy="6508955"/>
          </a:xfrm>
        </p:spPr>
        <p:txBody>
          <a:bodyPr>
            <a:normAutofit/>
          </a:bodyPr>
          <a:lstStyle/>
          <a:p>
            <a:pPr marL="0" indent="0">
              <a:buNone/>
            </a:pPr>
            <a:r>
              <a:rPr lang="en-US" dirty="0"/>
              <a:t>b) Gender Distribution</a:t>
            </a:r>
          </a:p>
          <a:p>
            <a:pPr marL="0" indent="0">
              <a:buNone/>
            </a:pPr>
            <a:r>
              <a:rPr lang="en-US" dirty="0"/>
              <a:t>          Now we can visualize and understand the distribution of customers by gender , for this count plot is used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gn="l">
              <a:buNone/>
            </a:pPr>
            <a:endParaRPr lang="en-US" dirty="0"/>
          </a:p>
          <a:p>
            <a:pPr marL="0" indent="0" algn="l">
              <a:buNone/>
            </a:pPr>
            <a:r>
              <a:rPr lang="en-US" dirty="0"/>
              <a:t>It is observed that females purchases more than male customers. </a:t>
            </a:r>
          </a:p>
          <a:p>
            <a:pPr marL="0" indent="0">
              <a:buNone/>
            </a:pPr>
            <a:endParaRPr lang="en-US" dirty="0"/>
          </a:p>
          <a:p>
            <a:pPr marL="0" indent="0">
              <a:buNone/>
            </a:pPr>
            <a:endParaRPr lang="en-IN" dirty="0"/>
          </a:p>
        </p:txBody>
      </p:sp>
      <p:pic>
        <p:nvPicPr>
          <p:cNvPr id="5" name="Picture 4">
            <a:extLst>
              <a:ext uri="{FF2B5EF4-FFF2-40B4-BE49-F238E27FC236}">
                <a16:creationId xmlns:a16="http://schemas.microsoft.com/office/drawing/2014/main" id="{37515244-501B-D930-B5B5-AB87701E7F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4311" y="1651819"/>
            <a:ext cx="6705600" cy="3795252"/>
          </a:xfrm>
          <a:prstGeom prst="rect">
            <a:avLst/>
          </a:prstGeom>
        </p:spPr>
      </p:pic>
    </p:spTree>
    <p:extLst>
      <p:ext uri="{BB962C8B-B14F-4D97-AF65-F5344CB8AC3E}">
        <p14:creationId xmlns:p14="http://schemas.microsoft.com/office/powerpoint/2010/main" val="226314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A0A5DA-6235-9C51-550C-F45D052FA648}"/>
              </a:ext>
            </a:extLst>
          </p:cNvPr>
          <p:cNvSpPr>
            <a:spLocks noGrp="1"/>
          </p:cNvSpPr>
          <p:nvPr>
            <p:ph idx="1"/>
          </p:nvPr>
        </p:nvSpPr>
        <p:spPr>
          <a:xfrm>
            <a:off x="1141412" y="167148"/>
            <a:ext cx="9905999" cy="6312310"/>
          </a:xfrm>
        </p:spPr>
        <p:txBody>
          <a:bodyPr>
            <a:normAutofit fontScale="25000" lnSpcReduction="20000"/>
          </a:bodyPr>
          <a:lstStyle/>
          <a:p>
            <a:pPr marL="0" indent="0">
              <a:buNone/>
            </a:pPr>
            <a:r>
              <a:rPr lang="en-US" sz="9600" dirty="0"/>
              <a:t>c) Age distribution</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sz="5100" dirty="0"/>
          </a:p>
          <a:p>
            <a:pPr marL="0" indent="0">
              <a:buNone/>
            </a:pPr>
            <a:endParaRPr lang="en-US" sz="9600" dirty="0"/>
          </a:p>
          <a:p>
            <a:pPr marL="0" indent="0">
              <a:buNone/>
            </a:pPr>
            <a:r>
              <a:rPr lang="en-US" sz="9600" dirty="0"/>
              <a:t>Here we used </a:t>
            </a:r>
            <a:r>
              <a:rPr lang="en-US" sz="9600" dirty="0" err="1"/>
              <a:t>distplot</a:t>
            </a:r>
            <a:r>
              <a:rPr lang="en-US" sz="9600" dirty="0"/>
              <a:t> to analyze the distribution of age in customers. It is clear that </a:t>
            </a:r>
            <a:r>
              <a:rPr lang="en-IN" sz="9600" dirty="0">
                <a:effectLst/>
                <a:latin typeface="Calibri" panose="020F0502020204030204" pitchFamily="34" charset="0"/>
                <a:ea typeface="Calibri" panose="020F0502020204030204" pitchFamily="34" charset="0"/>
                <a:cs typeface="Times New Roman" panose="02020603050405020304" pitchFamily="18" charset="0"/>
              </a:rPr>
              <a:t>the age varies  from nearly 20 to 70 years. The highest count indicates that customers  between  the age group 30-40 years are more . Our customers are young or middle aged. Here the plot is right-skewed which means more young customers than older customers</a:t>
            </a:r>
            <a:r>
              <a:rPr lang="en-IN" sz="5100" dirty="0">
                <a:effectLst/>
                <a:latin typeface="Calibri" panose="020F0502020204030204" pitchFamily="34" charset="0"/>
                <a:ea typeface="Calibri" panose="020F0502020204030204" pitchFamily="34" charset="0"/>
                <a:cs typeface="Times New Roman" panose="02020603050405020304" pitchFamily="18" charset="0"/>
              </a:rPr>
              <a:t>.</a:t>
            </a:r>
            <a:endParaRPr lang="en-US" sz="5100" dirty="0"/>
          </a:p>
          <a:p>
            <a:pPr marL="0" indent="0">
              <a:buNone/>
            </a:pPr>
            <a:r>
              <a:rPr lang="en-US" sz="5100" dirty="0"/>
              <a:t>        </a:t>
            </a:r>
            <a:endParaRPr lang="en-IN" sz="5100" dirty="0"/>
          </a:p>
        </p:txBody>
      </p:sp>
      <p:pic>
        <p:nvPicPr>
          <p:cNvPr id="4" name="Picture 3">
            <a:extLst>
              <a:ext uri="{FF2B5EF4-FFF2-40B4-BE49-F238E27FC236}">
                <a16:creationId xmlns:a16="http://schemas.microsoft.com/office/drawing/2014/main" id="{B96FFC2E-A32A-FE6A-7171-6EC7F22190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0684" y="737418"/>
            <a:ext cx="6699094" cy="3746091"/>
          </a:xfrm>
          <a:prstGeom prst="rect">
            <a:avLst/>
          </a:prstGeom>
          <a:ln>
            <a:noFill/>
          </a:ln>
          <a:effectLst>
            <a:softEdge rad="112500"/>
          </a:effectLst>
        </p:spPr>
      </p:pic>
    </p:spTree>
    <p:extLst>
      <p:ext uri="{BB962C8B-B14F-4D97-AF65-F5344CB8AC3E}">
        <p14:creationId xmlns:p14="http://schemas.microsoft.com/office/powerpoint/2010/main" val="1662768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742A08-BF8B-E9F9-0DF5-477EE7AAC02C}"/>
              </a:ext>
            </a:extLst>
          </p:cNvPr>
          <p:cNvSpPr>
            <a:spLocks noGrp="1"/>
          </p:cNvSpPr>
          <p:nvPr>
            <p:ph idx="1"/>
          </p:nvPr>
        </p:nvSpPr>
        <p:spPr>
          <a:xfrm>
            <a:off x="1141412" y="176980"/>
            <a:ext cx="9905999" cy="6538451"/>
          </a:xfrm>
        </p:spPr>
        <p:txBody>
          <a:bodyPr>
            <a:normAutofit fontScale="70000" lnSpcReduction="20000"/>
          </a:bodyPr>
          <a:lstStyle/>
          <a:p>
            <a:pPr marL="0" indent="0">
              <a:buNone/>
            </a:pPr>
            <a:r>
              <a:rPr lang="en-US" sz="3400" dirty="0"/>
              <a:t>d) Annual income distribution</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sz="3400" kern="100" dirty="0">
                <a:effectLst/>
                <a:latin typeface="Calibri" panose="020F0502020204030204" pitchFamily="34" charset="0"/>
                <a:ea typeface="Calibri" panose="020F0502020204030204" pitchFamily="34" charset="0"/>
                <a:cs typeface="Times New Roman" panose="02020603050405020304" pitchFamily="18" charset="0"/>
              </a:rPr>
              <a:t>From the plot, the income varies  from nearly 25 to 125 k$. The highest count indicates that  common income of majority of customers is 50k$ . Here the plot is right-skewed which means most of them have lower or moderate income and some of them have higher income.</a:t>
            </a:r>
          </a:p>
          <a:p>
            <a:pPr marL="0" indent="0">
              <a:buNone/>
            </a:pPr>
            <a:r>
              <a:rPr lang="en-US" sz="3400" dirty="0"/>
              <a:t>              </a:t>
            </a:r>
            <a:endParaRPr lang="en-IN" sz="3400" dirty="0"/>
          </a:p>
        </p:txBody>
      </p:sp>
      <p:pic>
        <p:nvPicPr>
          <p:cNvPr id="9" name="Picture 8">
            <a:extLst>
              <a:ext uri="{FF2B5EF4-FFF2-40B4-BE49-F238E27FC236}">
                <a16:creationId xmlns:a16="http://schemas.microsoft.com/office/drawing/2014/main" id="{C03353C5-61BB-4B05-18B7-F510DD766E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3303" y="688258"/>
            <a:ext cx="6076335" cy="3765755"/>
          </a:xfrm>
          <a:prstGeom prst="rect">
            <a:avLst/>
          </a:prstGeom>
        </p:spPr>
      </p:pic>
    </p:spTree>
    <p:extLst>
      <p:ext uri="{BB962C8B-B14F-4D97-AF65-F5344CB8AC3E}">
        <p14:creationId xmlns:p14="http://schemas.microsoft.com/office/powerpoint/2010/main" val="927916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B600B4-CE58-1C73-52F2-9A32DC51EC3D}"/>
              </a:ext>
            </a:extLst>
          </p:cNvPr>
          <p:cNvSpPr>
            <a:spLocks noGrp="1"/>
          </p:cNvSpPr>
          <p:nvPr>
            <p:ph idx="1"/>
          </p:nvPr>
        </p:nvSpPr>
        <p:spPr>
          <a:xfrm>
            <a:off x="1141412" y="196645"/>
            <a:ext cx="9905999" cy="6479458"/>
          </a:xfrm>
        </p:spPr>
        <p:txBody>
          <a:bodyPr>
            <a:normAutofit lnSpcReduction="10000"/>
          </a:bodyPr>
          <a:lstStyle/>
          <a:p>
            <a:pPr marL="0" indent="0">
              <a:buNone/>
            </a:pPr>
            <a:r>
              <a:rPr lang="en-US" dirty="0"/>
              <a:t>e) Spending score distribution</a:t>
            </a:r>
          </a:p>
          <a:p>
            <a:pPr marL="0" indent="0">
              <a:buNone/>
            </a:pPr>
            <a:r>
              <a:rPr lang="en-US" dirty="0"/>
              <a:t>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IN" kern="100" dirty="0">
                <a:effectLst/>
                <a:latin typeface="Calibri" panose="020F0502020204030204" pitchFamily="34" charset="0"/>
                <a:ea typeface="Calibri" panose="020F0502020204030204" pitchFamily="34" charset="0"/>
                <a:cs typeface="Times New Roman" panose="02020603050405020304" pitchFamily="18" charset="0"/>
              </a:rPr>
              <a:t>From the plot, the spending score ranges  from  0-100. The plot shows a significant number of customers have spending scores between 40 and 60, which means that many customers fall within this behaviour category. In this plot fewer customers have either very low(below 20) or very high spending score(above 100).</a:t>
            </a:r>
          </a:p>
          <a:p>
            <a:pPr marL="0" indent="0">
              <a:buNone/>
            </a:pPr>
            <a:endParaRPr lang="en-US" dirty="0"/>
          </a:p>
          <a:p>
            <a:pPr marL="0" indent="0">
              <a:buNone/>
            </a:pPr>
            <a:endParaRPr lang="en-IN" dirty="0"/>
          </a:p>
        </p:txBody>
      </p:sp>
      <p:pic>
        <p:nvPicPr>
          <p:cNvPr id="5" name="Picture 4">
            <a:extLst>
              <a:ext uri="{FF2B5EF4-FFF2-40B4-BE49-F238E27FC236}">
                <a16:creationId xmlns:a16="http://schemas.microsoft.com/office/drawing/2014/main" id="{108A230D-6932-03EC-2D9D-28D591008B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8335" y="668594"/>
            <a:ext cx="6715433" cy="368709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72356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E3C9DD-963D-8D97-CA91-B45407C46E41}"/>
              </a:ext>
            </a:extLst>
          </p:cNvPr>
          <p:cNvSpPr>
            <a:spLocks noGrp="1"/>
          </p:cNvSpPr>
          <p:nvPr>
            <p:ph idx="1"/>
          </p:nvPr>
        </p:nvSpPr>
        <p:spPr>
          <a:xfrm>
            <a:off x="973394" y="0"/>
            <a:ext cx="10074017" cy="6725265"/>
          </a:xfrm>
        </p:spPr>
        <p:txBody>
          <a:bodyPr>
            <a:normAutofit/>
          </a:bodyPr>
          <a:lstStyle/>
          <a:p>
            <a:pPr marL="0" indent="0">
              <a:buNone/>
            </a:pPr>
            <a:r>
              <a:rPr lang="en-US" dirty="0"/>
              <a:t>g) Correlation Analysis </a:t>
            </a:r>
          </a:p>
          <a:p>
            <a:pPr marL="0" indent="0">
              <a:buNone/>
            </a:pP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A correlation matrix  is a table showing correlations between variables.</a:t>
            </a: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A heatmap is generated to visualize a correlation matrix to observe the correlation between Age, Annual Income, and Spending Score, indicating which variables are most related.</a:t>
            </a:r>
          </a:p>
          <a:p>
            <a:pPr marL="0" indent="0">
              <a:buNone/>
            </a:pP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kern="100" dirty="0">
                <a:effectLst/>
                <a:latin typeface="Calibri" panose="020F0502020204030204" pitchFamily="34" charset="0"/>
                <a:ea typeface="Calibri" panose="020F0502020204030204" pitchFamily="34" charset="0"/>
                <a:cs typeface="Times New Roman" panose="02020603050405020304" pitchFamily="18" charset="0"/>
              </a:rPr>
              <a:t>Based on correlation analysis , we get annual income and spending score correlates to each other with a good score. </a:t>
            </a:r>
          </a:p>
          <a:p>
            <a:pPr marL="0" indent="0">
              <a:buNone/>
            </a:pPr>
            <a:endParaRPr lang="en-IN" dirty="0"/>
          </a:p>
        </p:txBody>
      </p:sp>
      <p:pic>
        <p:nvPicPr>
          <p:cNvPr id="5" name="Picture 4">
            <a:extLst>
              <a:ext uri="{FF2B5EF4-FFF2-40B4-BE49-F238E27FC236}">
                <a16:creationId xmlns:a16="http://schemas.microsoft.com/office/drawing/2014/main" id="{E4B11E49-70B0-1D40-C66D-FC06C40130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2298" y="1774722"/>
            <a:ext cx="5987846" cy="3706761"/>
          </a:xfrm>
          <a:prstGeom prst="rect">
            <a:avLst/>
          </a:prstGeom>
        </p:spPr>
      </p:pic>
    </p:spTree>
    <p:extLst>
      <p:ext uri="{BB962C8B-B14F-4D97-AF65-F5344CB8AC3E}">
        <p14:creationId xmlns:p14="http://schemas.microsoft.com/office/powerpoint/2010/main" val="4229220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973736-252C-DE54-7C12-69565F93BD15}"/>
              </a:ext>
            </a:extLst>
          </p:cNvPr>
          <p:cNvSpPr>
            <a:spLocks noGrp="1"/>
          </p:cNvSpPr>
          <p:nvPr>
            <p:ph idx="1"/>
          </p:nvPr>
        </p:nvSpPr>
        <p:spPr>
          <a:xfrm>
            <a:off x="393290" y="216310"/>
            <a:ext cx="10654121" cy="6518787"/>
          </a:xfrm>
        </p:spPr>
        <p:txBody>
          <a:bodyPr>
            <a:normAutofit/>
          </a:bodyPr>
          <a:lstStyle/>
          <a:p>
            <a:pPr marL="0" indent="0">
              <a:buNone/>
            </a:pPr>
            <a:r>
              <a:rPr lang="en-US" dirty="0"/>
              <a:t>h) </a:t>
            </a:r>
            <a:r>
              <a:rPr lang="en-IN" b="1" dirty="0">
                <a:effectLst/>
                <a:latin typeface="Calibri" panose="020F0502020204030204" pitchFamily="34" charset="0"/>
                <a:ea typeface="Calibri" panose="020F0502020204030204" pitchFamily="34" charset="0"/>
                <a:cs typeface="Times New Roman" panose="02020603050405020304" pitchFamily="18" charset="0"/>
              </a:rPr>
              <a:t>Comparison  between Gender and Spending Score </a:t>
            </a:r>
          </a:p>
          <a:p>
            <a:pPr marL="0" indent="0">
              <a:buNone/>
            </a:pPr>
            <a:r>
              <a:rPr lang="en-IN" b="1" dirty="0">
                <a:latin typeface="Calibri" panose="020F0502020204030204" pitchFamily="34" charset="0"/>
                <a:ea typeface="Calibri" panose="020F0502020204030204" pitchFamily="34" charset="0"/>
                <a:cs typeface="Times New Roman" panose="02020603050405020304" pitchFamily="18" charset="0"/>
              </a:rPr>
              <a:t>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kern="100" dirty="0">
                <a:effectLst/>
                <a:latin typeface="Calibri" panose="020F0502020204030204" pitchFamily="34" charset="0"/>
                <a:ea typeface="Calibri" panose="020F0502020204030204" pitchFamily="34" charset="0"/>
                <a:cs typeface="Times New Roman" panose="02020603050405020304" pitchFamily="18" charset="0"/>
              </a:rPr>
              <a:t>To  understand the difference in spending score between  male and females, we generate a violin plot .</a:t>
            </a:r>
          </a:p>
          <a:p>
            <a:pPr marL="0" indent="0">
              <a:buNone/>
            </a:pP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kern="100" dirty="0">
                <a:effectLst/>
                <a:latin typeface="Calibri" panose="020F0502020204030204" pitchFamily="34" charset="0"/>
                <a:ea typeface="Calibri" panose="020F0502020204030204" pitchFamily="34" charset="0"/>
                <a:cs typeface="Times New Roman" panose="02020603050405020304" pitchFamily="18" charset="0"/>
              </a:rPr>
              <a:t>From the plot it clear that females have more spending score than males. That is females spends more  in purchasing than men.</a:t>
            </a:r>
          </a:p>
          <a:p>
            <a:pPr marL="0" indent="0">
              <a:buNone/>
            </a:pP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pic>
        <p:nvPicPr>
          <p:cNvPr id="5" name="Picture 4">
            <a:extLst>
              <a:ext uri="{FF2B5EF4-FFF2-40B4-BE49-F238E27FC236}">
                <a16:creationId xmlns:a16="http://schemas.microsoft.com/office/drawing/2014/main" id="{0AD4B183-EE6E-1CA7-6982-CD0CA6BA37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44414" y="1590368"/>
            <a:ext cx="5820697" cy="3677264"/>
          </a:xfrm>
          <a:prstGeom prst="rect">
            <a:avLst/>
          </a:prstGeom>
        </p:spPr>
      </p:pic>
    </p:spTree>
    <p:extLst>
      <p:ext uri="{BB962C8B-B14F-4D97-AF65-F5344CB8AC3E}">
        <p14:creationId xmlns:p14="http://schemas.microsoft.com/office/powerpoint/2010/main" val="3908971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17A5E1-488D-8540-05C4-43FFC64AB5D0}"/>
              </a:ext>
            </a:extLst>
          </p:cNvPr>
          <p:cNvSpPr>
            <a:spLocks noGrp="1"/>
          </p:cNvSpPr>
          <p:nvPr>
            <p:ph idx="1"/>
          </p:nvPr>
        </p:nvSpPr>
        <p:spPr>
          <a:xfrm>
            <a:off x="1141412" y="167148"/>
            <a:ext cx="9905999" cy="6518787"/>
          </a:xfrm>
        </p:spPr>
        <p:txBody>
          <a:bodyPr>
            <a:normAutofit/>
          </a:bodyPr>
          <a:lstStyle/>
          <a:p>
            <a:pPr marL="0" indent="0">
              <a:buNone/>
            </a:pPr>
            <a:r>
              <a:rPr lang="en-US" sz="2600" dirty="0" err="1"/>
              <a:t>i</a:t>
            </a:r>
            <a:r>
              <a:rPr lang="en-US" sz="2600" dirty="0"/>
              <a:t>) </a:t>
            </a:r>
            <a:r>
              <a:rPr lang="en-IN" sz="2600" b="1" kern="100" dirty="0">
                <a:effectLst/>
                <a:latin typeface="Calibri" panose="020F0502020204030204" pitchFamily="34" charset="0"/>
                <a:ea typeface="Calibri" panose="020F0502020204030204" pitchFamily="34" charset="0"/>
                <a:cs typeface="Times New Roman" panose="02020603050405020304" pitchFamily="18" charset="0"/>
              </a:rPr>
              <a:t>Comparison  between Gender and Annual Income</a:t>
            </a:r>
          </a:p>
          <a:p>
            <a:pPr marL="0" indent="0">
              <a:buNone/>
            </a:pP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dirty="0">
                <a:latin typeface="Calibri" panose="020F0502020204030204" pitchFamily="34" charset="0"/>
                <a:ea typeface="Calibri" panose="020F0502020204030204" pitchFamily="34" charset="0"/>
                <a:cs typeface="Times New Roman" panose="02020603050405020304" pitchFamily="18" charset="0"/>
              </a:rPr>
              <a:t>Violin plot is</a:t>
            </a:r>
            <a:r>
              <a:rPr lang="en-IN" dirty="0">
                <a:effectLst/>
                <a:latin typeface="Calibri" panose="020F0502020204030204" pitchFamily="34" charset="0"/>
                <a:ea typeface="Calibri" panose="020F0502020204030204" pitchFamily="34" charset="0"/>
                <a:cs typeface="Times New Roman" panose="02020603050405020304" pitchFamily="18" charset="0"/>
              </a:rPr>
              <a:t> used  to compare the distribution of different numerical features across customer segments. </a:t>
            </a:r>
            <a:r>
              <a:rPr lang="en-IN" kern="100" dirty="0">
                <a:effectLst/>
                <a:latin typeface="Calibri" panose="020F0502020204030204" pitchFamily="34" charset="0"/>
                <a:ea typeface="Calibri" panose="020F0502020204030204" pitchFamily="34" charset="0"/>
                <a:cs typeface="Times New Roman" panose="02020603050405020304" pitchFamily="18" charset="0"/>
              </a:rPr>
              <a:t>The plot shows males have more annual income than female. Which means the salary of male is higher than that of female. </a:t>
            </a:r>
          </a:p>
          <a:p>
            <a:pPr marL="0" indent="0">
              <a:buNone/>
            </a:pPr>
            <a:r>
              <a:rPr lang="en-IN" dirty="0"/>
              <a:t>        </a:t>
            </a:r>
          </a:p>
        </p:txBody>
      </p:sp>
      <p:pic>
        <p:nvPicPr>
          <p:cNvPr id="5" name="Picture 4">
            <a:extLst>
              <a:ext uri="{FF2B5EF4-FFF2-40B4-BE49-F238E27FC236}">
                <a16:creationId xmlns:a16="http://schemas.microsoft.com/office/drawing/2014/main" id="{8E5A9294-3DA6-0779-3A88-DA91E0C212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8374" y="816077"/>
            <a:ext cx="4748980" cy="3588774"/>
          </a:xfrm>
          <a:prstGeom prst="rect">
            <a:avLst/>
          </a:prstGeom>
        </p:spPr>
      </p:pic>
    </p:spTree>
    <p:extLst>
      <p:ext uri="{BB962C8B-B14F-4D97-AF65-F5344CB8AC3E}">
        <p14:creationId xmlns:p14="http://schemas.microsoft.com/office/powerpoint/2010/main" val="98177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7BA31-847D-BEFB-23D8-8E2CE62B2E3D}"/>
              </a:ext>
            </a:extLst>
          </p:cNvPr>
          <p:cNvSpPr>
            <a:spLocks noGrp="1"/>
          </p:cNvSpPr>
          <p:nvPr>
            <p:ph idx="1"/>
          </p:nvPr>
        </p:nvSpPr>
        <p:spPr>
          <a:xfrm>
            <a:off x="452284" y="255639"/>
            <a:ext cx="10595127" cy="6449962"/>
          </a:xfrm>
        </p:spPr>
        <p:txBody>
          <a:bodyPr>
            <a:normAutofit fontScale="25000" lnSpcReduction="20000"/>
          </a:bodyPr>
          <a:lstStyle/>
          <a:p>
            <a:pPr marL="0" indent="0">
              <a:buNone/>
            </a:pPr>
            <a:r>
              <a:rPr lang="en-US" sz="9600" dirty="0"/>
              <a:t>J) </a:t>
            </a:r>
            <a:r>
              <a:rPr lang="en-IN" sz="9600" b="1" dirty="0">
                <a:effectLst/>
                <a:latin typeface="Calibri" panose="020F0502020204030204" pitchFamily="34" charset="0"/>
                <a:ea typeface="Calibri" panose="020F0502020204030204" pitchFamily="34" charset="0"/>
                <a:cs typeface="Times New Roman" panose="02020603050405020304" pitchFamily="18" charset="0"/>
              </a:rPr>
              <a:t>Comparison  between Gender and Age</a:t>
            </a:r>
          </a:p>
          <a:p>
            <a:pPr marL="0" indent="0">
              <a:buNone/>
            </a:pPr>
            <a:r>
              <a:rPr lang="en-IN" sz="9600" b="1" dirty="0">
                <a:latin typeface="Calibri" panose="020F0502020204030204" pitchFamily="34" charset="0"/>
                <a:ea typeface="Calibri" panose="020F0502020204030204" pitchFamily="34" charset="0"/>
                <a:cs typeface="Times New Roman" panose="02020603050405020304" pitchFamily="18" charset="0"/>
              </a:rPr>
              <a:t>        </a:t>
            </a:r>
            <a:r>
              <a:rPr lang="en-IN" sz="9600" dirty="0">
                <a:latin typeface="Calibri" panose="020F0502020204030204" pitchFamily="34" charset="0"/>
                <a:ea typeface="Calibri" panose="020F0502020204030204" pitchFamily="34" charset="0"/>
                <a:cs typeface="Times New Roman" panose="02020603050405020304" pitchFamily="18" charset="0"/>
              </a:rPr>
              <a:t>To understand the relationship between gender and age we use box plot. </a:t>
            </a:r>
            <a:r>
              <a:rPr lang="en-IN" sz="9600" dirty="0">
                <a:effectLst/>
                <a:latin typeface="Calibri" panose="020F0502020204030204" pitchFamily="34" charset="0"/>
                <a:ea typeface="Calibri" panose="020F0502020204030204" pitchFamily="34" charset="0"/>
                <a:cs typeface="Times New Roman" panose="02020603050405020304" pitchFamily="18" charset="0"/>
              </a:rPr>
              <a:t>A box plot, also known as a whisker plot, provides a summary of the data's five-number summary: minimum, first quartile (Q1), median, third quartile (Q3), and maximum. </a:t>
            </a:r>
            <a:endParaRPr lang="en-IN" sz="96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9600" b="1"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9600" b="1"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9600" b="1"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9600" b="1"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9600" b="1"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9600" b="1"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9600" b="1"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IN" sz="5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IN" sz="5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IN" sz="5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buNone/>
            </a:pP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dirty="0">
                <a:latin typeface="Calibri" panose="020F0502020204030204" pitchFamily="34" charset="0"/>
                <a:ea typeface="Calibri" panose="020F0502020204030204" pitchFamily="34" charset="0"/>
                <a:cs typeface="Times New Roman" panose="02020603050405020304" pitchFamily="18" charset="0"/>
              </a:rPr>
              <a:t>  </a:t>
            </a:r>
            <a:endParaRPr lang="en-IN" dirty="0"/>
          </a:p>
        </p:txBody>
      </p:sp>
      <p:pic>
        <p:nvPicPr>
          <p:cNvPr id="5" name="Picture 4">
            <a:extLst>
              <a:ext uri="{FF2B5EF4-FFF2-40B4-BE49-F238E27FC236}">
                <a16:creationId xmlns:a16="http://schemas.microsoft.com/office/drawing/2014/main" id="{2A62C7B9-3BCB-10C9-A2DD-57868C0AD1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2025" y="2295834"/>
            <a:ext cx="6056671" cy="4114797"/>
          </a:xfrm>
          <a:prstGeom prst="rect">
            <a:avLst/>
          </a:prstGeom>
        </p:spPr>
      </p:pic>
    </p:spTree>
    <p:extLst>
      <p:ext uri="{BB962C8B-B14F-4D97-AF65-F5344CB8AC3E}">
        <p14:creationId xmlns:p14="http://schemas.microsoft.com/office/powerpoint/2010/main" val="2325107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C3D7BB-01E3-BA25-84BC-784DE5DD6DE2}"/>
              </a:ext>
            </a:extLst>
          </p:cNvPr>
          <p:cNvSpPr>
            <a:spLocks noGrp="1"/>
          </p:cNvSpPr>
          <p:nvPr>
            <p:ph idx="1"/>
          </p:nvPr>
        </p:nvSpPr>
        <p:spPr>
          <a:xfrm>
            <a:off x="1141412" y="825909"/>
            <a:ext cx="9905999" cy="5407743"/>
          </a:xfrm>
        </p:spPr>
        <p:txBody>
          <a:bodyPr/>
          <a:lstStyle/>
          <a:p>
            <a:pPr marL="0" indent="0">
              <a:buNone/>
            </a:pPr>
            <a:r>
              <a:rPr lang="en-IN" sz="2400" dirty="0">
                <a:latin typeface="Calibri" panose="020F0502020204030204" pitchFamily="34" charset="0"/>
                <a:ea typeface="Calibri" panose="020F0502020204030204" pitchFamily="34" charset="0"/>
                <a:cs typeface="Times New Roman" panose="02020603050405020304" pitchFamily="18" charset="0"/>
              </a:rPr>
              <a:t>In the plot the median is quite similar for male and female (35-40 years)</a:t>
            </a:r>
            <a:r>
              <a:rPr lang="en-IN" dirty="0">
                <a:latin typeface="Calibri" panose="020F0502020204030204" pitchFamily="34" charset="0"/>
                <a:ea typeface="Calibri" panose="020F0502020204030204" pitchFamily="34" charset="0"/>
                <a:cs typeface="Times New Roman" panose="02020603050405020304" pitchFamily="18" charset="0"/>
              </a:rPr>
              <a:t>  </a:t>
            </a:r>
            <a:r>
              <a:rPr lang="en-IN" b="1" dirty="0">
                <a:latin typeface="Calibri" panose="020F0502020204030204" pitchFamily="34" charset="0"/>
                <a:ea typeface="Calibri" panose="020F0502020204030204" pitchFamily="34" charset="0"/>
                <a:cs typeface="Times New Roman" panose="02020603050405020304" pitchFamily="18" charset="0"/>
              </a:rPr>
              <a:t>  .</a:t>
            </a:r>
            <a:r>
              <a:rPr lang="en-IN" sz="8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Calibri" panose="020F0502020204030204" pitchFamily="34" charset="0"/>
                <a:ea typeface="Calibri" panose="020F0502020204030204" pitchFamily="34" charset="0"/>
                <a:cs typeface="Times New Roman" panose="02020603050405020304" pitchFamily="18" charset="0"/>
              </a:rPr>
              <a:t>The interquartile range of both gender are around in 30-50 years range. The maximum and minimum for both customers are 20 and 70 years. </a:t>
            </a:r>
          </a:p>
          <a:p>
            <a:pPr marL="0" indent="0">
              <a:buNone/>
            </a:pPr>
            <a:r>
              <a:rPr lang="en-IN" sz="2400" dirty="0">
                <a:effectLst/>
                <a:latin typeface="Calibri" panose="020F0502020204030204" pitchFamily="34" charset="0"/>
                <a:ea typeface="Calibri" panose="020F0502020204030204" pitchFamily="34" charset="0"/>
                <a:cs typeface="Times New Roman" panose="02020603050405020304" pitchFamily="18" charset="0"/>
              </a:rPr>
              <a:t>Thus it is clear both genders have same age distributions with no major difference in their range and median. </a:t>
            </a:r>
            <a:r>
              <a:rPr lang="en-IN" kern="100" dirty="0">
                <a:effectLst/>
                <a:latin typeface="Calibri" panose="020F0502020204030204" pitchFamily="34" charset="0"/>
                <a:ea typeface="Calibri" panose="020F0502020204030204" pitchFamily="34" charset="0"/>
                <a:cs typeface="Times New Roman" panose="02020603050405020304" pitchFamily="18" charset="0"/>
              </a:rPr>
              <a:t>Since most of the customers fall within 30-50 years age group for both men and women. It means that this age group is making most purchases in both genders. </a:t>
            </a:r>
          </a:p>
          <a:p>
            <a:pPr marL="0" indent="0">
              <a:buNone/>
            </a:pPr>
            <a:endParaRPr lang="en-IN" sz="24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0040004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76FE1-A0FC-ED7D-9E9F-998DFD4CC222}"/>
              </a:ext>
            </a:extLst>
          </p:cNvPr>
          <p:cNvSpPr>
            <a:spLocks noGrp="1"/>
          </p:cNvSpPr>
          <p:nvPr>
            <p:ph type="title"/>
          </p:nvPr>
        </p:nvSpPr>
        <p:spPr>
          <a:xfrm>
            <a:off x="1141413" y="0"/>
            <a:ext cx="9905998" cy="1386348"/>
          </a:xfrm>
        </p:spPr>
        <p:txBody>
          <a:bodyPr/>
          <a:lstStyle/>
          <a:p>
            <a:r>
              <a:rPr lang="en-US" dirty="0"/>
              <a:t>Step 7: clustering process</a:t>
            </a:r>
            <a:endParaRPr lang="en-IN" dirty="0"/>
          </a:p>
        </p:txBody>
      </p:sp>
      <p:sp>
        <p:nvSpPr>
          <p:cNvPr id="3" name="Content Placeholder 2">
            <a:extLst>
              <a:ext uri="{FF2B5EF4-FFF2-40B4-BE49-F238E27FC236}">
                <a16:creationId xmlns:a16="http://schemas.microsoft.com/office/drawing/2014/main" id="{A3C03206-CFCF-7884-E789-F4A9EF7D464F}"/>
              </a:ext>
            </a:extLst>
          </p:cNvPr>
          <p:cNvSpPr>
            <a:spLocks noGrp="1"/>
          </p:cNvSpPr>
          <p:nvPr>
            <p:ph idx="1"/>
          </p:nvPr>
        </p:nvSpPr>
        <p:spPr>
          <a:xfrm>
            <a:off x="1141412" y="1012723"/>
            <a:ext cx="10952265" cy="5643715"/>
          </a:xfrm>
        </p:spPr>
        <p:txBody>
          <a:bodyPr/>
          <a:lstStyle/>
          <a:p>
            <a:pPr marL="457200" indent="-457200">
              <a:buAutoNum type="arabicParenR"/>
            </a:pPr>
            <a:r>
              <a:rPr lang="en-US" b="1" dirty="0"/>
              <a:t>Clustering With 2  Features</a:t>
            </a:r>
          </a:p>
          <a:p>
            <a:pPr marL="0" indent="0">
              <a:buNone/>
            </a:pPr>
            <a:endParaRPr lang="en-US" dirty="0"/>
          </a:p>
          <a:p>
            <a:pPr marL="0" indent="0">
              <a:buNone/>
            </a:pPr>
            <a:r>
              <a:rPr lang="en-US" dirty="0"/>
              <a:t>a) Feature selection</a:t>
            </a:r>
          </a:p>
          <a:p>
            <a:pPr marL="0" indent="0">
              <a:buNone/>
            </a:pPr>
            <a:r>
              <a:rPr lang="en-IN" sz="2000" dirty="0">
                <a:effectLst/>
                <a:latin typeface="Calibri" panose="020F0502020204030204" pitchFamily="34" charset="0"/>
                <a:ea typeface="Calibri" panose="020F0502020204030204" pitchFamily="34" charset="0"/>
                <a:cs typeface="Times New Roman" panose="02020603050405020304" pitchFamily="18" charset="0"/>
              </a:rPr>
              <a:t>  Feature Selection is a critical step in identifying </a:t>
            </a:r>
          </a:p>
          <a:p>
            <a:pPr marL="0" indent="0">
              <a:buNone/>
            </a:pPr>
            <a:r>
              <a:rPr lang="en-IN" sz="2000" dirty="0">
                <a:latin typeface="Calibri" panose="020F0502020204030204" pitchFamily="34" charset="0"/>
                <a:ea typeface="Calibri" panose="020F0502020204030204" pitchFamily="34" charset="0"/>
                <a:cs typeface="Times New Roman" panose="02020603050405020304" pitchFamily="18" charset="0"/>
              </a:rPr>
              <a:t> the most relevant variables that contribute to </a:t>
            </a:r>
          </a:p>
          <a:p>
            <a:pPr marL="0" indent="0">
              <a:buNone/>
            </a:pPr>
            <a:r>
              <a:rPr lang="en-IN" sz="2000" dirty="0">
                <a:effectLst/>
                <a:latin typeface="Calibri" panose="020F0502020204030204" pitchFamily="34" charset="0"/>
                <a:ea typeface="Calibri" panose="020F0502020204030204" pitchFamily="34" charset="0"/>
                <a:cs typeface="Times New Roman" panose="02020603050405020304" pitchFamily="18" charset="0"/>
              </a:rPr>
              <a:t>Customer segmentation process.</a:t>
            </a:r>
          </a:p>
          <a:p>
            <a:pPr marL="0" indent="0">
              <a:buNone/>
            </a:pP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sz="2000" dirty="0">
                <a:effectLst/>
                <a:latin typeface="Calibri" panose="020F0502020204030204" pitchFamily="34" charset="0"/>
                <a:ea typeface="Calibri" panose="020F0502020204030204" pitchFamily="34" charset="0"/>
                <a:cs typeface="Times New Roman" panose="02020603050405020304" pitchFamily="18" charset="0"/>
              </a:rPr>
              <a:t>Here for clustering we select Annual Income &amp;</a:t>
            </a:r>
          </a:p>
          <a:p>
            <a:pPr marL="0" indent="0">
              <a:buNone/>
            </a:pPr>
            <a:r>
              <a:rPr lang="en-IN" sz="2000" dirty="0">
                <a:latin typeface="Calibri" panose="020F0502020204030204" pitchFamily="34" charset="0"/>
                <a:ea typeface="Calibri" panose="020F0502020204030204" pitchFamily="34" charset="0"/>
                <a:cs typeface="Times New Roman" panose="02020603050405020304" pitchFamily="18" charset="0"/>
              </a:rPr>
              <a:t>Spending Score as 2 features.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1C61E52C-878A-9ACD-C7CC-09173BB567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92411" y="1592826"/>
            <a:ext cx="5201266" cy="3672348"/>
          </a:xfrm>
          <a:prstGeom prst="rect">
            <a:avLst/>
          </a:prstGeom>
        </p:spPr>
      </p:pic>
    </p:spTree>
    <p:extLst>
      <p:ext uri="{BB962C8B-B14F-4D97-AF65-F5344CB8AC3E}">
        <p14:creationId xmlns:p14="http://schemas.microsoft.com/office/powerpoint/2010/main" val="1882526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DA8576-66C9-6C24-7284-6A9028A3FC97}"/>
              </a:ext>
            </a:extLst>
          </p:cNvPr>
          <p:cNvSpPr>
            <a:spLocks noGrp="1"/>
          </p:cNvSpPr>
          <p:nvPr>
            <p:ph idx="1"/>
          </p:nvPr>
        </p:nvSpPr>
        <p:spPr>
          <a:xfrm>
            <a:off x="452284" y="255639"/>
            <a:ext cx="11661058" cy="7462684"/>
          </a:xfrm>
        </p:spPr>
        <p:txBody>
          <a:bodyPr/>
          <a:lstStyle/>
          <a:p>
            <a:pPr marL="0" indent="0">
              <a:buNone/>
            </a:pPr>
            <a:r>
              <a:rPr lang="en-US" dirty="0"/>
              <a:t>b) </a:t>
            </a:r>
            <a:r>
              <a:rPr lang="en-IN" dirty="0">
                <a:effectLst/>
                <a:latin typeface="Calibri" panose="020F0502020204030204" pitchFamily="34" charset="0"/>
                <a:ea typeface="Calibri" panose="020F0502020204030204" pitchFamily="34" charset="0"/>
                <a:cs typeface="Times New Roman" panose="02020603050405020304" pitchFamily="18" charset="0"/>
              </a:rPr>
              <a:t>Determining the optimal number of clusters </a:t>
            </a:r>
          </a:p>
          <a:p>
            <a:pPr marL="0" indent="0">
              <a:buNone/>
            </a:pPr>
            <a:r>
              <a:rPr lang="en-IN" dirty="0">
                <a:latin typeface="Calibri" panose="020F0502020204030204" pitchFamily="34" charset="0"/>
                <a:ea typeface="Calibri" panose="020F0502020204030204" pitchFamily="34" charset="0"/>
                <a:cs typeface="Times New Roman" panose="02020603050405020304" pitchFamily="18" charset="0"/>
              </a:rPr>
              <a:t>           </a:t>
            </a:r>
            <a:r>
              <a:rPr lang="en-IN" sz="2000" dirty="0">
                <a:latin typeface="Calibri" panose="020F0502020204030204" pitchFamily="34" charset="0"/>
                <a:ea typeface="Calibri" panose="020F0502020204030204" pitchFamily="34" charset="0"/>
                <a:cs typeface="Times New Roman" panose="02020603050405020304" pitchFamily="18" charset="0"/>
              </a:rPr>
              <a:t>The WCSS is calculated for different values of k (number of clusters).</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The Elbow Method was applied to determine the optimal number of clusters by plotting the WCSS. The point where the WCSS begins to decrease at a rate is chosen for the optimal number of cluster for segmenting the data</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buNone/>
            </a:pPr>
            <a:r>
              <a:rPr lang="en-IN" sz="2000" kern="100" dirty="0">
                <a:latin typeface="Calibri" panose="020F0502020204030204" pitchFamily="34" charset="0"/>
                <a:ea typeface="Calibri" panose="020F0502020204030204" pitchFamily="34" charset="0"/>
                <a:cs typeface="Times New Roman" panose="02020603050405020304" pitchFamily="18" charset="0"/>
              </a:rPr>
              <a:t>    </a:t>
            </a:r>
          </a:p>
          <a:p>
            <a:pPr marL="0" indent="0">
              <a:buNone/>
            </a:pPr>
            <a:endParaRPr lang="en-IN" sz="2000"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2000"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2000"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2000"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2000"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2000"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2000"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sz="2000" kern="100" dirty="0">
                <a:latin typeface="Calibri" panose="020F0502020204030204" pitchFamily="34" charset="0"/>
                <a:ea typeface="Calibri" panose="020F0502020204030204" pitchFamily="34" charset="0"/>
                <a:cs typeface="Times New Roman" panose="02020603050405020304" pitchFamily="18" charset="0"/>
              </a:rPr>
              <a:t>From the graph it is observed that at 5 there  is a bend and it can be considered as K  , which is  no of clusters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pic>
        <p:nvPicPr>
          <p:cNvPr id="5" name="Picture 4">
            <a:extLst>
              <a:ext uri="{FF2B5EF4-FFF2-40B4-BE49-F238E27FC236}">
                <a16:creationId xmlns:a16="http://schemas.microsoft.com/office/drawing/2014/main" id="{1651D683-213D-ABDD-64DF-64C12ECFEF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9948" y="2059858"/>
            <a:ext cx="5889523" cy="3819832"/>
          </a:xfrm>
          <a:prstGeom prst="rect">
            <a:avLst/>
          </a:prstGeom>
        </p:spPr>
      </p:pic>
    </p:spTree>
    <p:extLst>
      <p:ext uri="{BB962C8B-B14F-4D97-AF65-F5344CB8AC3E}">
        <p14:creationId xmlns:p14="http://schemas.microsoft.com/office/powerpoint/2010/main" val="404011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4A3AD2-829A-8EF8-E455-1C721D399B6A}"/>
              </a:ext>
            </a:extLst>
          </p:cNvPr>
          <p:cNvSpPr>
            <a:spLocks noGrp="1"/>
          </p:cNvSpPr>
          <p:nvPr>
            <p:ph idx="1"/>
          </p:nvPr>
        </p:nvSpPr>
        <p:spPr>
          <a:xfrm>
            <a:off x="255639" y="393290"/>
            <a:ext cx="11936361" cy="6145162"/>
          </a:xfrm>
        </p:spPr>
        <p:txBody>
          <a:bodyPr/>
          <a:lstStyle/>
          <a:p>
            <a:pPr marL="0" indent="0">
              <a:buNone/>
            </a:pPr>
            <a:r>
              <a:rPr lang="en-US" dirty="0"/>
              <a:t>c) </a:t>
            </a:r>
            <a:r>
              <a:rPr lang="en-IN" b="1" dirty="0">
                <a:effectLst/>
                <a:latin typeface="Calibri" panose="020F0502020204030204" pitchFamily="34" charset="0"/>
                <a:ea typeface="Calibri" panose="020F0502020204030204" pitchFamily="34" charset="0"/>
                <a:cs typeface="Times New Roman" panose="02020603050405020304" pitchFamily="18" charset="0"/>
              </a:rPr>
              <a:t>Applying K-Means Clustering</a:t>
            </a:r>
          </a:p>
          <a:p>
            <a:pPr marL="0" indent="0">
              <a:buNone/>
            </a:pPr>
            <a:r>
              <a:rPr lang="en-IN" sz="2000" dirty="0">
                <a:latin typeface="Calibri" panose="020F0502020204030204" pitchFamily="34" charset="0"/>
                <a:ea typeface="Calibri" panose="020F0502020204030204" pitchFamily="34" charset="0"/>
                <a:cs typeface="Times New Roman" panose="02020603050405020304" pitchFamily="18" charset="0"/>
              </a:rPr>
              <a:t> After determining the optimal number of clusters is </a:t>
            </a:r>
          </a:p>
          <a:p>
            <a:pPr marL="0" indent="0">
              <a:buNone/>
            </a:pPr>
            <a:r>
              <a:rPr lang="en-IN" sz="2000" dirty="0">
                <a:latin typeface="Calibri" panose="020F0502020204030204" pitchFamily="34" charset="0"/>
                <a:ea typeface="Calibri" panose="020F0502020204030204" pitchFamily="34" charset="0"/>
                <a:cs typeface="Times New Roman" panose="02020603050405020304" pitchFamily="18" charset="0"/>
              </a:rPr>
              <a:t>determined next we apply k-means algorithm to customers</a:t>
            </a:r>
          </a:p>
          <a:p>
            <a:pPr marL="0" indent="0">
              <a:buNone/>
            </a:pPr>
            <a:r>
              <a:rPr lang="en-IN" sz="2000" dirty="0">
                <a:latin typeface="Calibri" panose="020F0502020204030204" pitchFamily="34" charset="0"/>
                <a:ea typeface="Calibri" panose="020F0502020204030204" pitchFamily="34" charset="0"/>
                <a:cs typeface="Times New Roman" panose="02020603050405020304" pitchFamily="18" charset="0"/>
              </a:rPr>
              <a:t>into distinct clusters based on selected features. Then we </a:t>
            </a:r>
          </a:p>
          <a:p>
            <a:pPr marL="0" indent="0">
              <a:buNone/>
            </a:pPr>
            <a:r>
              <a:rPr lang="en-IN" sz="2000" dirty="0">
                <a:latin typeface="Calibri" panose="020F0502020204030204" pitchFamily="34" charset="0"/>
                <a:ea typeface="Calibri" panose="020F0502020204030204" pitchFamily="34" charset="0"/>
                <a:cs typeface="Times New Roman" panose="02020603050405020304" pitchFamily="18" charset="0"/>
              </a:rPr>
              <a:t>Will predict the data and will store it in y &amp; then we will</a:t>
            </a:r>
          </a:p>
          <a:p>
            <a:pPr marL="0" indent="0">
              <a:buNone/>
            </a:pPr>
            <a:r>
              <a:rPr lang="en-IN" sz="2000" dirty="0">
                <a:latin typeface="Calibri" panose="020F0502020204030204" pitchFamily="34" charset="0"/>
                <a:ea typeface="Calibri" panose="020F0502020204030204" pitchFamily="34" charset="0"/>
                <a:cs typeface="Times New Roman" panose="02020603050405020304" pitchFamily="18" charset="0"/>
              </a:rPr>
              <a:t>Add new column named as Label and data as y.</a:t>
            </a:r>
          </a:p>
          <a:p>
            <a:pPr marL="0" indent="0">
              <a:buNone/>
            </a:pP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sz="2000" dirty="0">
                <a:latin typeface="Calibri" panose="020F0502020204030204" pitchFamily="34" charset="0"/>
                <a:ea typeface="Calibri" panose="020F0502020204030204" pitchFamily="34" charset="0"/>
                <a:cs typeface="Times New Roman" panose="02020603050405020304" pitchFamily="18" charset="0"/>
              </a:rPr>
              <a:t>It is seen that after k-means algorithm the dataset was </a:t>
            </a:r>
          </a:p>
          <a:p>
            <a:pPr marL="0" indent="0">
              <a:buNone/>
            </a:pPr>
            <a:r>
              <a:rPr lang="en-IN" sz="2000" dirty="0">
                <a:latin typeface="Calibri" panose="020F0502020204030204" pitchFamily="34" charset="0"/>
                <a:ea typeface="Calibri" panose="020F0502020204030204" pitchFamily="34" charset="0"/>
                <a:cs typeface="Times New Roman" panose="02020603050405020304" pitchFamily="18" charset="0"/>
              </a:rPr>
              <a:t>updated with a New column “Label” which indicates the</a:t>
            </a:r>
          </a:p>
          <a:p>
            <a:pPr marL="0" indent="0">
              <a:buNone/>
            </a:pPr>
            <a:r>
              <a:rPr lang="en-IN" sz="2000" dirty="0">
                <a:latin typeface="Calibri" panose="020F0502020204030204" pitchFamily="34" charset="0"/>
                <a:ea typeface="Calibri" panose="020F0502020204030204" pitchFamily="34" charset="0"/>
                <a:cs typeface="Times New Roman" panose="02020603050405020304" pitchFamily="18" charset="0"/>
              </a:rPr>
              <a:t> cluster labels for each cluster.</a:t>
            </a:r>
          </a:p>
        </p:txBody>
      </p:sp>
      <p:pic>
        <p:nvPicPr>
          <p:cNvPr id="7" name="Picture 6">
            <a:extLst>
              <a:ext uri="{FF2B5EF4-FFF2-40B4-BE49-F238E27FC236}">
                <a16:creationId xmlns:a16="http://schemas.microsoft.com/office/drawing/2014/main" id="{897B46F5-FECE-0F29-0510-8ED4604D01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7277" y="904568"/>
            <a:ext cx="5476569" cy="4139380"/>
          </a:xfrm>
          <a:prstGeom prst="rect">
            <a:avLst/>
          </a:prstGeom>
        </p:spPr>
      </p:pic>
    </p:spTree>
    <p:extLst>
      <p:ext uri="{BB962C8B-B14F-4D97-AF65-F5344CB8AC3E}">
        <p14:creationId xmlns:p14="http://schemas.microsoft.com/office/powerpoint/2010/main" val="6006736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A37E48-EAB2-AF9D-3B3F-A579DB3B0EDC}"/>
              </a:ext>
            </a:extLst>
          </p:cNvPr>
          <p:cNvSpPr>
            <a:spLocks noGrp="1"/>
          </p:cNvSpPr>
          <p:nvPr>
            <p:ph idx="1"/>
          </p:nvPr>
        </p:nvSpPr>
        <p:spPr>
          <a:xfrm>
            <a:off x="1141412" y="113072"/>
            <a:ext cx="9905999" cy="6553199"/>
          </a:xfrm>
        </p:spPr>
        <p:txBody>
          <a:bodyPr/>
          <a:lstStyle/>
          <a:p>
            <a:pPr marL="0" indent="0">
              <a:buNone/>
            </a:pPr>
            <a:r>
              <a:rPr lang="en-US" dirty="0"/>
              <a:t>d) Visualization </a:t>
            </a:r>
          </a:p>
          <a:p>
            <a:pPr marL="0" indent="0">
              <a:buNone/>
            </a:pPr>
            <a:r>
              <a:rPr lang="en-US" sz="2000" dirty="0"/>
              <a:t>          </a:t>
            </a: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To visually interpret the clusters , a Scatter Plot is generated with the features Annual Income and Spending Score with each point color-coded by its assigned cluster label . This helps in visualizing the separation between different customer segments.</a:t>
            </a:r>
          </a:p>
          <a:p>
            <a:pPr marL="0" indent="0">
              <a:buNone/>
            </a:pP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2000" dirty="0"/>
          </a:p>
        </p:txBody>
      </p:sp>
      <p:pic>
        <p:nvPicPr>
          <p:cNvPr id="7" name="Picture 6">
            <a:extLst>
              <a:ext uri="{FF2B5EF4-FFF2-40B4-BE49-F238E27FC236}">
                <a16:creationId xmlns:a16="http://schemas.microsoft.com/office/drawing/2014/main" id="{AE40037E-EDBF-5390-2F15-2F80E67A90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469" y="1907459"/>
            <a:ext cx="7157883" cy="4650657"/>
          </a:xfrm>
          <a:prstGeom prst="rect">
            <a:avLst/>
          </a:prstGeom>
        </p:spPr>
      </p:pic>
    </p:spTree>
    <p:extLst>
      <p:ext uri="{BB962C8B-B14F-4D97-AF65-F5344CB8AC3E}">
        <p14:creationId xmlns:p14="http://schemas.microsoft.com/office/powerpoint/2010/main" val="3795411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36D45E8-A07A-6566-52D9-6D2BA8C934EC}"/>
              </a:ext>
            </a:extLst>
          </p:cNvPr>
          <p:cNvSpPr>
            <a:spLocks noGrp="1"/>
          </p:cNvSpPr>
          <p:nvPr>
            <p:ph type="title"/>
          </p:nvPr>
        </p:nvSpPr>
        <p:spPr>
          <a:xfrm>
            <a:off x="1141413" y="0"/>
            <a:ext cx="9905998" cy="1160206"/>
          </a:xfrm>
        </p:spPr>
        <p:txBody>
          <a:bodyPr/>
          <a:lstStyle/>
          <a:p>
            <a:r>
              <a:rPr lang="en-US" dirty="0"/>
              <a:t>Observations of scatter plot</a:t>
            </a:r>
            <a:endParaRPr lang="en-IN" dirty="0"/>
          </a:p>
        </p:txBody>
      </p:sp>
      <p:sp>
        <p:nvSpPr>
          <p:cNvPr id="5" name="Content Placeholder 4">
            <a:extLst>
              <a:ext uri="{FF2B5EF4-FFF2-40B4-BE49-F238E27FC236}">
                <a16:creationId xmlns:a16="http://schemas.microsoft.com/office/drawing/2014/main" id="{32AF9629-41FF-1356-33C6-D62AA3B1F7C5}"/>
              </a:ext>
            </a:extLst>
          </p:cNvPr>
          <p:cNvSpPr>
            <a:spLocks noGrp="1"/>
          </p:cNvSpPr>
          <p:nvPr>
            <p:ph idx="1"/>
          </p:nvPr>
        </p:nvSpPr>
        <p:spPr>
          <a:xfrm>
            <a:off x="1141413" y="1160206"/>
            <a:ext cx="9905999" cy="5319251"/>
          </a:xfrm>
        </p:spPr>
        <p:style>
          <a:lnRef idx="2">
            <a:schemeClr val="accent3"/>
          </a:lnRef>
          <a:fillRef idx="1">
            <a:schemeClr val="lt1"/>
          </a:fillRef>
          <a:effectRef idx="0">
            <a:schemeClr val="accent3"/>
          </a:effectRef>
          <a:fontRef idx="minor">
            <a:schemeClr val="dk1"/>
          </a:fontRef>
        </p:style>
        <p:txBody>
          <a:bodyPr>
            <a:normAutofit fontScale="92500" lnSpcReduction="10000"/>
          </a:bodyPr>
          <a:lstStyle/>
          <a:p>
            <a:pPr marL="0" indent="0">
              <a:lnSpc>
                <a:spcPct val="107000"/>
              </a:lnSpc>
              <a:spcAft>
                <a:spcPts val="800"/>
              </a:spcAft>
              <a:buNone/>
            </a:pPr>
            <a:r>
              <a:rPr lang="en-IN" sz="2600" kern="100" dirty="0">
                <a:effectLst/>
                <a:latin typeface="Calibri" panose="020F0502020204030204" pitchFamily="34" charset="0"/>
                <a:ea typeface="Calibri" panose="020F0502020204030204" pitchFamily="34" charset="0"/>
                <a:cs typeface="Times New Roman" panose="02020603050405020304" pitchFamily="18" charset="0"/>
              </a:rPr>
              <a:t>So from the above scatter plot we observed that the there are 5 clusters which are named as  0, 1, 2, 3, 4.</a:t>
            </a:r>
          </a:p>
          <a:p>
            <a:pPr marL="342900" lvl="0" indent="-342900">
              <a:lnSpc>
                <a:spcPct val="107000"/>
              </a:lnSpc>
              <a:buFont typeface="Courier New" panose="02070309020205020404" pitchFamily="49" charset="0"/>
              <a:buChar char="o"/>
            </a:pPr>
            <a:r>
              <a:rPr lang="en-IN" sz="26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Label 0 </a:t>
            </a:r>
            <a:r>
              <a:rPr lang="en-IN" sz="2600" kern="100" dirty="0">
                <a:effectLst/>
                <a:latin typeface="Calibri" panose="020F0502020204030204" pitchFamily="34" charset="0"/>
                <a:ea typeface="Calibri" panose="020F0502020204030204" pitchFamily="34" charset="0"/>
                <a:cs typeface="Times New Roman" panose="02020603050405020304" pitchFamily="18" charset="0"/>
              </a:rPr>
              <a:t>at top right indicates highest annual income with highest spending score</a:t>
            </a:r>
          </a:p>
          <a:p>
            <a:pPr marL="342900" lvl="0" indent="-342900">
              <a:lnSpc>
                <a:spcPct val="107000"/>
              </a:lnSpc>
              <a:buFont typeface="Courier New" panose="02070309020205020404" pitchFamily="49" charset="0"/>
              <a:buChar char="o"/>
            </a:pPr>
            <a:r>
              <a:rPr lang="en-IN" sz="2600" kern="1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Label 1 </a:t>
            </a:r>
            <a:r>
              <a:rPr lang="en-IN" sz="2600" kern="100" dirty="0">
                <a:effectLst/>
                <a:latin typeface="Calibri" panose="020F0502020204030204" pitchFamily="34" charset="0"/>
                <a:ea typeface="Calibri" panose="020F0502020204030204" pitchFamily="34" charset="0"/>
                <a:cs typeface="Times New Roman" panose="02020603050405020304" pitchFamily="18" charset="0"/>
              </a:rPr>
              <a:t>at centre of the plot indicates average annual income with average  spending score.</a:t>
            </a:r>
          </a:p>
          <a:p>
            <a:pPr marL="342900" lvl="0" indent="-342900">
              <a:lnSpc>
                <a:spcPct val="107000"/>
              </a:lnSpc>
              <a:buFont typeface="Courier New" panose="02070309020205020404" pitchFamily="49" charset="0"/>
              <a:buChar char="o"/>
            </a:pPr>
            <a:r>
              <a:rPr lang="en-IN" sz="2600" kern="100" dirty="0">
                <a:solidFill>
                  <a:schemeClr val="accent3">
                    <a:lumMod val="50000"/>
                  </a:schemeClr>
                </a:solidFill>
                <a:effectLst/>
                <a:latin typeface="Calibri" panose="020F0502020204030204" pitchFamily="34" charset="0"/>
                <a:ea typeface="Calibri" panose="020F0502020204030204" pitchFamily="34" charset="0"/>
                <a:cs typeface="Times New Roman" panose="02020603050405020304" pitchFamily="18" charset="0"/>
              </a:rPr>
              <a:t>Label 2 </a:t>
            </a:r>
            <a:r>
              <a:rPr lang="en-IN" sz="2600" kern="100" dirty="0">
                <a:effectLst/>
                <a:latin typeface="Calibri" panose="020F0502020204030204" pitchFamily="34" charset="0"/>
                <a:ea typeface="Calibri" panose="020F0502020204030204" pitchFamily="34" charset="0"/>
                <a:cs typeface="Times New Roman" panose="02020603050405020304" pitchFamily="18" charset="0"/>
              </a:rPr>
              <a:t>at top left of the plot indicates lowest annual income with highest spending score </a:t>
            </a:r>
          </a:p>
          <a:p>
            <a:pPr marL="342900" lvl="0" indent="-342900">
              <a:lnSpc>
                <a:spcPct val="107000"/>
              </a:lnSpc>
              <a:buFont typeface="Courier New" panose="02070309020205020404" pitchFamily="49" charset="0"/>
              <a:buChar char="o"/>
            </a:pPr>
            <a:r>
              <a:rPr lang="en-IN" sz="26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Label 3 </a:t>
            </a:r>
            <a:r>
              <a:rPr lang="en-IN" sz="2600" kern="100" dirty="0">
                <a:effectLst/>
                <a:latin typeface="Calibri" panose="020F0502020204030204" pitchFamily="34" charset="0"/>
                <a:ea typeface="Calibri" panose="020F0502020204030204" pitchFamily="34" charset="0"/>
                <a:cs typeface="Times New Roman" panose="02020603050405020304" pitchFamily="18" charset="0"/>
              </a:rPr>
              <a:t>at bottom right indicates highest annual income with lowest spending score.</a:t>
            </a:r>
          </a:p>
          <a:p>
            <a:pPr marL="342900" lvl="0" indent="-342900">
              <a:lnSpc>
                <a:spcPct val="107000"/>
              </a:lnSpc>
              <a:spcAft>
                <a:spcPts val="800"/>
              </a:spcAft>
              <a:buFont typeface="Courier New" panose="02070309020205020404" pitchFamily="49" charset="0"/>
              <a:buChar char="o"/>
            </a:pPr>
            <a:r>
              <a:rPr lang="en-IN" sz="2600" kern="100" dirty="0">
                <a:solidFill>
                  <a:srgbClr val="FFC000"/>
                </a:solidFill>
                <a:effectLst/>
                <a:latin typeface="Calibri" panose="020F0502020204030204" pitchFamily="34" charset="0"/>
                <a:ea typeface="Calibri" panose="020F0502020204030204" pitchFamily="34" charset="0"/>
                <a:cs typeface="Times New Roman" panose="02020603050405020304" pitchFamily="18" charset="0"/>
              </a:rPr>
              <a:t>Label 4 </a:t>
            </a:r>
            <a:r>
              <a:rPr lang="en-IN" sz="2600" kern="100" dirty="0">
                <a:effectLst/>
                <a:latin typeface="Calibri" panose="020F0502020204030204" pitchFamily="34" charset="0"/>
                <a:ea typeface="Calibri" panose="020F0502020204030204" pitchFamily="34" charset="0"/>
                <a:cs typeface="Times New Roman" panose="02020603050405020304" pitchFamily="18" charset="0"/>
              </a:rPr>
              <a:t>at bottom left indicates lowest annual income with lowest spending score.</a:t>
            </a:r>
          </a:p>
          <a:p>
            <a:pPr marL="0" indent="0">
              <a:buNone/>
            </a:pPr>
            <a:endParaRPr lang="en-IN" dirty="0"/>
          </a:p>
        </p:txBody>
      </p:sp>
    </p:spTree>
    <p:extLst>
      <p:ext uri="{BB962C8B-B14F-4D97-AF65-F5344CB8AC3E}">
        <p14:creationId xmlns:p14="http://schemas.microsoft.com/office/powerpoint/2010/main" val="68472211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6DD29B-CF0D-422D-7278-8AFA50DC461A}"/>
              </a:ext>
            </a:extLst>
          </p:cNvPr>
          <p:cNvSpPr>
            <a:spLocks noGrp="1"/>
          </p:cNvSpPr>
          <p:nvPr>
            <p:ph idx="1"/>
          </p:nvPr>
        </p:nvSpPr>
        <p:spPr>
          <a:xfrm>
            <a:off x="1141412" y="285135"/>
            <a:ext cx="9905999" cy="5506066"/>
          </a:xfrm>
        </p:spPr>
        <p:txBody>
          <a:bodyPr/>
          <a:lstStyle/>
          <a:p>
            <a:pPr marL="0" indent="0">
              <a:buNone/>
            </a:pPr>
            <a:r>
              <a:rPr lang="en-US" dirty="0"/>
              <a:t>2) Clustering with 3 features</a:t>
            </a:r>
          </a:p>
          <a:p>
            <a:pPr marL="0" indent="0">
              <a:buNone/>
            </a:pPr>
            <a:r>
              <a:rPr lang="en-US" dirty="0"/>
              <a:t>    a) feature selection</a:t>
            </a:r>
          </a:p>
          <a:p>
            <a:pPr marL="0" indent="0">
              <a:buNone/>
            </a:pPr>
            <a:r>
              <a:rPr lang="en-US" dirty="0"/>
              <a:t>               For this we select annual income , spending score, age as 3 features</a:t>
            </a:r>
            <a:endParaRPr lang="en-IN" dirty="0"/>
          </a:p>
        </p:txBody>
      </p:sp>
      <p:pic>
        <p:nvPicPr>
          <p:cNvPr id="5" name="Picture 4">
            <a:extLst>
              <a:ext uri="{FF2B5EF4-FFF2-40B4-BE49-F238E27FC236}">
                <a16:creationId xmlns:a16="http://schemas.microsoft.com/office/drawing/2014/main" id="{4CCFE069-58B9-7FBE-BF94-FDDD2B2C29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5317" y="2074607"/>
            <a:ext cx="7590503" cy="3982064"/>
          </a:xfrm>
          <a:prstGeom prst="rect">
            <a:avLst/>
          </a:prstGeom>
        </p:spPr>
      </p:pic>
    </p:spTree>
    <p:extLst>
      <p:ext uri="{BB962C8B-B14F-4D97-AF65-F5344CB8AC3E}">
        <p14:creationId xmlns:p14="http://schemas.microsoft.com/office/powerpoint/2010/main" val="226957359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83C40D-A961-DA6C-058E-8ADB45DC4DC2}"/>
              </a:ext>
            </a:extLst>
          </p:cNvPr>
          <p:cNvSpPr>
            <a:spLocks noGrp="1"/>
          </p:cNvSpPr>
          <p:nvPr>
            <p:ph idx="1"/>
          </p:nvPr>
        </p:nvSpPr>
        <p:spPr>
          <a:xfrm>
            <a:off x="1141412" y="275303"/>
            <a:ext cx="9905999" cy="6174658"/>
          </a:xfrm>
        </p:spPr>
        <p:txBody>
          <a:bodyPr>
            <a:normAutofit fontScale="92500" lnSpcReduction="10000"/>
          </a:bodyPr>
          <a:lstStyle/>
          <a:p>
            <a:pPr marL="0" indent="0">
              <a:buNone/>
            </a:pPr>
            <a:r>
              <a:rPr lang="en-US" dirty="0"/>
              <a:t>b) Determining the optimal number of clusters</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Here k= 5 . The optimal cluster </a:t>
            </a:r>
            <a:r>
              <a:rPr lang="en-US"/>
              <a:t>is still 5</a:t>
            </a:r>
            <a:endParaRPr lang="en-US" dirty="0"/>
          </a:p>
          <a:p>
            <a:pPr marL="0" indent="0">
              <a:buNone/>
            </a:pPr>
            <a:r>
              <a:rPr lang="en-US" dirty="0"/>
              <a:t>         </a:t>
            </a:r>
            <a:endParaRPr lang="en-IN" dirty="0"/>
          </a:p>
        </p:txBody>
      </p:sp>
      <p:pic>
        <p:nvPicPr>
          <p:cNvPr id="7" name="Picture 6">
            <a:extLst>
              <a:ext uri="{FF2B5EF4-FFF2-40B4-BE49-F238E27FC236}">
                <a16:creationId xmlns:a16="http://schemas.microsoft.com/office/drawing/2014/main" id="{8E7E071A-44F3-2C9F-F673-8F623EEF31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2864" y="919315"/>
            <a:ext cx="7865807" cy="4016478"/>
          </a:xfrm>
          <a:prstGeom prst="rect">
            <a:avLst/>
          </a:prstGeom>
        </p:spPr>
      </p:pic>
    </p:spTree>
    <p:extLst>
      <p:ext uri="{BB962C8B-B14F-4D97-AF65-F5344CB8AC3E}">
        <p14:creationId xmlns:p14="http://schemas.microsoft.com/office/powerpoint/2010/main" val="25786605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C39FBB-6F28-DAD2-406B-A2AC6C2BFDAC}"/>
              </a:ext>
            </a:extLst>
          </p:cNvPr>
          <p:cNvSpPr>
            <a:spLocks noGrp="1"/>
          </p:cNvSpPr>
          <p:nvPr>
            <p:ph idx="1"/>
          </p:nvPr>
        </p:nvSpPr>
        <p:spPr>
          <a:xfrm>
            <a:off x="1141412" y="235974"/>
            <a:ext cx="9905999" cy="5555227"/>
          </a:xfrm>
        </p:spPr>
        <p:txBody>
          <a:bodyPr/>
          <a:lstStyle/>
          <a:p>
            <a:pPr marL="0" indent="0">
              <a:buNone/>
            </a:pPr>
            <a:r>
              <a:rPr lang="en-US" dirty="0"/>
              <a:t>c) Applying k-means clustering</a:t>
            </a:r>
          </a:p>
          <a:p>
            <a:pPr marL="0" indent="0">
              <a:buNone/>
            </a:pPr>
            <a:endParaRPr lang="en-IN" dirty="0"/>
          </a:p>
        </p:txBody>
      </p:sp>
      <p:pic>
        <p:nvPicPr>
          <p:cNvPr id="4" name="Picture 3">
            <a:extLst>
              <a:ext uri="{FF2B5EF4-FFF2-40B4-BE49-F238E27FC236}">
                <a16:creationId xmlns:a16="http://schemas.microsoft.com/office/drawing/2014/main" id="{AD7F3CBE-4E72-0303-CF1C-994B92DFCD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1758" y="999786"/>
            <a:ext cx="6868484" cy="4858428"/>
          </a:xfrm>
          <a:prstGeom prst="rect">
            <a:avLst/>
          </a:prstGeom>
        </p:spPr>
      </p:pic>
    </p:spTree>
    <p:extLst>
      <p:ext uri="{BB962C8B-B14F-4D97-AF65-F5344CB8AC3E}">
        <p14:creationId xmlns:p14="http://schemas.microsoft.com/office/powerpoint/2010/main" val="26539271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E6D5D1-F82D-8801-7217-059E2995CE8F}"/>
              </a:ext>
            </a:extLst>
          </p:cNvPr>
          <p:cNvSpPr>
            <a:spLocks noGrp="1"/>
          </p:cNvSpPr>
          <p:nvPr>
            <p:ph idx="1"/>
          </p:nvPr>
        </p:nvSpPr>
        <p:spPr>
          <a:xfrm>
            <a:off x="471948" y="226142"/>
            <a:ext cx="11484078" cy="6292645"/>
          </a:xfrm>
        </p:spPr>
        <p:txBody>
          <a:bodyPr/>
          <a:lstStyle/>
          <a:p>
            <a:pPr marL="0" indent="0">
              <a:buNone/>
            </a:pPr>
            <a:r>
              <a:rPr lang="en-US" dirty="0"/>
              <a:t>d) Visualization</a:t>
            </a:r>
          </a:p>
          <a:p>
            <a:pPr marL="0" indent="0">
              <a:buNone/>
            </a:pPr>
            <a:r>
              <a:rPr lang="en-US" dirty="0"/>
              <a:t>  </a:t>
            </a:r>
          </a:p>
          <a:p>
            <a:pPr marL="0" indent="0">
              <a:buNone/>
            </a:pPr>
            <a:r>
              <a:rPr lang="en-US" dirty="0"/>
              <a:t>To interpret clusters ,a 3D scatter plot</a:t>
            </a:r>
          </a:p>
          <a:p>
            <a:pPr marL="0" indent="0">
              <a:buNone/>
            </a:pPr>
            <a:r>
              <a:rPr lang="en-US" dirty="0"/>
              <a:t>Is generated with each color-coded by</a:t>
            </a:r>
          </a:p>
          <a:p>
            <a:pPr marL="0" indent="0">
              <a:buNone/>
            </a:pPr>
            <a:r>
              <a:rPr lang="en-US" dirty="0"/>
              <a:t>Its assigned cluster label.</a:t>
            </a:r>
          </a:p>
          <a:p>
            <a:pPr marL="0" indent="0">
              <a:buNone/>
            </a:pPr>
            <a:r>
              <a:rPr lang="en-US" dirty="0"/>
              <a:t>In this plot, each axis represents one of</a:t>
            </a:r>
          </a:p>
          <a:p>
            <a:pPr marL="0" indent="0">
              <a:buNone/>
            </a:pPr>
            <a:r>
              <a:rPr lang="en-US" dirty="0"/>
              <a:t>the selected features .this 3D plot helps</a:t>
            </a:r>
          </a:p>
          <a:p>
            <a:pPr marL="0" indent="0">
              <a:buNone/>
            </a:pPr>
            <a:r>
              <a:rPr lang="en-US" dirty="0"/>
              <a:t>In identifying how customers with similar</a:t>
            </a:r>
          </a:p>
          <a:p>
            <a:pPr marL="0" indent="0">
              <a:buNone/>
            </a:pPr>
            <a:r>
              <a:rPr lang="en-US" dirty="0"/>
              <a:t>Income, spending </a:t>
            </a:r>
            <a:r>
              <a:rPr lang="en-US" dirty="0" err="1"/>
              <a:t>behaviour</a:t>
            </a:r>
            <a:r>
              <a:rPr lang="en-US" dirty="0"/>
              <a:t> and age</a:t>
            </a:r>
          </a:p>
          <a:p>
            <a:pPr marL="0" indent="0">
              <a:buNone/>
            </a:pPr>
            <a:r>
              <a:rPr lang="en-US" dirty="0"/>
              <a:t>group together.</a:t>
            </a:r>
          </a:p>
        </p:txBody>
      </p:sp>
      <p:pic>
        <p:nvPicPr>
          <p:cNvPr id="5" name="Picture 4">
            <a:extLst>
              <a:ext uri="{FF2B5EF4-FFF2-40B4-BE49-F238E27FC236}">
                <a16:creationId xmlns:a16="http://schemas.microsoft.com/office/drawing/2014/main" id="{D0F04560-3D95-5228-A8FD-9BA64C120E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5058" y="1278193"/>
            <a:ext cx="6390967" cy="5053781"/>
          </a:xfrm>
          <a:prstGeom prst="rect">
            <a:avLst/>
          </a:prstGeom>
        </p:spPr>
      </p:pic>
    </p:spTree>
    <p:extLst>
      <p:ext uri="{BB962C8B-B14F-4D97-AF65-F5344CB8AC3E}">
        <p14:creationId xmlns:p14="http://schemas.microsoft.com/office/powerpoint/2010/main" val="3269729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42779-8C2B-B5B2-E0DC-688F7951DED7}"/>
              </a:ext>
            </a:extLst>
          </p:cNvPr>
          <p:cNvSpPr>
            <a:spLocks noGrp="1"/>
          </p:cNvSpPr>
          <p:nvPr>
            <p:ph type="title"/>
          </p:nvPr>
        </p:nvSpPr>
        <p:spPr>
          <a:xfrm>
            <a:off x="1141413" y="108156"/>
            <a:ext cx="9905998" cy="1524000"/>
          </a:xfrm>
        </p:spPr>
        <p:txBody>
          <a:bodyPr/>
          <a:lstStyle/>
          <a:p>
            <a:r>
              <a:rPr lang="en-US" dirty="0"/>
              <a:t>Observations of 3D scatter plot</a:t>
            </a:r>
            <a:endParaRPr lang="en-IN" dirty="0"/>
          </a:p>
        </p:txBody>
      </p:sp>
      <p:sp>
        <p:nvSpPr>
          <p:cNvPr id="3" name="Content Placeholder 2">
            <a:extLst>
              <a:ext uri="{FF2B5EF4-FFF2-40B4-BE49-F238E27FC236}">
                <a16:creationId xmlns:a16="http://schemas.microsoft.com/office/drawing/2014/main" id="{B4239294-6624-3F76-E9B2-264C2490611C}"/>
              </a:ext>
            </a:extLst>
          </p:cNvPr>
          <p:cNvSpPr>
            <a:spLocks noGrp="1"/>
          </p:cNvSpPr>
          <p:nvPr>
            <p:ph idx="1"/>
          </p:nvPr>
        </p:nvSpPr>
        <p:spPr>
          <a:xfrm>
            <a:off x="1141412" y="1288026"/>
            <a:ext cx="9905999" cy="4503175"/>
          </a:xfrm>
        </p:spPr>
        <p:txBody>
          <a:bodyPr/>
          <a:lstStyle/>
          <a:p>
            <a:pPr marL="0" indent="0">
              <a:buNone/>
            </a:pPr>
            <a:r>
              <a:rPr lang="en-US" dirty="0"/>
              <a:t>In the 3D plot we observe that there are 5 clusters. To understand what each clusters interpret we performed a mean analysis of the above features.</a:t>
            </a:r>
          </a:p>
          <a:p>
            <a:pPr marL="0" indent="0">
              <a:buNone/>
            </a:pPr>
            <a:endParaRPr lang="en-IN" dirty="0"/>
          </a:p>
        </p:txBody>
      </p:sp>
      <p:pic>
        <p:nvPicPr>
          <p:cNvPr id="5" name="Picture 4">
            <a:extLst>
              <a:ext uri="{FF2B5EF4-FFF2-40B4-BE49-F238E27FC236}">
                <a16:creationId xmlns:a16="http://schemas.microsoft.com/office/drawing/2014/main" id="{3CA40230-94BA-BF5B-DFDA-4C17233617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7221" y="2273166"/>
            <a:ext cx="7554379" cy="685896"/>
          </a:xfrm>
          <a:prstGeom prst="rect">
            <a:avLst/>
          </a:prstGeom>
          <a:ln>
            <a:noFill/>
          </a:ln>
          <a:effectLst>
            <a:softEdge rad="112500"/>
          </a:effectLst>
        </p:spPr>
      </p:pic>
      <p:pic>
        <p:nvPicPr>
          <p:cNvPr id="7" name="Picture 6">
            <a:extLst>
              <a:ext uri="{FF2B5EF4-FFF2-40B4-BE49-F238E27FC236}">
                <a16:creationId xmlns:a16="http://schemas.microsoft.com/office/drawing/2014/main" id="{D6B9747E-2F57-094C-7A13-ED0B9A6C7E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5976" y="2959062"/>
            <a:ext cx="6487430" cy="354379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656967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F1923C-819A-B908-CF4B-43E33A0E05C8}"/>
              </a:ext>
            </a:extLst>
          </p:cNvPr>
          <p:cNvSpPr>
            <a:spLocks noGrp="1"/>
          </p:cNvSpPr>
          <p:nvPr>
            <p:ph idx="1"/>
          </p:nvPr>
        </p:nvSpPr>
        <p:spPr>
          <a:xfrm>
            <a:off x="1141412" y="393290"/>
            <a:ext cx="9905999" cy="5869857"/>
          </a:xfrm>
        </p:spPr>
        <p:style>
          <a:lnRef idx="1">
            <a:schemeClr val="accent4"/>
          </a:lnRef>
          <a:fillRef idx="2">
            <a:schemeClr val="accent4"/>
          </a:fillRef>
          <a:effectRef idx="1">
            <a:schemeClr val="accent4"/>
          </a:effectRef>
          <a:fontRef idx="minor">
            <a:schemeClr val="dk1"/>
          </a:fontRef>
        </p:style>
        <p:txBody>
          <a:bodyPr/>
          <a:lstStyle/>
          <a:p>
            <a:pPr marL="0" indent="0">
              <a:buNone/>
            </a:pPr>
            <a:r>
              <a:rPr lang="en-US" dirty="0"/>
              <a:t>From the result we get 5 clusters as:</a:t>
            </a:r>
          </a:p>
          <a:p>
            <a:pPr>
              <a:buFont typeface="Courier New" panose="02070309020205020404" pitchFamily="49" charset="0"/>
              <a:buChar char="o"/>
            </a:pPr>
            <a:r>
              <a:rPr lang="en-US" dirty="0"/>
              <a:t> Label 0 indicates that highest annual income with highest spending score and age may indicate young clusters.</a:t>
            </a:r>
          </a:p>
          <a:p>
            <a:pPr>
              <a:buFont typeface="Courier New" panose="02070309020205020404" pitchFamily="49" charset="0"/>
              <a:buChar char="o"/>
            </a:pPr>
            <a:r>
              <a:rPr lang="en-US" dirty="0"/>
              <a:t> Label1 indicates that moderate income with average spending score and they are middle-aged customers.</a:t>
            </a:r>
          </a:p>
          <a:p>
            <a:pPr>
              <a:buFont typeface="Courier New" panose="02070309020205020404" pitchFamily="49" charset="0"/>
              <a:buChar char="o"/>
            </a:pPr>
            <a:r>
              <a:rPr lang="en-US" dirty="0"/>
              <a:t> Label 2 indicates low annual income with high spending score and they are younger customers .</a:t>
            </a:r>
          </a:p>
          <a:p>
            <a:pPr>
              <a:buFont typeface="Courier New" panose="02070309020205020404" pitchFamily="49" charset="0"/>
              <a:buChar char="o"/>
            </a:pPr>
            <a:r>
              <a:rPr lang="en-US" dirty="0"/>
              <a:t> Label 3 indicates high income with low spending score and they are middle-aged customers.</a:t>
            </a:r>
          </a:p>
          <a:p>
            <a:pPr>
              <a:buFont typeface="Courier New" panose="02070309020205020404" pitchFamily="49" charset="0"/>
              <a:buChar char="o"/>
            </a:pPr>
            <a:r>
              <a:rPr lang="en-US" dirty="0"/>
              <a:t> Label 4 indicates low annual income with low spending and it mainly consists of middle-aged or older customers.</a:t>
            </a:r>
          </a:p>
        </p:txBody>
      </p:sp>
    </p:spTree>
    <p:extLst>
      <p:ext uri="{BB962C8B-B14F-4D97-AF65-F5344CB8AC3E}">
        <p14:creationId xmlns:p14="http://schemas.microsoft.com/office/powerpoint/2010/main" val="39577798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FFDD79-BC79-3558-6DEB-E75B298D4B5A}"/>
              </a:ext>
            </a:extLst>
          </p:cNvPr>
          <p:cNvSpPr>
            <a:spLocks noGrp="1"/>
          </p:cNvSpPr>
          <p:nvPr>
            <p:ph idx="1"/>
          </p:nvPr>
        </p:nvSpPr>
        <p:spPr>
          <a:xfrm>
            <a:off x="491613" y="403123"/>
            <a:ext cx="10555798" cy="5388078"/>
          </a:xfrm>
        </p:spPr>
        <p:txBody>
          <a:bodyPr>
            <a:normAutofit fontScale="92500" lnSpcReduction="10000"/>
          </a:bodyPr>
          <a:lstStyle/>
          <a:p>
            <a:pPr marL="0" indent="0">
              <a:buNone/>
            </a:pPr>
            <a:r>
              <a:rPr lang="en-US" dirty="0"/>
              <a:t>For better visualization we use PCA plot which is similar to 2D scatterplot.</a:t>
            </a:r>
          </a:p>
          <a:p>
            <a:pPr marL="0" indent="0">
              <a:buNone/>
            </a:pPr>
            <a:r>
              <a:rPr lang="en-US" dirty="0"/>
              <a:t>Principal Component Analysis is a statistical procedure that uses an orthogonal transformation that converts a set of correlated features to set of linearly uncorrelated features. These new transformed features are called principal components. </a:t>
            </a:r>
          </a:p>
          <a:p>
            <a:pPr marL="0" indent="0">
              <a:buNone/>
            </a:pPr>
            <a:endParaRPr lang="en-US" dirty="0"/>
          </a:p>
          <a:p>
            <a:pPr marL="0" indent="0">
              <a:buNone/>
            </a:pPr>
            <a:r>
              <a:rPr lang="en-US" dirty="0"/>
              <a:t>PCA is unsupervised learning algorithm </a:t>
            </a:r>
          </a:p>
          <a:p>
            <a:pPr marL="0" indent="0">
              <a:buNone/>
            </a:pPr>
            <a:r>
              <a:rPr lang="en-US" dirty="0"/>
              <a:t>used for dimensionality reduction in ML. </a:t>
            </a:r>
          </a:p>
          <a:p>
            <a:pPr marL="0" indent="0">
              <a:buNone/>
            </a:pPr>
            <a:r>
              <a:rPr lang="en-US" dirty="0"/>
              <a:t>It is technique to draw strong patterns </a:t>
            </a:r>
          </a:p>
          <a:p>
            <a:pPr marL="0" indent="0">
              <a:buNone/>
            </a:pPr>
            <a:r>
              <a:rPr lang="en-US" dirty="0"/>
              <a:t>from the given dataset by reducing </a:t>
            </a:r>
          </a:p>
          <a:p>
            <a:pPr marL="0" indent="0">
              <a:buNone/>
            </a:pPr>
            <a:r>
              <a:rPr lang="en-US" dirty="0"/>
              <a:t>variance. It drops the least important and </a:t>
            </a:r>
          </a:p>
          <a:p>
            <a:pPr marL="0" indent="0">
              <a:buNone/>
            </a:pPr>
            <a:r>
              <a:rPr lang="en-US" dirty="0"/>
              <a:t>contains high important variables. </a:t>
            </a:r>
          </a:p>
          <a:p>
            <a:pPr marL="0" indent="0">
              <a:buNone/>
            </a:pPr>
            <a:endParaRPr lang="en-IN" dirty="0"/>
          </a:p>
          <a:p>
            <a:pPr marL="0" indent="0">
              <a:buNone/>
            </a:pPr>
            <a:endParaRPr lang="en-IN" dirty="0"/>
          </a:p>
        </p:txBody>
      </p:sp>
      <p:pic>
        <p:nvPicPr>
          <p:cNvPr id="4" name="Picture 3">
            <a:extLst>
              <a:ext uri="{FF2B5EF4-FFF2-40B4-BE49-F238E27FC236}">
                <a16:creationId xmlns:a16="http://schemas.microsoft.com/office/drawing/2014/main" id="{BDA83F1E-A975-0019-3434-920CA50250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4556" y="2389241"/>
            <a:ext cx="6400800" cy="4065636"/>
          </a:xfrm>
          <a:prstGeom prst="rect">
            <a:avLst/>
          </a:prstGeom>
        </p:spPr>
      </p:pic>
    </p:spTree>
    <p:extLst>
      <p:ext uri="{BB962C8B-B14F-4D97-AF65-F5344CB8AC3E}">
        <p14:creationId xmlns:p14="http://schemas.microsoft.com/office/powerpoint/2010/main" val="3891096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DC2F0-AF49-F885-F218-2D9B18A925D5}"/>
              </a:ext>
            </a:extLst>
          </p:cNvPr>
          <p:cNvSpPr>
            <a:spLocks noGrp="1"/>
          </p:cNvSpPr>
          <p:nvPr>
            <p:ph type="title"/>
          </p:nvPr>
        </p:nvSpPr>
        <p:spPr>
          <a:xfrm>
            <a:off x="1141412" y="0"/>
            <a:ext cx="9905998" cy="1174957"/>
          </a:xfrm>
        </p:spPr>
        <p:txBody>
          <a:bodyPr/>
          <a:lstStyle/>
          <a:p>
            <a:r>
              <a:rPr lang="en-US" b="1" dirty="0"/>
              <a:t>Observations of PCA plot</a:t>
            </a:r>
            <a:endParaRPr lang="en-IN" b="1" dirty="0"/>
          </a:p>
        </p:txBody>
      </p:sp>
      <p:sp>
        <p:nvSpPr>
          <p:cNvPr id="3" name="Content Placeholder 2">
            <a:extLst>
              <a:ext uri="{FF2B5EF4-FFF2-40B4-BE49-F238E27FC236}">
                <a16:creationId xmlns:a16="http://schemas.microsoft.com/office/drawing/2014/main" id="{D93D4488-4A1F-6F74-AE68-D7E3BB27D781}"/>
              </a:ext>
            </a:extLst>
          </p:cNvPr>
          <p:cNvSpPr>
            <a:spLocks noGrp="1"/>
          </p:cNvSpPr>
          <p:nvPr>
            <p:ph idx="1"/>
          </p:nvPr>
        </p:nvSpPr>
        <p:spPr>
          <a:xfrm>
            <a:off x="216310" y="875071"/>
            <a:ext cx="11887202" cy="5761703"/>
          </a:xfrm>
        </p:spPr>
        <p:style>
          <a:lnRef idx="2">
            <a:schemeClr val="accent2"/>
          </a:lnRef>
          <a:fillRef idx="1">
            <a:schemeClr val="lt1"/>
          </a:fillRef>
          <a:effectRef idx="0">
            <a:schemeClr val="accent2"/>
          </a:effectRef>
          <a:fontRef idx="minor">
            <a:schemeClr val="dk1"/>
          </a:fontRef>
        </p:style>
        <p:txBody>
          <a:bodyPr>
            <a:noAutofit/>
          </a:bodyPr>
          <a:lstStyle/>
          <a:p>
            <a:pPr>
              <a:buFont typeface="Wingdings" panose="05000000000000000000" pitchFamily="2" charset="2"/>
              <a:buChar char="Ø"/>
            </a:pPr>
            <a:r>
              <a:rPr lang="en-US" sz="2000" dirty="0">
                <a:solidFill>
                  <a:srgbClr val="FF0000"/>
                </a:solidFill>
              </a:rPr>
              <a:t> Red cluster </a:t>
            </a:r>
            <a:r>
              <a:rPr lang="en-US" sz="2000" dirty="0"/>
              <a:t>is similar to Label 0 of 3D plot</a:t>
            </a:r>
          </a:p>
          <a:p>
            <a:pPr>
              <a:buFont typeface="Wingdings" panose="05000000000000000000" pitchFamily="2" charset="2"/>
              <a:buChar char="Ø"/>
            </a:pPr>
            <a:r>
              <a:rPr lang="en-US" sz="2000" dirty="0">
                <a:solidFill>
                  <a:srgbClr val="002060"/>
                </a:solidFill>
              </a:rPr>
              <a:t> Blue cluster </a:t>
            </a:r>
            <a:r>
              <a:rPr lang="en-US" sz="2000" dirty="0"/>
              <a:t>is similar to Label 1 of 3D plot</a:t>
            </a:r>
          </a:p>
          <a:p>
            <a:pPr>
              <a:buFont typeface="Wingdings" panose="05000000000000000000" pitchFamily="2" charset="2"/>
              <a:buChar char="Ø"/>
            </a:pPr>
            <a:r>
              <a:rPr lang="en-US" sz="2000" dirty="0">
                <a:solidFill>
                  <a:srgbClr val="00B050"/>
                </a:solidFill>
              </a:rPr>
              <a:t> Green cluster </a:t>
            </a:r>
            <a:r>
              <a:rPr lang="en-US" sz="2000" dirty="0"/>
              <a:t>is similar to label 2 of 3D plot</a:t>
            </a:r>
          </a:p>
          <a:p>
            <a:pPr>
              <a:buFont typeface="Wingdings" panose="05000000000000000000" pitchFamily="2" charset="2"/>
              <a:buChar char="Ø"/>
            </a:pPr>
            <a:r>
              <a:rPr lang="en-US" sz="2000" dirty="0">
                <a:solidFill>
                  <a:schemeClr val="accent4">
                    <a:lumMod val="50000"/>
                  </a:schemeClr>
                </a:solidFill>
              </a:rPr>
              <a:t> Purple cluster </a:t>
            </a:r>
            <a:r>
              <a:rPr lang="en-US" sz="2000" dirty="0"/>
              <a:t>is similar to Label 3 of 3D plot</a:t>
            </a:r>
          </a:p>
          <a:p>
            <a:pPr>
              <a:buFont typeface="Wingdings" panose="05000000000000000000" pitchFamily="2" charset="2"/>
              <a:buChar char="Ø"/>
            </a:pPr>
            <a:r>
              <a:rPr lang="en-US" sz="2000" dirty="0">
                <a:solidFill>
                  <a:srgbClr val="FFC000"/>
                </a:solidFill>
              </a:rPr>
              <a:t> Orange cluster </a:t>
            </a:r>
            <a:r>
              <a:rPr lang="en-US" sz="2000" dirty="0"/>
              <a:t>is similar to Label 4 of 3D plot</a:t>
            </a:r>
          </a:p>
          <a:p>
            <a:pPr marL="0" indent="0">
              <a:buNone/>
            </a:pPr>
            <a:endParaRPr lang="en-IN" sz="2000" dirty="0"/>
          </a:p>
          <a:p>
            <a:pPr marL="0" indent="0">
              <a:buNone/>
            </a:pPr>
            <a:r>
              <a:rPr lang="en-IN" sz="2000" dirty="0"/>
              <a:t>From the plot PCA1 ranges from -60 to 60 and </a:t>
            </a:r>
          </a:p>
          <a:p>
            <a:pPr marL="0" indent="0">
              <a:buNone/>
            </a:pPr>
            <a:r>
              <a:rPr lang="en-IN" sz="2000" dirty="0"/>
              <a:t>PCA2 ranges from -60 to 80. We can interpret </a:t>
            </a:r>
          </a:p>
          <a:p>
            <a:pPr marL="0" indent="0">
              <a:buNone/>
            </a:pPr>
            <a:r>
              <a:rPr lang="en-IN" sz="2000" dirty="0"/>
              <a:t>these clusters based on mean analysis performed.</a:t>
            </a:r>
          </a:p>
          <a:p>
            <a:pPr marL="0" indent="0">
              <a:buNone/>
            </a:pPr>
            <a:r>
              <a:rPr lang="en-IN" sz="2000" dirty="0"/>
              <a:t>This provides simpler representation compared to </a:t>
            </a:r>
          </a:p>
          <a:p>
            <a:pPr marL="0" indent="0">
              <a:buNone/>
            </a:pPr>
            <a:r>
              <a:rPr lang="en-IN" sz="2000" dirty="0"/>
              <a:t>3D scatter plot</a:t>
            </a:r>
          </a:p>
        </p:txBody>
      </p:sp>
      <p:pic>
        <p:nvPicPr>
          <p:cNvPr id="5" name="Picture 4">
            <a:extLst>
              <a:ext uri="{FF2B5EF4-FFF2-40B4-BE49-F238E27FC236}">
                <a16:creationId xmlns:a16="http://schemas.microsoft.com/office/drawing/2014/main" id="{F4A7E283-93E6-D0F5-FB8B-C82B80486B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84723" y="875071"/>
            <a:ext cx="6518788" cy="5152103"/>
          </a:xfrm>
          <a:prstGeom prst="rect">
            <a:avLst/>
          </a:prstGeom>
        </p:spPr>
      </p:pic>
    </p:spTree>
    <p:extLst>
      <p:ext uri="{BB962C8B-B14F-4D97-AF65-F5344CB8AC3E}">
        <p14:creationId xmlns:p14="http://schemas.microsoft.com/office/powerpoint/2010/main" val="3466860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CA0E9-6F50-DC0F-9077-618364AC854B}"/>
              </a:ext>
            </a:extLst>
          </p:cNvPr>
          <p:cNvSpPr>
            <a:spLocks noGrp="1"/>
          </p:cNvSpPr>
          <p:nvPr>
            <p:ph type="title"/>
          </p:nvPr>
        </p:nvSpPr>
        <p:spPr>
          <a:xfrm>
            <a:off x="1141413" y="0"/>
            <a:ext cx="9905998" cy="1582994"/>
          </a:xfrm>
        </p:spPr>
        <p:txBody>
          <a:bodyPr/>
          <a:lstStyle/>
          <a:p>
            <a:pPr algn="ctr"/>
            <a:r>
              <a:rPr lang="en-US" b="1" dirty="0"/>
              <a:t>Result </a:t>
            </a:r>
            <a:endParaRPr lang="en-IN" b="1" dirty="0"/>
          </a:p>
        </p:txBody>
      </p:sp>
      <p:sp>
        <p:nvSpPr>
          <p:cNvPr id="3" name="Content Placeholder 2">
            <a:extLst>
              <a:ext uri="{FF2B5EF4-FFF2-40B4-BE49-F238E27FC236}">
                <a16:creationId xmlns:a16="http://schemas.microsoft.com/office/drawing/2014/main" id="{3E9977CE-9B39-1817-ABF6-28436D1E686F}"/>
              </a:ext>
            </a:extLst>
          </p:cNvPr>
          <p:cNvSpPr>
            <a:spLocks noGrp="1"/>
          </p:cNvSpPr>
          <p:nvPr>
            <p:ph idx="1"/>
          </p:nvPr>
        </p:nvSpPr>
        <p:spPr>
          <a:xfrm>
            <a:off x="1141412" y="1111046"/>
            <a:ext cx="9905999" cy="4837470"/>
          </a:xfrm>
        </p:spPr>
        <p:style>
          <a:lnRef idx="1">
            <a:schemeClr val="accent2"/>
          </a:lnRef>
          <a:fillRef idx="2">
            <a:schemeClr val="accent2"/>
          </a:fillRef>
          <a:effectRef idx="1">
            <a:schemeClr val="accent2"/>
          </a:effectRef>
          <a:fontRef idx="minor">
            <a:schemeClr val="dk1"/>
          </a:fontRef>
        </p:style>
        <p:txBody>
          <a:bodyPr>
            <a:noAutofit/>
          </a:bodyPr>
          <a:lstStyle/>
          <a:p>
            <a:pPr>
              <a:buFont typeface="Wingdings" panose="05000000000000000000" pitchFamily="2" charset="2"/>
              <a:buChar char="§"/>
            </a:pPr>
            <a:r>
              <a:rPr lang="en-US" sz="2200" dirty="0"/>
              <a:t>From above 2D and 3D scatter plot and also PCA plot it is clear that Annual Income and Spending Score are the primary drivers in defining customer segments.</a:t>
            </a:r>
          </a:p>
          <a:p>
            <a:pPr>
              <a:buFont typeface="Wingdings" panose="05000000000000000000" pitchFamily="2" charset="2"/>
              <a:buChar char="§"/>
            </a:pPr>
            <a:r>
              <a:rPr lang="en-US" sz="2200" dirty="0"/>
              <a:t>Age can be helpful as secondary factor to further understand the customer but doesn’t have impact on segmenting</a:t>
            </a:r>
          </a:p>
          <a:p>
            <a:pPr>
              <a:buFont typeface="Wingdings" panose="05000000000000000000" pitchFamily="2" charset="2"/>
              <a:buChar char="§"/>
            </a:pPr>
            <a:r>
              <a:rPr lang="en-US" sz="2200" dirty="0"/>
              <a:t>The feature Annual Income was chosen as it represents the financial capability of customers. income levels often correlate with purchase making it a key factor indistinguishing between different customer segments.</a:t>
            </a:r>
          </a:p>
          <a:p>
            <a:pPr>
              <a:buFont typeface="Wingdings" panose="05000000000000000000" pitchFamily="2" charset="2"/>
              <a:buChar char="§"/>
            </a:pPr>
            <a:r>
              <a:rPr lang="en-US" sz="2200" dirty="0"/>
              <a:t>The spending score is a valuable measure of customer </a:t>
            </a:r>
            <a:r>
              <a:rPr lang="en-US" sz="2200" dirty="0" err="1"/>
              <a:t>behaviour</a:t>
            </a:r>
            <a:r>
              <a:rPr lang="en-US" sz="2200" dirty="0"/>
              <a:t> ,reflecting how much customers tend to spend. The feature is essential in distinguishing between high spending &amp; low spending, which is important for creating segments. </a:t>
            </a:r>
            <a:endParaRPr lang="en-IN" sz="2200" dirty="0"/>
          </a:p>
        </p:txBody>
      </p:sp>
    </p:spTree>
    <p:extLst>
      <p:ext uri="{BB962C8B-B14F-4D97-AF65-F5344CB8AC3E}">
        <p14:creationId xmlns:p14="http://schemas.microsoft.com/office/powerpoint/2010/main" val="34070573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FCF1C-DBE3-D66B-D330-21E5BD89AA38}"/>
              </a:ext>
            </a:extLst>
          </p:cNvPr>
          <p:cNvSpPr>
            <a:spLocks noGrp="1"/>
          </p:cNvSpPr>
          <p:nvPr>
            <p:ph type="title"/>
          </p:nvPr>
        </p:nvSpPr>
        <p:spPr>
          <a:xfrm>
            <a:off x="1141413" y="117987"/>
            <a:ext cx="9905998" cy="865239"/>
          </a:xfrm>
        </p:spPr>
        <p:txBody>
          <a:bodyPr/>
          <a:lstStyle/>
          <a:p>
            <a:pPr algn="ctr"/>
            <a:r>
              <a:rPr lang="en-US" b="1" dirty="0"/>
              <a:t>conclusion</a:t>
            </a:r>
            <a:endParaRPr lang="en-IN" b="1" dirty="0"/>
          </a:p>
        </p:txBody>
      </p:sp>
      <p:sp>
        <p:nvSpPr>
          <p:cNvPr id="3" name="Content Placeholder 2">
            <a:extLst>
              <a:ext uri="{FF2B5EF4-FFF2-40B4-BE49-F238E27FC236}">
                <a16:creationId xmlns:a16="http://schemas.microsoft.com/office/drawing/2014/main" id="{78B4FAFD-EB46-CD0F-A01F-D6C74F9C7166}"/>
              </a:ext>
            </a:extLst>
          </p:cNvPr>
          <p:cNvSpPr>
            <a:spLocks noGrp="1"/>
          </p:cNvSpPr>
          <p:nvPr>
            <p:ph idx="1"/>
          </p:nvPr>
        </p:nvSpPr>
        <p:spPr>
          <a:xfrm>
            <a:off x="658762" y="747252"/>
            <a:ext cx="10388650" cy="5850193"/>
          </a:xfrm>
        </p:spPr>
        <p:style>
          <a:lnRef idx="1">
            <a:schemeClr val="accent3"/>
          </a:lnRef>
          <a:fillRef idx="2">
            <a:schemeClr val="accent3"/>
          </a:fillRef>
          <a:effectRef idx="1">
            <a:schemeClr val="accent3"/>
          </a:effectRef>
          <a:fontRef idx="minor">
            <a:schemeClr val="dk1"/>
          </a:fontRef>
        </p:style>
        <p:txBody>
          <a:bodyPr>
            <a:normAutofit fontScale="85000" lnSpcReduction="10000"/>
          </a:bodyPr>
          <a:lstStyle/>
          <a:p>
            <a:pPr marL="457200" indent="-457200">
              <a:buFont typeface="+mj-lt"/>
              <a:buAutoNum type="arabicParenR"/>
            </a:pPr>
            <a:r>
              <a:rPr lang="en-US" sz="3100" dirty="0"/>
              <a:t>Summary Of Insights </a:t>
            </a:r>
          </a:p>
          <a:p>
            <a:pPr marL="0" lvl="0" indent="0">
              <a:lnSpc>
                <a:spcPct val="107000"/>
              </a:lnSpc>
              <a:spcAft>
                <a:spcPts val="800"/>
              </a:spcAft>
              <a:buNone/>
              <a:tabLst>
                <a:tab pos="457200" algn="l"/>
              </a:tabLst>
            </a:pPr>
            <a:r>
              <a:rPr lang="en-IN" sz="2600" kern="100" dirty="0">
                <a:effectLst/>
                <a:latin typeface="Calibri" panose="020F0502020204030204" pitchFamily="34" charset="0"/>
                <a:ea typeface="Calibri" panose="020F0502020204030204" pitchFamily="34" charset="0"/>
                <a:cs typeface="Times New Roman" panose="02020603050405020304" pitchFamily="18" charset="0"/>
              </a:rPr>
              <a:t>         after performing clustering </a:t>
            </a:r>
          </a:p>
          <a:p>
            <a:pPr lvl="0">
              <a:lnSpc>
                <a:spcPct val="107000"/>
              </a:lnSpc>
              <a:spcAft>
                <a:spcPts val="800"/>
              </a:spcAft>
              <a:buFont typeface="Wingdings" panose="05000000000000000000" pitchFamily="2" charset="2"/>
              <a:buChar char="v"/>
              <a:tabLst>
                <a:tab pos="457200" algn="l"/>
              </a:tabLst>
            </a:pPr>
            <a:r>
              <a:rPr lang="en-IN" sz="2600" kern="100" dirty="0">
                <a:effectLst/>
                <a:latin typeface="Calibri" panose="020F0502020204030204" pitchFamily="34" charset="0"/>
                <a:ea typeface="Calibri" panose="020F0502020204030204" pitchFamily="34" charset="0"/>
                <a:cs typeface="Times New Roman" panose="02020603050405020304" pitchFamily="18" charset="0"/>
              </a:rPr>
              <a:t>The Highest income , high spending  are the premium customers with both financial means and willingness to spend. They are likely to look for quality and luxury products.</a:t>
            </a:r>
          </a:p>
          <a:p>
            <a:pPr lvl="0">
              <a:lnSpc>
                <a:spcPct val="107000"/>
              </a:lnSpc>
              <a:spcAft>
                <a:spcPts val="800"/>
              </a:spcAft>
              <a:buFont typeface="Wingdings" panose="05000000000000000000" pitchFamily="2" charset="2"/>
              <a:buChar char="v"/>
              <a:tabLst>
                <a:tab pos="457200" algn="l"/>
              </a:tabLst>
            </a:pPr>
            <a:r>
              <a:rPr lang="en-IN" sz="2600" kern="100" dirty="0">
                <a:effectLst/>
                <a:latin typeface="Calibri" panose="020F0502020204030204" pitchFamily="34" charset="0"/>
                <a:ea typeface="Calibri" panose="020F0502020204030204" pitchFamily="34" charset="0"/>
                <a:cs typeface="Times New Roman" panose="02020603050405020304" pitchFamily="18" charset="0"/>
              </a:rPr>
              <a:t>Highest income, low spending  are the customers have high income and not willing to spend more. They may be focused on saving instead of spending</a:t>
            </a:r>
          </a:p>
          <a:p>
            <a:pPr lvl="0">
              <a:lnSpc>
                <a:spcPct val="107000"/>
              </a:lnSpc>
              <a:spcAft>
                <a:spcPts val="800"/>
              </a:spcAft>
              <a:buFont typeface="Wingdings" panose="05000000000000000000" pitchFamily="2" charset="2"/>
              <a:buChar char="v"/>
              <a:tabLst>
                <a:tab pos="457200" algn="l"/>
              </a:tabLst>
            </a:pPr>
            <a:r>
              <a:rPr lang="en-IN" sz="2600" kern="100" dirty="0">
                <a:effectLst/>
                <a:latin typeface="Calibri" panose="020F0502020204030204" pitchFamily="34" charset="0"/>
                <a:ea typeface="Calibri" panose="020F0502020204030204" pitchFamily="34" charset="0"/>
                <a:cs typeface="Times New Roman" panose="02020603050405020304" pitchFamily="18" charset="0"/>
              </a:rPr>
              <a:t>Average income, Average spending are the customers that are likely to be budget-conscious. They may need some push to increase their spending score.</a:t>
            </a:r>
          </a:p>
          <a:p>
            <a:pPr lvl="0">
              <a:lnSpc>
                <a:spcPct val="107000"/>
              </a:lnSpc>
              <a:spcAft>
                <a:spcPts val="800"/>
              </a:spcAft>
              <a:buFont typeface="Wingdings" panose="05000000000000000000" pitchFamily="2" charset="2"/>
              <a:buChar char="v"/>
              <a:tabLst>
                <a:tab pos="457200" algn="l"/>
              </a:tabLst>
            </a:pPr>
            <a:r>
              <a:rPr lang="en-IN" sz="2600" kern="100" dirty="0">
                <a:effectLst/>
                <a:latin typeface="Calibri" panose="020F0502020204030204" pitchFamily="34" charset="0"/>
                <a:ea typeface="Calibri" panose="020F0502020204030204" pitchFamily="34" charset="0"/>
                <a:cs typeface="Times New Roman" panose="02020603050405020304" pitchFamily="18" charset="0"/>
              </a:rPr>
              <a:t>Low income, High spending are the customers that are willing to spend but has low income. They may focus on good deals, quality and practically .</a:t>
            </a:r>
          </a:p>
          <a:p>
            <a:pPr lvl="0">
              <a:lnSpc>
                <a:spcPct val="107000"/>
              </a:lnSpc>
              <a:spcAft>
                <a:spcPts val="800"/>
              </a:spcAft>
              <a:buFont typeface="Wingdings" panose="05000000000000000000" pitchFamily="2" charset="2"/>
              <a:buChar char="v"/>
              <a:tabLst>
                <a:tab pos="457200" algn="l"/>
              </a:tabLst>
            </a:pPr>
            <a:r>
              <a:rPr lang="en-IN" sz="2600" kern="100" dirty="0">
                <a:effectLst/>
                <a:latin typeface="Calibri" panose="020F0502020204030204" pitchFamily="34" charset="0"/>
                <a:ea typeface="Calibri" panose="020F0502020204030204" pitchFamily="34" charset="0"/>
                <a:cs typeface="Times New Roman" panose="02020603050405020304" pitchFamily="18" charset="0"/>
              </a:rPr>
              <a:t>Low income, Low spending are the customers that are budget-conscious with limited disposable income. They  may need some significant push to spend more, focussing on price over quality.</a:t>
            </a:r>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4490946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A3B073-AB1F-6C2B-620C-8C9DA22CD048}"/>
              </a:ext>
            </a:extLst>
          </p:cNvPr>
          <p:cNvSpPr>
            <a:spLocks noGrp="1"/>
          </p:cNvSpPr>
          <p:nvPr>
            <p:ph idx="1"/>
          </p:nvPr>
        </p:nvSpPr>
        <p:spPr>
          <a:xfrm>
            <a:off x="1141412" y="412955"/>
            <a:ext cx="9905999" cy="5928850"/>
          </a:xfrm>
        </p:spPr>
        <p:style>
          <a:lnRef idx="2">
            <a:schemeClr val="accent3"/>
          </a:lnRef>
          <a:fillRef idx="1">
            <a:schemeClr val="lt1"/>
          </a:fillRef>
          <a:effectRef idx="0">
            <a:schemeClr val="accent3"/>
          </a:effectRef>
          <a:fontRef idx="minor">
            <a:schemeClr val="dk1"/>
          </a:fontRef>
        </p:style>
        <p:txBody>
          <a:bodyPr/>
          <a:lstStyle/>
          <a:p>
            <a:pPr marL="0" indent="0">
              <a:buNone/>
            </a:pPr>
            <a:r>
              <a:rPr lang="en-US" dirty="0"/>
              <a:t>2) Recommendation</a:t>
            </a:r>
          </a:p>
          <a:p>
            <a:pPr marL="0" indent="0">
              <a:buNone/>
            </a:pPr>
            <a:r>
              <a:rPr lang="en-US" dirty="0"/>
              <a:t>      here we present our market strategies and our target customers.</a:t>
            </a:r>
          </a:p>
          <a:p>
            <a:r>
              <a:rPr lang="en-US" dirty="0"/>
              <a:t>From the above insights our main target customers for any business are usually the group high income with high spending.</a:t>
            </a:r>
          </a:p>
          <a:p>
            <a:r>
              <a:rPr lang="en-US" dirty="0"/>
              <a:t>Because this customers are willing to spend more, we target them to focus on premium products and luxury services.</a:t>
            </a:r>
          </a:p>
          <a:p>
            <a:r>
              <a:rPr lang="en-US" dirty="0"/>
              <a:t>The market strategy can be used for other groups like for high income and low spending customers we can provide long-term such as quality or investment opportunities. We target these customers by asking feedback and advertising the product in a better way.</a:t>
            </a:r>
          </a:p>
          <a:p>
            <a:pPr marL="0" indent="0">
              <a:buNone/>
            </a:pPr>
            <a:endParaRPr lang="en-US" dirty="0"/>
          </a:p>
          <a:p>
            <a:endParaRPr lang="en-IN" dirty="0"/>
          </a:p>
        </p:txBody>
      </p:sp>
    </p:spTree>
    <p:extLst>
      <p:ext uri="{BB962C8B-B14F-4D97-AF65-F5344CB8AC3E}">
        <p14:creationId xmlns:p14="http://schemas.microsoft.com/office/powerpoint/2010/main" val="257640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111FBB-0385-BC6C-F4DC-6E865C4D5D62}"/>
              </a:ext>
            </a:extLst>
          </p:cNvPr>
          <p:cNvSpPr>
            <a:spLocks noGrp="1"/>
          </p:cNvSpPr>
          <p:nvPr>
            <p:ph idx="1"/>
          </p:nvPr>
        </p:nvSpPr>
        <p:spPr>
          <a:xfrm>
            <a:off x="1141412" y="373626"/>
            <a:ext cx="9905999" cy="5417575"/>
          </a:xfrm>
        </p:spPr>
        <p:style>
          <a:lnRef idx="2">
            <a:schemeClr val="accent1"/>
          </a:lnRef>
          <a:fillRef idx="1">
            <a:schemeClr val="lt1"/>
          </a:fillRef>
          <a:effectRef idx="0">
            <a:schemeClr val="accent1"/>
          </a:effectRef>
          <a:fontRef idx="minor">
            <a:schemeClr val="dk1"/>
          </a:fontRef>
        </p:style>
        <p:txBody>
          <a:bodyPr/>
          <a:lstStyle/>
          <a:p>
            <a:r>
              <a:rPr lang="en-US" dirty="0"/>
              <a:t>Low income and high spending can be targeted . We can use promotional strategies that will reward customers for continued engagement( like cashback offers)</a:t>
            </a:r>
          </a:p>
          <a:p>
            <a:r>
              <a:rPr lang="en-US" dirty="0"/>
              <a:t>Average income and average spending may or may not beneficial to the mall owners .we can encourage them for more purchases by promotions , discounts and bundle of offers.</a:t>
            </a:r>
          </a:p>
          <a:p>
            <a:r>
              <a:rPr lang="en-US" dirty="0"/>
              <a:t>In low income and low spending group market don’t target these type of customers because they earn little and spent little amount of money. For these type of customers we can provide budget-friendly products , flexible payment options. Focus on essential items they need rather than luxury or non-essential products.</a:t>
            </a:r>
            <a:endParaRPr lang="en-IN" dirty="0"/>
          </a:p>
        </p:txBody>
      </p:sp>
    </p:spTree>
    <p:extLst>
      <p:ext uri="{BB962C8B-B14F-4D97-AF65-F5344CB8AC3E}">
        <p14:creationId xmlns:p14="http://schemas.microsoft.com/office/powerpoint/2010/main" val="2589796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62D831-BEF2-B531-3731-BE1573E469AC}"/>
              </a:ext>
            </a:extLst>
          </p:cNvPr>
          <p:cNvSpPr>
            <a:spLocks noGrp="1"/>
          </p:cNvSpPr>
          <p:nvPr>
            <p:ph idx="1"/>
          </p:nvPr>
        </p:nvSpPr>
        <p:spPr>
          <a:xfrm>
            <a:off x="1141412" y="275303"/>
            <a:ext cx="9905999" cy="5515898"/>
          </a:xfrm>
        </p:spPr>
        <p:txBody>
          <a:bodyPr>
            <a:normAutofit fontScale="92500" lnSpcReduction="10000"/>
          </a:bodyPr>
          <a:lstStyle/>
          <a:p>
            <a:pPr marL="0" indent="0">
              <a:buNone/>
            </a:pPr>
            <a:r>
              <a:rPr lang="en-US" sz="2600" dirty="0"/>
              <a:t>3) Limitations </a:t>
            </a:r>
          </a:p>
          <a:p>
            <a:pPr marL="0" lvl="0" indent="0">
              <a:lnSpc>
                <a:spcPct val="107000"/>
              </a:lnSpc>
              <a:buNone/>
            </a:pPr>
            <a:r>
              <a:rPr lang="en-US" dirty="0"/>
              <a:t>  </a:t>
            </a:r>
          </a:p>
          <a:p>
            <a:pPr lvl="0">
              <a:lnSpc>
                <a:spcPct val="107000"/>
              </a:lnSpc>
            </a:pPr>
            <a:r>
              <a:rPr lang="en-US" dirty="0"/>
              <a:t> </a:t>
            </a:r>
            <a:r>
              <a:rPr lang="en-IN" u="sng" kern="100" dirty="0">
                <a:effectLst/>
                <a:latin typeface="Calibri" panose="020F0502020204030204" pitchFamily="34" charset="0"/>
                <a:ea typeface="Calibri" panose="020F0502020204030204" pitchFamily="34" charset="0"/>
                <a:cs typeface="Times New Roman" panose="02020603050405020304" pitchFamily="18" charset="0"/>
              </a:rPr>
              <a:t>Fixed number of clusters:</a:t>
            </a:r>
            <a:r>
              <a:rPr lang="en-IN" kern="100" dirty="0">
                <a:effectLst/>
                <a:latin typeface="Calibri" panose="020F0502020204030204" pitchFamily="34" charset="0"/>
                <a:ea typeface="Calibri" panose="020F0502020204030204" pitchFamily="34" charset="0"/>
                <a:cs typeface="Times New Roman" panose="02020603050405020304" pitchFamily="18" charset="0"/>
              </a:rPr>
              <a:t> K-means requires the user to predefine the number of clusters K which may not be optimal without prior knowledge</a:t>
            </a:r>
          </a:p>
          <a:p>
            <a:pPr lvl="0">
              <a:lnSpc>
                <a:spcPct val="107000"/>
              </a:lnSpc>
            </a:pPr>
            <a:r>
              <a:rPr lang="en-IN" u="sng" kern="100" dirty="0">
                <a:effectLst/>
                <a:latin typeface="Calibri" panose="020F0502020204030204" pitchFamily="34" charset="0"/>
                <a:ea typeface="Calibri" panose="020F0502020204030204" pitchFamily="34" charset="0"/>
                <a:cs typeface="Times New Roman" panose="02020603050405020304" pitchFamily="18" charset="0"/>
              </a:rPr>
              <a:t>Assumption of spherical clusters</a:t>
            </a:r>
            <a:r>
              <a:rPr lang="en-IN" kern="100" dirty="0">
                <a:effectLst/>
                <a:latin typeface="Calibri" panose="020F0502020204030204" pitchFamily="34" charset="0"/>
                <a:ea typeface="Calibri" panose="020F0502020204030204" pitchFamily="34" charset="0"/>
                <a:cs typeface="Times New Roman" panose="02020603050405020304" pitchFamily="18" charset="0"/>
              </a:rPr>
              <a:t>: K-means assumes clusters are spherical and equally sized, which doesn’t work well with non-spherical or unevenly distributed data.</a:t>
            </a:r>
          </a:p>
          <a:p>
            <a:pPr lvl="0">
              <a:lnSpc>
                <a:spcPct val="107000"/>
              </a:lnSpc>
            </a:pPr>
            <a:r>
              <a:rPr lang="en-IN" u="sng" kern="100" dirty="0">
                <a:effectLst/>
                <a:latin typeface="Calibri" panose="020F0502020204030204" pitchFamily="34" charset="0"/>
                <a:ea typeface="Calibri" panose="020F0502020204030204" pitchFamily="34" charset="0"/>
                <a:cs typeface="Times New Roman" panose="02020603050405020304" pitchFamily="18" charset="0"/>
              </a:rPr>
              <a:t>Not robust to outliers</a:t>
            </a:r>
            <a:r>
              <a:rPr lang="en-IN" kern="100" dirty="0">
                <a:effectLst/>
                <a:latin typeface="Calibri" panose="020F0502020204030204" pitchFamily="34" charset="0"/>
                <a:ea typeface="Calibri" panose="020F0502020204030204" pitchFamily="34" charset="0"/>
                <a:cs typeface="Times New Roman" panose="02020603050405020304" pitchFamily="18" charset="0"/>
              </a:rPr>
              <a:t>: Outliers can significantly distort clusters centres, affecting the quality of the clustering.</a:t>
            </a:r>
          </a:p>
          <a:p>
            <a:pPr lvl="0">
              <a:lnSpc>
                <a:spcPct val="107000"/>
              </a:lnSpc>
            </a:pPr>
            <a:r>
              <a:rPr lang="en-IN" u="sng" kern="100" dirty="0">
                <a:effectLst/>
                <a:latin typeface="Calibri" panose="020F0502020204030204" pitchFamily="34" charset="0"/>
                <a:ea typeface="Calibri" panose="020F0502020204030204" pitchFamily="34" charset="0"/>
                <a:cs typeface="Times New Roman" panose="02020603050405020304" pitchFamily="18" charset="0"/>
              </a:rPr>
              <a:t>Only works with numerical data</a:t>
            </a:r>
            <a:r>
              <a:rPr lang="en-IN" kern="100" dirty="0">
                <a:effectLst/>
                <a:latin typeface="Calibri" panose="020F0502020204030204" pitchFamily="34" charset="0"/>
                <a:ea typeface="Calibri" panose="020F0502020204030204" pitchFamily="34" charset="0"/>
                <a:cs typeface="Times New Roman" panose="02020603050405020304" pitchFamily="18" charset="0"/>
              </a:rPr>
              <a:t>: K-means  uses distance measures, so it is not suitable for categorical data or mixed-type data without preprocessing.</a:t>
            </a:r>
          </a:p>
          <a:p>
            <a:pPr lvl="0">
              <a:lnSpc>
                <a:spcPct val="107000"/>
              </a:lnSpc>
              <a:spcAft>
                <a:spcPts val="800"/>
              </a:spcAft>
            </a:pPr>
            <a:r>
              <a:rPr lang="en-IN" u="sng" kern="100" dirty="0">
                <a:effectLst/>
                <a:latin typeface="Calibri" panose="020F0502020204030204" pitchFamily="34" charset="0"/>
                <a:ea typeface="Calibri" panose="020F0502020204030204" pitchFamily="34" charset="0"/>
                <a:cs typeface="Times New Roman" panose="02020603050405020304" pitchFamily="18" charset="0"/>
              </a:rPr>
              <a:t>Sensitivity to scale</a:t>
            </a:r>
            <a:r>
              <a:rPr lang="en-IN" kern="100" dirty="0">
                <a:effectLst/>
                <a:latin typeface="Calibri" panose="020F0502020204030204" pitchFamily="34" charset="0"/>
                <a:ea typeface="Calibri" panose="020F0502020204030204" pitchFamily="34" charset="0"/>
                <a:cs typeface="Times New Roman" panose="02020603050405020304" pitchFamily="18" charset="0"/>
              </a:rPr>
              <a:t>: If the features have different scales, k-means can be biased toward the features with larger ranges, requiring normalization or standardization.</a:t>
            </a:r>
          </a:p>
          <a:p>
            <a:pPr marL="0" indent="0">
              <a:buNone/>
            </a:pPr>
            <a:endParaRPr lang="en-IN" dirty="0"/>
          </a:p>
        </p:txBody>
      </p:sp>
    </p:spTree>
    <p:extLst>
      <p:ext uri="{BB962C8B-B14F-4D97-AF65-F5344CB8AC3E}">
        <p14:creationId xmlns:p14="http://schemas.microsoft.com/office/powerpoint/2010/main" val="946394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13C54C-64A0-11B1-E604-7BAE6C380612}"/>
              </a:ext>
            </a:extLst>
          </p:cNvPr>
          <p:cNvSpPr>
            <a:spLocks noGrp="1"/>
          </p:cNvSpPr>
          <p:nvPr>
            <p:ph idx="1"/>
          </p:nvPr>
        </p:nvSpPr>
        <p:spPr>
          <a:xfrm>
            <a:off x="1141412" y="324465"/>
            <a:ext cx="9905999" cy="6056670"/>
          </a:xfrm>
        </p:spPr>
        <p:txBody>
          <a:bodyPr>
            <a:normAutofit/>
          </a:bodyPr>
          <a:lstStyle/>
          <a:p>
            <a:pPr marL="0" indent="0">
              <a:buNone/>
            </a:pPr>
            <a:r>
              <a:rPr lang="en-US" dirty="0"/>
              <a:t>4) Future Work</a:t>
            </a:r>
          </a:p>
          <a:p>
            <a:pPr marL="0" indent="0">
              <a:lnSpc>
                <a:spcPct val="107000"/>
              </a:lnSpc>
              <a:spcAft>
                <a:spcPts val="800"/>
              </a:spcAft>
              <a:buNone/>
            </a:pPr>
            <a:r>
              <a:rPr lang="en-US" sz="2200" dirty="0"/>
              <a:t>         </a:t>
            </a:r>
            <a:r>
              <a:rPr lang="en-IN" sz="22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2200" kern="100" dirty="0">
                <a:effectLst/>
                <a:latin typeface="Calibri" panose="020F0502020204030204" pitchFamily="34" charset="0"/>
                <a:ea typeface="Calibri" panose="020F0502020204030204" pitchFamily="34" charset="0"/>
                <a:cs typeface="Times New Roman" panose="02020603050405020304" pitchFamily="18" charset="0"/>
              </a:rPr>
              <a:t>While the current analysis has successfully segmented customers based on available data, there are several opportunities to extend and enhance this work. By addressing certain limitations and exploring additional methods ,future research  can provide deeper insights and further improve the effectiveness of customer segmentation.</a:t>
            </a:r>
          </a:p>
          <a:p>
            <a:pPr marL="381000" indent="-342900">
              <a:lnSpc>
                <a:spcPct val="107000"/>
              </a:lnSpc>
              <a:spcAft>
                <a:spcPts val="800"/>
              </a:spcAft>
              <a:buFont typeface="Wingdings" panose="05000000000000000000" pitchFamily="2" charset="2"/>
              <a:buChar char="v"/>
            </a:pP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You can explore advanced clustering techniques like DBSCAN, hierarchical clustering or Gaussian Mixture Models to improve segmentation quality ,especially for non-spherical clusters. Also this method is useful in deciding the number of clusters as no need to predefine K.</a:t>
            </a:r>
          </a:p>
          <a:p>
            <a:pPr marL="381000" indent="-342900">
              <a:lnSpc>
                <a:spcPct val="107000"/>
              </a:lnSpc>
              <a:spcAft>
                <a:spcPts val="800"/>
              </a:spcAft>
              <a:buFont typeface="Wingdings" panose="05000000000000000000" pitchFamily="2" charset="2"/>
              <a:buChar char="v"/>
            </a:pPr>
            <a:r>
              <a:rPr lang="en-IN" sz="2000" kern="100" dirty="0">
                <a:latin typeface="Calibri" panose="020F0502020204030204" pitchFamily="34" charset="0"/>
                <a:ea typeface="Calibri" panose="020F0502020204030204" pitchFamily="34" charset="0"/>
                <a:cs typeface="Times New Roman" panose="02020603050405020304" pitchFamily="18" charset="0"/>
              </a:rPr>
              <a:t>Future work could include additional features like location , product preference. These additional features would refine the segmentation providing deeper insights and enabling more precise targeting strategies.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8100" indent="0">
              <a:lnSpc>
                <a:spcPct val="107000"/>
              </a:lnSpc>
              <a:spcAft>
                <a:spcPts val="800"/>
              </a:spcAft>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69960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CA3F26-AFB6-B052-0DC5-AF53F4124DF3}"/>
              </a:ext>
            </a:extLst>
          </p:cNvPr>
          <p:cNvSpPr>
            <a:spLocks noGrp="1"/>
          </p:cNvSpPr>
          <p:nvPr>
            <p:ph idx="1"/>
          </p:nvPr>
        </p:nvSpPr>
        <p:spPr>
          <a:xfrm>
            <a:off x="1141412" y="648929"/>
            <a:ext cx="9905999" cy="5142272"/>
          </a:xfrm>
        </p:spPr>
        <p:txBody>
          <a:bodyPr/>
          <a:lstStyle/>
          <a:p>
            <a:pPr>
              <a:buFont typeface="Wingdings" panose="05000000000000000000" pitchFamily="2" charset="2"/>
              <a:buChar char="v"/>
            </a:pPr>
            <a:r>
              <a:rPr lang="en-IN" kern="100" dirty="0">
                <a:effectLst/>
                <a:latin typeface="Calibri" panose="020F0502020204030204" pitchFamily="34" charset="0"/>
                <a:ea typeface="Calibri" panose="020F0502020204030204" pitchFamily="34" charset="0"/>
                <a:cs typeface="Times New Roman" panose="02020603050405020304" pitchFamily="18" charset="0"/>
              </a:rPr>
              <a:t> Incorporating behavioural data such as purchase frequency, types of products brought or browsing history would allow for more understanding of customer segmentation. This could lead better tailored marketing strategies that address specific behaviours rather than just demographic attributes.  </a:t>
            </a:r>
          </a:p>
          <a:p>
            <a:pPr>
              <a:buFont typeface="Wingdings" panose="05000000000000000000" pitchFamily="2" charset="2"/>
              <a:buChar char="v"/>
            </a:pPr>
            <a:endParaRPr lang="en-IN" dirty="0"/>
          </a:p>
          <a:p>
            <a:pPr>
              <a:buFont typeface="Wingdings" panose="05000000000000000000" pitchFamily="2" charset="2"/>
              <a:buChar char="v"/>
            </a:pPr>
            <a:r>
              <a:rPr lang="en-IN" kern="100" dirty="0">
                <a:effectLst/>
                <a:latin typeface="Calibri" panose="020F0502020204030204" pitchFamily="34" charset="0"/>
                <a:ea typeface="Calibri" panose="020F0502020204030204" pitchFamily="34" charset="0"/>
                <a:cs typeface="Times New Roman" panose="02020603050405020304" pitchFamily="18" charset="0"/>
              </a:rPr>
              <a:t>Incorporating customer feedback and satisfaction  scores could provide valuable insights into the quality of service or product </a:t>
            </a:r>
            <a:r>
              <a:rPr lang="en-IN" kern="100" dirty="0" err="1">
                <a:effectLst/>
                <a:latin typeface="Calibri" panose="020F0502020204030204" pitchFamily="34" charset="0"/>
                <a:ea typeface="Calibri" panose="020F0502020204030204" pitchFamily="34" charset="0"/>
                <a:cs typeface="Times New Roman" panose="02020603050405020304" pitchFamily="18" charset="0"/>
              </a:rPr>
              <a:t>perferences</a:t>
            </a:r>
            <a:r>
              <a:rPr lang="en-IN" kern="100" dirty="0">
                <a:effectLst/>
                <a:latin typeface="Calibri" panose="020F0502020204030204" pitchFamily="34" charset="0"/>
                <a:ea typeface="Calibri" panose="020F0502020204030204" pitchFamily="34" charset="0"/>
                <a:cs typeface="Times New Roman" panose="02020603050405020304" pitchFamily="18" charset="0"/>
              </a:rPr>
              <a:t>. This data could be used to segment customers based on how they perceive the business, allowing more customer-centric improvements.  </a:t>
            </a:r>
          </a:p>
          <a:p>
            <a:pPr marL="0" indent="0">
              <a:buNone/>
            </a:pPr>
            <a:endParaRPr lang="en-IN" dirty="0"/>
          </a:p>
        </p:txBody>
      </p:sp>
    </p:spTree>
    <p:extLst>
      <p:ext uri="{BB962C8B-B14F-4D97-AF65-F5344CB8AC3E}">
        <p14:creationId xmlns:p14="http://schemas.microsoft.com/office/powerpoint/2010/main" val="3933009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0AD5C-F17A-1AF0-4F06-8703A0558A29}"/>
              </a:ext>
            </a:extLst>
          </p:cNvPr>
          <p:cNvSpPr>
            <a:spLocks noGrp="1"/>
          </p:cNvSpPr>
          <p:nvPr>
            <p:ph type="title"/>
          </p:nvPr>
        </p:nvSpPr>
        <p:spPr>
          <a:xfrm>
            <a:off x="1141413" y="68826"/>
            <a:ext cx="9905998" cy="1189703"/>
          </a:xfrm>
        </p:spPr>
        <p:txBody>
          <a:bodyPr/>
          <a:lstStyle/>
          <a:p>
            <a:pPr algn="ctr"/>
            <a:r>
              <a:rPr lang="en-US" b="1" dirty="0"/>
              <a:t>References</a:t>
            </a:r>
            <a:endParaRPr lang="en-IN" b="1" dirty="0"/>
          </a:p>
        </p:txBody>
      </p:sp>
      <p:sp>
        <p:nvSpPr>
          <p:cNvPr id="3" name="Content Placeholder 2">
            <a:extLst>
              <a:ext uri="{FF2B5EF4-FFF2-40B4-BE49-F238E27FC236}">
                <a16:creationId xmlns:a16="http://schemas.microsoft.com/office/drawing/2014/main" id="{D04AA9B1-1E5B-2BB6-AD04-BD7B57D490CA}"/>
              </a:ext>
            </a:extLst>
          </p:cNvPr>
          <p:cNvSpPr>
            <a:spLocks noGrp="1"/>
          </p:cNvSpPr>
          <p:nvPr>
            <p:ph idx="1"/>
          </p:nvPr>
        </p:nvSpPr>
        <p:spPr>
          <a:xfrm>
            <a:off x="934066" y="1327354"/>
            <a:ext cx="10113346" cy="5378245"/>
          </a:xfrm>
        </p:spPr>
        <p:txBody>
          <a:bodyPr>
            <a:normAutofit fontScale="62500" lnSpcReduction="20000"/>
          </a:bodyPr>
          <a:lstStyle/>
          <a:p>
            <a:pPr>
              <a:lnSpc>
                <a:spcPct val="107000"/>
              </a:lnSpc>
              <a:spcAft>
                <a:spcPts val="800"/>
              </a:spcAft>
            </a:pPr>
            <a:r>
              <a:rPr lang="en-US" sz="32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Sari  Juni </a:t>
            </a:r>
            <a:r>
              <a:rPr lang="en-IN" sz="3200" kern="100" dirty="0" err="1">
                <a:effectLst/>
                <a:latin typeface="Calibri" panose="020F0502020204030204" pitchFamily="34" charset="0"/>
                <a:ea typeface="Calibri" panose="020F0502020204030204" pitchFamily="34" charset="0"/>
                <a:cs typeface="Times New Roman" panose="02020603050405020304" pitchFamily="18" charset="0"/>
              </a:rPr>
              <a:t>Nurma</a:t>
            </a: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 Nugroho, </a:t>
            </a:r>
            <a:r>
              <a:rPr lang="en-IN" sz="3200" kern="100" dirty="0" err="1">
                <a:effectLst/>
                <a:latin typeface="Calibri" panose="020F0502020204030204" pitchFamily="34" charset="0"/>
                <a:ea typeface="Calibri" panose="020F0502020204030204" pitchFamily="34" charset="0"/>
                <a:cs typeface="Times New Roman" panose="02020603050405020304" pitchFamily="18" charset="0"/>
              </a:rPr>
              <a:t>Lukito</a:t>
            </a: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 Edi, </a:t>
            </a:r>
            <a:r>
              <a:rPr lang="en-IN" sz="3200" kern="100" dirty="0" err="1">
                <a:effectLst/>
                <a:latin typeface="Calibri" panose="020F0502020204030204" pitchFamily="34" charset="0"/>
                <a:ea typeface="Calibri" panose="020F0502020204030204" pitchFamily="34" charset="0"/>
                <a:cs typeface="Times New Roman" panose="02020603050405020304" pitchFamily="18" charset="0"/>
              </a:rPr>
              <a:t>Ferdiana</a:t>
            </a: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3200" kern="100" dirty="0" err="1">
                <a:effectLst/>
                <a:latin typeface="Calibri" panose="020F0502020204030204" pitchFamily="34" charset="0"/>
                <a:ea typeface="Calibri" panose="020F0502020204030204" pitchFamily="34" charset="0"/>
                <a:cs typeface="Times New Roman" panose="02020603050405020304" pitchFamily="18" charset="0"/>
              </a:rPr>
              <a:t>Ridi</a:t>
            </a: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 &amp; </a:t>
            </a:r>
            <a:r>
              <a:rPr lang="en-IN" sz="3200" kern="100" dirty="0" err="1">
                <a:effectLst/>
                <a:latin typeface="Calibri" panose="020F0502020204030204" pitchFamily="34" charset="0"/>
                <a:ea typeface="Calibri" panose="020F0502020204030204" pitchFamily="34" charset="0"/>
                <a:cs typeface="Times New Roman" panose="02020603050405020304" pitchFamily="18" charset="0"/>
              </a:rPr>
              <a:t>Santosa</a:t>
            </a: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 P. </a:t>
            </a:r>
            <a:r>
              <a:rPr lang="en-IN" sz="3200" kern="100" dirty="0" err="1">
                <a:effectLst/>
                <a:latin typeface="Calibri" panose="020F0502020204030204" pitchFamily="34" charset="0"/>
                <a:ea typeface="Calibri" panose="020F0502020204030204" pitchFamily="34" charset="0"/>
                <a:cs typeface="Times New Roman" panose="02020603050405020304" pitchFamily="18" charset="0"/>
              </a:rPr>
              <a:t>Insap</a:t>
            </a: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 (2016).“Review on Customer Segmentation Technique on Ecommerce”. </a:t>
            </a:r>
            <a:r>
              <a:rPr lang="en-IN" sz="3200" i="1" kern="100" dirty="0">
                <a:effectLst/>
                <a:latin typeface="Calibri" panose="020F0502020204030204" pitchFamily="34" charset="0"/>
                <a:ea typeface="Calibri" panose="020F0502020204030204" pitchFamily="34" charset="0"/>
                <a:cs typeface="Times New Roman" panose="02020603050405020304" pitchFamily="18" charset="0"/>
              </a:rPr>
              <a:t>Advanced Science Letters</a:t>
            </a: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 vol </a:t>
            </a:r>
            <a:r>
              <a:rPr lang="en-IN" sz="3200" i="1" kern="100" dirty="0">
                <a:effectLst/>
                <a:latin typeface="Calibri" panose="020F0502020204030204" pitchFamily="34" charset="0"/>
                <a:ea typeface="Calibri" panose="020F0502020204030204" pitchFamily="34" charset="0"/>
                <a:cs typeface="Times New Roman" panose="02020603050405020304" pitchFamily="18" charset="0"/>
              </a:rPr>
              <a:t>22, No</a:t>
            </a: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(10), 3018</a:t>
            </a:r>
            <a:r>
              <a:rPr lang="en-US" sz="3200" kern="100" dirty="0">
                <a:effectLst/>
                <a:latin typeface="Calibri" panose="020F0502020204030204" pitchFamily="34" charset="0"/>
                <a:ea typeface="Calibri" panose="020F0502020204030204" pitchFamily="34" charset="0"/>
                <a:cs typeface="Times New Roman" panose="02020603050405020304" pitchFamily="18" charset="0"/>
              </a:rPr>
              <a:t>–</a:t>
            </a: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3022. </a:t>
            </a:r>
          </a:p>
          <a:p>
            <a:pPr>
              <a:lnSpc>
                <a:spcPct val="107000"/>
              </a:lnSpc>
              <a:spcAft>
                <a:spcPts val="800"/>
              </a:spcAft>
            </a:pP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 Chenguang Wang (2022).”Efficient Customer Segmentation in digital marketing using Deep Learning with Swarm Intelligence Approach”.  Information Processing and Management, vol 59, issue 6, 0306-4573.  </a:t>
            </a:r>
          </a:p>
          <a:p>
            <a:pPr>
              <a:lnSpc>
                <a:spcPct val="107000"/>
              </a:lnSpc>
              <a:spcAft>
                <a:spcPts val="800"/>
              </a:spcAft>
            </a:pP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Rahma Wah </a:t>
            </a:r>
            <a:r>
              <a:rPr lang="en-IN" sz="3200" kern="100" dirty="0" err="1">
                <a:effectLst/>
                <a:latin typeface="Calibri" panose="020F0502020204030204" pitchFamily="34" charset="0"/>
                <a:ea typeface="Calibri" panose="020F0502020204030204" pitchFamily="34" charset="0"/>
                <a:cs typeface="Times New Roman" panose="02020603050405020304" pitchFamily="18" charset="0"/>
              </a:rPr>
              <a:t>Sembring</a:t>
            </a: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3200" kern="100" dirty="0" err="1">
                <a:effectLst/>
                <a:latin typeface="Calibri" panose="020F0502020204030204" pitchFamily="34" charset="0"/>
                <a:ea typeface="Calibri" panose="020F0502020204030204" pitchFamily="34" charset="0"/>
                <a:cs typeface="Times New Roman" panose="02020603050405020304" pitchFamily="18" charset="0"/>
              </a:rPr>
              <a:t>Brahama</a:t>
            </a: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 Fahd </a:t>
            </a:r>
            <a:r>
              <a:rPr lang="en-IN" sz="3200" kern="100" dirty="0" err="1">
                <a:effectLst/>
                <a:latin typeface="Calibri" panose="020F0502020204030204" pitchFamily="34" charset="0"/>
                <a:ea typeface="Calibri" panose="020F0502020204030204" pitchFamily="34" charset="0"/>
                <a:cs typeface="Times New Roman" panose="02020603050405020304" pitchFamily="18" charset="0"/>
              </a:rPr>
              <a:t>Agodzo</a:t>
            </a: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 Mohammed, </a:t>
            </a:r>
            <a:r>
              <a:rPr lang="en-IN" sz="3200" kern="100" dirty="0" err="1">
                <a:effectLst/>
                <a:latin typeface="Calibri" panose="020F0502020204030204" pitchFamily="34" charset="0"/>
                <a:ea typeface="Calibri" panose="020F0502020204030204" pitchFamily="34" charset="0"/>
                <a:cs typeface="Times New Roman" panose="02020603050405020304" pitchFamily="18" charset="0"/>
              </a:rPr>
              <a:t>Kankamol</a:t>
            </a: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3200" kern="100" dirty="0" err="1">
                <a:effectLst/>
                <a:latin typeface="Calibri" panose="020F0502020204030204" pitchFamily="34" charset="0"/>
                <a:ea typeface="Calibri" panose="020F0502020204030204" pitchFamily="34" charset="0"/>
                <a:cs typeface="Times New Roman" panose="02020603050405020304" pitchFamily="18" charset="0"/>
              </a:rPr>
              <a:t>Chairuong</a:t>
            </a: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 (2020).”Customer Segmentation based on RFM model using K-Means , K-Medoids and DBSCAN methods”. Lontar </a:t>
            </a:r>
            <a:r>
              <a:rPr lang="en-IN" sz="3200" kern="100" dirty="0" err="1">
                <a:effectLst/>
                <a:latin typeface="Calibri" panose="020F0502020204030204" pitchFamily="34" charset="0"/>
                <a:ea typeface="Calibri" panose="020F0502020204030204" pitchFamily="34" charset="0"/>
                <a:cs typeface="Times New Roman" panose="02020603050405020304" pitchFamily="18" charset="0"/>
              </a:rPr>
              <a:t>Komputer</a:t>
            </a: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3200" kern="100" dirty="0" err="1">
                <a:effectLst/>
                <a:latin typeface="Calibri" panose="020F0502020204030204" pitchFamily="34" charset="0"/>
                <a:ea typeface="Calibri" panose="020F0502020204030204" pitchFamily="34" charset="0"/>
                <a:cs typeface="Times New Roman" panose="02020603050405020304" pitchFamily="18" charset="0"/>
              </a:rPr>
              <a:t>Jurnal</a:t>
            </a: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3200" kern="100" dirty="0" err="1">
                <a:effectLst/>
                <a:latin typeface="Calibri" panose="020F0502020204030204" pitchFamily="34" charset="0"/>
                <a:ea typeface="Calibri" panose="020F0502020204030204" pitchFamily="34" charset="0"/>
                <a:cs typeface="Times New Roman" panose="02020603050405020304" pitchFamily="18" charset="0"/>
              </a:rPr>
              <a:t>Ilmiah</a:t>
            </a: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3200" kern="100" dirty="0" err="1">
                <a:effectLst/>
                <a:latin typeface="Calibri" panose="020F0502020204030204" pitchFamily="34" charset="0"/>
                <a:ea typeface="Calibri" panose="020F0502020204030204" pitchFamily="34" charset="0"/>
                <a:cs typeface="Times New Roman" panose="02020603050405020304" pitchFamily="18" charset="0"/>
              </a:rPr>
              <a:t>Teknology</a:t>
            </a: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3200" kern="100" dirty="0" err="1">
                <a:effectLst/>
                <a:latin typeface="Calibri" panose="020F0502020204030204" pitchFamily="34" charset="0"/>
                <a:ea typeface="Calibri" panose="020F0502020204030204" pitchFamily="34" charset="0"/>
                <a:cs typeface="Times New Roman" panose="02020603050405020304" pitchFamily="18" charset="0"/>
              </a:rPr>
              <a:t>Informasi</a:t>
            </a: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 vol 11, 2541-5832.                               </a:t>
            </a:r>
          </a:p>
          <a:p>
            <a:pPr marL="0" indent="0">
              <a:lnSpc>
                <a:spcPct val="107000"/>
              </a:lnSpc>
              <a:spcAft>
                <a:spcPts val="800"/>
              </a:spcAft>
              <a:buNone/>
            </a:pP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 Eman Hussein .Sharaf </a:t>
            </a:r>
            <a:r>
              <a:rPr lang="en-IN" sz="3200" kern="100" dirty="0" err="1">
                <a:effectLst/>
                <a:latin typeface="Calibri" panose="020F0502020204030204" pitchFamily="34" charset="0"/>
                <a:ea typeface="Calibri" panose="020F0502020204030204" pitchFamily="34" charset="0"/>
                <a:cs typeface="Times New Roman" panose="02020603050405020304" pitchFamily="18" charset="0"/>
              </a:rPr>
              <a:t>Addin</a:t>
            </a: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3200" kern="100" dirty="0" err="1">
                <a:effectLst/>
                <a:latin typeface="Calibri" panose="020F0502020204030204" pitchFamily="34" charset="0"/>
                <a:ea typeface="Calibri" panose="020F0502020204030204" pitchFamily="34" charset="0"/>
                <a:cs typeface="Times New Roman" panose="02020603050405020304" pitchFamily="18" charset="0"/>
              </a:rPr>
              <a:t>Novia</a:t>
            </a: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3200" kern="100" dirty="0" err="1">
                <a:effectLst/>
                <a:latin typeface="Calibri" panose="020F0502020204030204" pitchFamily="34" charset="0"/>
                <a:ea typeface="Calibri" panose="020F0502020204030204" pitchFamily="34" charset="0"/>
                <a:cs typeface="Times New Roman" panose="02020603050405020304" pitchFamily="18" charset="0"/>
              </a:rPr>
              <a:t>Admodisastro</a:t>
            </a: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 Siti Nur </a:t>
            </a:r>
            <a:r>
              <a:rPr lang="en-IN" sz="3200" kern="100" dirty="0" err="1">
                <a:effectLst/>
                <a:latin typeface="Calibri" panose="020F0502020204030204" pitchFamily="34" charset="0"/>
                <a:ea typeface="Calibri" panose="020F0502020204030204" pitchFamily="34" charset="0"/>
                <a:cs typeface="Times New Roman" panose="02020603050405020304" pitchFamily="18" charset="0"/>
              </a:rPr>
              <a:t>Syahirah</a:t>
            </a: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 M. </a:t>
            </a:r>
            <a:r>
              <a:rPr lang="en-IN" sz="3200" kern="100" dirty="0" err="1">
                <a:effectLst/>
                <a:latin typeface="Calibri" panose="020F0502020204030204" pitchFamily="34" charset="0"/>
                <a:ea typeface="Calibri" panose="020F0502020204030204" pitchFamily="34" charset="0"/>
                <a:cs typeface="Times New Roman" panose="02020603050405020304" pitchFamily="18" charset="0"/>
              </a:rPr>
              <a:t>Ashri</a:t>
            </a: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3200" kern="100" dirty="0" err="1">
                <a:effectLst/>
                <a:latin typeface="Calibri" panose="020F0502020204030204" pitchFamily="34" charset="0"/>
                <a:ea typeface="Calibri" panose="020F0502020204030204" pitchFamily="34" charset="0"/>
                <a:cs typeface="Times New Roman" panose="02020603050405020304" pitchFamily="18" charset="0"/>
              </a:rPr>
              <a:t>Azrina</a:t>
            </a: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3200" kern="100" dirty="0" err="1">
                <a:effectLst/>
                <a:latin typeface="Calibri" panose="020F0502020204030204" pitchFamily="34" charset="0"/>
                <a:ea typeface="Calibri" panose="020F0502020204030204" pitchFamily="34" charset="0"/>
                <a:cs typeface="Times New Roman" panose="02020603050405020304" pitchFamily="18" charset="0"/>
              </a:rPr>
              <a:t>Kamaruddin</a:t>
            </a: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 Yew C. Chong(2022). “Customer Mobile Behavioural Segmentation and Analysis in Telecom Using Machine Learning”. Applied Artificial Intelligence, vol 36, 2022, Issue 1                                                            </a:t>
            </a:r>
          </a:p>
          <a:p>
            <a:endParaRPr lang="en-IN" dirty="0"/>
          </a:p>
        </p:txBody>
      </p:sp>
    </p:spTree>
    <p:extLst>
      <p:ext uri="{BB962C8B-B14F-4D97-AF65-F5344CB8AC3E}">
        <p14:creationId xmlns:p14="http://schemas.microsoft.com/office/powerpoint/2010/main" val="39673649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46879C-F10B-03FF-3243-F79E0B596443}"/>
              </a:ext>
            </a:extLst>
          </p:cNvPr>
          <p:cNvSpPr>
            <a:spLocks noGrp="1"/>
          </p:cNvSpPr>
          <p:nvPr>
            <p:ph idx="1"/>
          </p:nvPr>
        </p:nvSpPr>
        <p:spPr>
          <a:xfrm>
            <a:off x="1141412" y="844062"/>
            <a:ext cx="9905999" cy="4947139"/>
          </a:xfrm>
        </p:spPr>
        <p:txBody>
          <a:bodyPr>
            <a:normAutofit fontScale="92500" lnSpcReduction="10000"/>
          </a:bodyPr>
          <a:lstStyle/>
          <a:p>
            <a:pPr>
              <a:lnSpc>
                <a:spcPct val="107000"/>
              </a:lnSpc>
              <a:spcAft>
                <a:spcPts val="800"/>
              </a:spcAft>
            </a:pPr>
            <a:r>
              <a:rPr lang="en-IN" kern="100" dirty="0">
                <a:effectLst/>
                <a:latin typeface="Calibri" panose="020F0502020204030204" pitchFamily="34" charset="0"/>
                <a:ea typeface="Calibri" panose="020F0502020204030204" pitchFamily="34" charset="0"/>
                <a:cs typeface="Times New Roman" panose="02020603050405020304" pitchFamily="18" charset="0"/>
              </a:rPr>
              <a:t> M. A. </a:t>
            </a:r>
            <a:r>
              <a:rPr lang="en-IN" kern="100" dirty="0" err="1">
                <a:effectLst/>
                <a:latin typeface="Calibri" panose="020F0502020204030204" pitchFamily="34" charset="0"/>
                <a:ea typeface="Calibri" panose="020F0502020204030204" pitchFamily="34" charset="0"/>
                <a:cs typeface="Times New Roman" panose="02020603050405020304" pitchFamily="18" charset="0"/>
              </a:rPr>
              <a:t>Syakar</a:t>
            </a:r>
            <a:r>
              <a:rPr lang="en-IN" kern="100" dirty="0">
                <a:effectLst/>
                <a:latin typeface="Calibri" panose="020F0502020204030204" pitchFamily="34" charset="0"/>
                <a:ea typeface="Calibri" panose="020F0502020204030204" pitchFamily="34" charset="0"/>
                <a:cs typeface="Times New Roman" panose="02020603050405020304" pitchFamily="18" charset="0"/>
              </a:rPr>
              <a:t>, B. K. </a:t>
            </a:r>
            <a:r>
              <a:rPr lang="en-IN" kern="100" dirty="0" err="1">
                <a:effectLst/>
                <a:latin typeface="Calibri" panose="020F0502020204030204" pitchFamily="34" charset="0"/>
                <a:ea typeface="Calibri" panose="020F0502020204030204" pitchFamily="34" charset="0"/>
                <a:cs typeface="Times New Roman" panose="02020603050405020304" pitchFamily="18" charset="0"/>
              </a:rPr>
              <a:t>Khotimah</a:t>
            </a:r>
            <a:r>
              <a:rPr lang="en-IN" kern="100" dirty="0">
                <a:effectLst/>
                <a:latin typeface="Calibri" panose="020F0502020204030204" pitchFamily="34" charset="0"/>
                <a:ea typeface="Calibri" panose="020F0502020204030204" pitchFamily="34" charset="0"/>
                <a:cs typeface="Times New Roman" panose="02020603050405020304" pitchFamily="18" charset="0"/>
              </a:rPr>
              <a:t> , EMS </a:t>
            </a:r>
            <a:r>
              <a:rPr lang="en-IN" kern="100" dirty="0" err="1">
                <a:effectLst/>
                <a:latin typeface="Calibri" panose="020F0502020204030204" pitchFamily="34" charset="0"/>
                <a:ea typeface="Calibri" panose="020F0502020204030204" pitchFamily="34" charset="0"/>
                <a:cs typeface="Times New Roman" panose="02020603050405020304" pitchFamily="18" charset="0"/>
              </a:rPr>
              <a:t>Rochman</a:t>
            </a:r>
            <a:r>
              <a:rPr lang="en-IN" kern="100" dirty="0">
                <a:effectLst/>
                <a:latin typeface="Calibri" panose="020F0502020204030204" pitchFamily="34" charset="0"/>
                <a:ea typeface="Calibri" panose="020F0502020204030204" pitchFamily="34" charset="0"/>
                <a:cs typeface="Times New Roman" panose="02020603050405020304" pitchFamily="18" charset="0"/>
              </a:rPr>
              <a:t>, B. D. </a:t>
            </a:r>
            <a:r>
              <a:rPr lang="en-IN" kern="100" dirty="0" err="1">
                <a:effectLst/>
                <a:latin typeface="Calibri" panose="020F0502020204030204" pitchFamily="34" charset="0"/>
                <a:ea typeface="Calibri" panose="020F0502020204030204" pitchFamily="34" charset="0"/>
                <a:cs typeface="Times New Roman" panose="02020603050405020304" pitchFamily="18" charset="0"/>
              </a:rPr>
              <a:t>Satoto</a:t>
            </a:r>
            <a:r>
              <a:rPr lang="en-IN" kern="100" dirty="0">
                <a:effectLst/>
                <a:latin typeface="Calibri" panose="020F0502020204030204" pitchFamily="34" charset="0"/>
                <a:ea typeface="Calibri" panose="020F0502020204030204" pitchFamily="34" charset="0"/>
                <a:cs typeface="Times New Roman" panose="02020603050405020304" pitchFamily="18" charset="0"/>
              </a:rPr>
              <a:t>(2018)”Integration K-Means  Clustering Method and Elbow Method for identification of the best customer profile cluster”. IOP Conference Series: Materials Science and Engineering ,vol 336                                                                                          </a:t>
            </a:r>
          </a:p>
          <a:p>
            <a:pPr>
              <a:lnSpc>
                <a:spcPct val="107000"/>
              </a:lnSpc>
              <a:spcAft>
                <a:spcPts val="800"/>
              </a:spcAft>
            </a:pPr>
            <a:r>
              <a:rPr lang="en-IN" kern="100" dirty="0" err="1">
                <a:effectLst/>
                <a:latin typeface="Calibri" panose="020F0502020204030204" pitchFamily="34" charset="0"/>
                <a:ea typeface="Calibri" panose="020F0502020204030204" pitchFamily="34" charset="0"/>
                <a:cs typeface="Times New Roman" panose="02020603050405020304" pitchFamily="18" charset="0"/>
              </a:rPr>
              <a:t>Mediana</a:t>
            </a:r>
            <a:r>
              <a:rPr lang="en-IN" kern="100" dirty="0">
                <a:effectLst/>
                <a:latin typeface="Calibri" panose="020F0502020204030204" pitchFamily="34" charset="0"/>
                <a:ea typeface="Calibri" panose="020F0502020204030204" pitchFamily="34" charset="0"/>
                <a:cs typeface="Times New Roman" panose="02020603050405020304" pitchFamily="18" charset="0"/>
              </a:rPr>
              <a:t> </a:t>
            </a:r>
            <a:r>
              <a:rPr lang="en-IN" kern="100" dirty="0" err="1">
                <a:effectLst/>
                <a:latin typeface="Calibri" panose="020F0502020204030204" pitchFamily="34" charset="0"/>
                <a:ea typeface="Calibri" panose="020F0502020204030204" pitchFamily="34" charset="0"/>
                <a:cs typeface="Times New Roman" panose="02020603050405020304" pitchFamily="18" charset="0"/>
              </a:rPr>
              <a:t>Aryuni</a:t>
            </a:r>
            <a:r>
              <a:rPr lang="en-IN" kern="100" dirty="0">
                <a:effectLst/>
                <a:latin typeface="Calibri" panose="020F0502020204030204" pitchFamily="34" charset="0"/>
                <a:ea typeface="Calibri" panose="020F0502020204030204" pitchFamily="34" charset="0"/>
                <a:cs typeface="Times New Roman" panose="02020603050405020304" pitchFamily="18" charset="0"/>
              </a:rPr>
              <a:t>, Evaristus </a:t>
            </a:r>
            <a:r>
              <a:rPr lang="en-IN" kern="100" dirty="0" err="1">
                <a:effectLst/>
                <a:latin typeface="Calibri" panose="020F0502020204030204" pitchFamily="34" charset="0"/>
                <a:ea typeface="Calibri" panose="020F0502020204030204" pitchFamily="34" charset="0"/>
                <a:cs typeface="Times New Roman" panose="02020603050405020304" pitchFamily="18" charset="0"/>
              </a:rPr>
              <a:t>Didik</a:t>
            </a:r>
            <a:r>
              <a:rPr lang="en-IN" kern="100" dirty="0">
                <a:effectLst/>
                <a:latin typeface="Calibri" panose="020F0502020204030204" pitchFamily="34" charset="0"/>
                <a:ea typeface="Calibri" panose="020F0502020204030204" pitchFamily="34" charset="0"/>
                <a:cs typeface="Times New Roman" panose="02020603050405020304" pitchFamily="18" charset="0"/>
              </a:rPr>
              <a:t> </a:t>
            </a:r>
            <a:r>
              <a:rPr lang="en-IN" kern="100" dirty="0" err="1">
                <a:effectLst/>
                <a:latin typeface="Calibri" panose="020F0502020204030204" pitchFamily="34" charset="0"/>
                <a:ea typeface="Calibri" panose="020F0502020204030204" pitchFamily="34" charset="0"/>
                <a:cs typeface="Times New Roman" panose="02020603050405020304" pitchFamily="18" charset="0"/>
              </a:rPr>
              <a:t>Madyatmadja</a:t>
            </a:r>
            <a:r>
              <a:rPr lang="en-IN" kern="100" dirty="0">
                <a:effectLst/>
                <a:latin typeface="Calibri" panose="020F0502020204030204" pitchFamily="34" charset="0"/>
                <a:ea typeface="Calibri" panose="020F0502020204030204" pitchFamily="34" charset="0"/>
                <a:cs typeface="Times New Roman" panose="02020603050405020304" pitchFamily="18" charset="0"/>
              </a:rPr>
              <a:t>, Eka Miranda(2018)  “Customer Segmentation in XYZ Bank using K-Means and K-</a:t>
            </a:r>
            <a:r>
              <a:rPr lang="en-IN" kern="100" dirty="0" err="1">
                <a:effectLst/>
                <a:latin typeface="Calibri" panose="020F0502020204030204" pitchFamily="34" charset="0"/>
                <a:ea typeface="Calibri" panose="020F0502020204030204" pitchFamily="34" charset="0"/>
                <a:cs typeface="Times New Roman" panose="02020603050405020304" pitchFamily="18" charset="0"/>
              </a:rPr>
              <a:t>Meiods</a:t>
            </a:r>
            <a:r>
              <a:rPr lang="en-IN" kern="100" dirty="0">
                <a:effectLst/>
                <a:latin typeface="Calibri" panose="020F0502020204030204" pitchFamily="34" charset="0"/>
                <a:ea typeface="Calibri" panose="020F0502020204030204" pitchFamily="34" charset="0"/>
                <a:cs typeface="Times New Roman" panose="02020603050405020304" pitchFamily="18" charset="0"/>
              </a:rPr>
              <a:t> Clustering”. International   Conference on Information Management and Technology(ITCM Tech)      </a:t>
            </a:r>
          </a:p>
          <a:p>
            <a:pPr>
              <a:lnSpc>
                <a:spcPct val="107000"/>
              </a:lnSpc>
              <a:spcAft>
                <a:spcPts val="800"/>
              </a:spcAft>
            </a:pPr>
            <a:r>
              <a:rPr lang="en-IN" kern="100" dirty="0">
                <a:effectLst/>
                <a:latin typeface="Calibri" panose="020F0502020204030204" pitchFamily="34" charset="0"/>
                <a:ea typeface="Calibri" panose="020F0502020204030204" pitchFamily="34" charset="0"/>
                <a:cs typeface="Times New Roman" panose="02020603050405020304" pitchFamily="18" charset="0"/>
              </a:rPr>
              <a:t> Jaypee University of Information Technology “Customer Segmentation.pdf “ (2022)                                                                             </a:t>
            </a:r>
          </a:p>
          <a:p>
            <a:pPr>
              <a:lnSpc>
                <a:spcPct val="107000"/>
              </a:lnSpc>
              <a:spcAft>
                <a:spcPts val="800"/>
              </a:spcAft>
            </a:pPr>
            <a:r>
              <a:rPr lang="en-IN" kern="100" dirty="0">
                <a:effectLst/>
                <a:latin typeface="Calibri" panose="020F0502020204030204" pitchFamily="34" charset="0"/>
                <a:ea typeface="Calibri" panose="020F0502020204030204" pitchFamily="34" charset="0"/>
                <a:cs typeface="Times New Roman" panose="02020603050405020304" pitchFamily="18" charset="0"/>
              </a:rPr>
              <a:t> Customer Segmentation using K-Means Clustering with Python | Machine</a:t>
            </a:r>
            <a:r>
              <a:rPr lang="en-IN" b="1" kern="100" dirty="0">
                <a:effectLst/>
                <a:latin typeface="Calibri" panose="020F0502020204030204" pitchFamily="34" charset="0"/>
                <a:ea typeface="Calibri" panose="020F0502020204030204" pitchFamily="34" charset="0"/>
                <a:cs typeface="Times New Roman" panose="02020603050405020304" pitchFamily="18" charset="0"/>
              </a:rPr>
              <a:t> </a:t>
            </a:r>
            <a:r>
              <a:rPr lang="en-IN" kern="100" dirty="0">
                <a:effectLst/>
                <a:latin typeface="Calibri" panose="020F0502020204030204" pitchFamily="34" charset="0"/>
                <a:ea typeface="Calibri" panose="020F0502020204030204" pitchFamily="34" charset="0"/>
                <a:cs typeface="Times New Roman" panose="02020603050405020304" pitchFamily="18" charset="0"/>
              </a:rPr>
              <a:t>Learning Projects (2021)</a:t>
            </a:r>
          </a:p>
          <a:p>
            <a:pPr marL="0" indent="0">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endParaRPr lang="en-IN" dirty="0"/>
          </a:p>
        </p:txBody>
      </p:sp>
    </p:spTree>
    <p:extLst>
      <p:ext uri="{BB962C8B-B14F-4D97-AF65-F5344CB8AC3E}">
        <p14:creationId xmlns:p14="http://schemas.microsoft.com/office/powerpoint/2010/main" val="35777471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C3BD87-5D5B-DD63-4937-1E7DDBEB2C30}"/>
              </a:ext>
            </a:extLst>
          </p:cNvPr>
          <p:cNvSpPr>
            <a:spLocks noGrp="1"/>
          </p:cNvSpPr>
          <p:nvPr>
            <p:ph type="title"/>
          </p:nvPr>
        </p:nvSpPr>
        <p:spPr>
          <a:xfrm>
            <a:off x="1141413" y="618517"/>
            <a:ext cx="9905998" cy="4679039"/>
          </a:xfrm>
        </p:spPr>
        <p:txBody>
          <a:bodyPr>
            <a:normAutofit/>
          </a:bodyPr>
          <a:lstStyle/>
          <a:p>
            <a:pPr algn="ctr"/>
            <a:r>
              <a:rPr lang="en-US" sz="9600" b="1" dirty="0"/>
              <a:t>THANK YOU</a:t>
            </a:r>
            <a:endParaRPr lang="en-IN" sz="9600" b="1" dirty="0"/>
          </a:p>
        </p:txBody>
      </p:sp>
    </p:spTree>
    <p:extLst>
      <p:ext uri="{BB962C8B-B14F-4D97-AF65-F5344CB8AC3E}">
        <p14:creationId xmlns:p14="http://schemas.microsoft.com/office/powerpoint/2010/main" val="4008521595"/>
      </p:ext>
    </p:extLst>
  </p:cSld>
  <p:clrMapOvr>
    <a:masterClrMapping/>
  </p:clrMapOvr>
  <p:transition spd="slow">
    <p:wheel spokes="1"/>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1617</TotalTime>
  <Words>3965</Words>
  <Application>Microsoft Office PowerPoint</Application>
  <PresentationFormat>Widescreen</PresentationFormat>
  <Paragraphs>422</Paragraphs>
  <Slides>55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55</vt:i4>
      </vt:variant>
    </vt:vector>
  </HeadingPairs>
  <TitlesOfParts>
    <vt:vector size="65" baseType="lpstr">
      <vt:lpstr>Arial</vt:lpstr>
      <vt:lpstr>Calibri</vt:lpstr>
      <vt:lpstr>Cambria Math</vt:lpstr>
      <vt:lpstr>Courier New</vt:lpstr>
      <vt:lpstr>Roboto-Italic</vt:lpstr>
      <vt:lpstr>Roboto-Regular</vt:lpstr>
      <vt:lpstr>Times New Roman</vt:lpstr>
      <vt:lpstr>Tw Cen MT</vt:lpstr>
      <vt:lpstr>Wingdings</vt:lpstr>
      <vt:lpstr>Circuit</vt:lpstr>
      <vt:lpstr>CUSTOMER SEGMENTATION  ANALYSIS USING K-MEANS  CLUSTERING                                                                                                                </vt:lpstr>
      <vt:lpstr>contents</vt:lpstr>
      <vt:lpstr>INTRODUCTION</vt:lpstr>
      <vt:lpstr>PowerPoint Presentation</vt:lpstr>
      <vt:lpstr>DATASET DESCRIPTION</vt:lpstr>
      <vt:lpstr>PROBLEM STATEMENT </vt:lpstr>
      <vt:lpstr> MAIN AIM</vt:lpstr>
      <vt:lpstr>LITERATURE REVIEW</vt:lpstr>
      <vt:lpstr>PowerPoint Presentation</vt:lpstr>
      <vt:lpstr>DEFINITIONS</vt:lpstr>
      <vt:lpstr>PowerPoint Presentation</vt:lpstr>
      <vt:lpstr>PowerPoint Presentation</vt:lpstr>
      <vt:lpstr>METHODLOGY</vt:lpstr>
      <vt:lpstr>PowerPoint Presentation</vt:lpstr>
      <vt:lpstr>PowerPoint Presentation</vt:lpstr>
      <vt:lpstr>PowerPoint Presentation</vt:lpstr>
      <vt:lpstr>Step 5 : data preprocessing</vt:lpstr>
      <vt:lpstr>PowerPoint Presentation</vt:lpstr>
      <vt:lpstr>PowerPoint Presentation</vt:lpstr>
      <vt:lpstr>PowerPoint Presentation</vt:lpstr>
      <vt:lpstr>PowerPoint Presentation</vt:lpstr>
      <vt:lpstr>Step 6 :Exploratory Data Analysis (EDA)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Step 7: clustering process</vt:lpstr>
      <vt:lpstr>PowerPoint Presentation</vt:lpstr>
      <vt:lpstr>PowerPoint Presentation</vt:lpstr>
      <vt:lpstr>PowerPoint Presentation</vt:lpstr>
      <vt:lpstr>Observations of scatter plot</vt:lpstr>
      <vt:lpstr>PowerPoint Presentation</vt:lpstr>
      <vt:lpstr>PowerPoint Presentation</vt:lpstr>
      <vt:lpstr>PowerPoint Presentation</vt:lpstr>
      <vt:lpstr>PowerPoint Presentation</vt:lpstr>
      <vt:lpstr>Observations of 3D scatter plot</vt:lpstr>
      <vt:lpstr>PowerPoint Presentation</vt:lpstr>
      <vt:lpstr>PowerPoint Presentation</vt:lpstr>
      <vt:lpstr>Observations of PCA plot</vt:lpstr>
      <vt:lpstr>Result </vt:lpstr>
      <vt:lpstr>conclusion</vt:lpstr>
      <vt:lpstr>PowerPoint Presentation</vt:lpstr>
      <vt:lpstr>PowerPoint Presentation</vt:lpstr>
      <vt:lpstr>PowerPoint Presentation</vt:lpstr>
      <vt:lpstr>PowerPoint Presentation</vt:lpstr>
      <vt:lpstr>PowerPoint Presentation</vt:lpstr>
      <vt:lpstr>References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shruti suresh</dc:creator>
  <cp:lastModifiedBy>shruti suresh</cp:lastModifiedBy>
  <cp:revision>203</cp:revision>
  <dcterms:created xsi:type="dcterms:W3CDTF">2024-10-23T13:14:36Z</dcterms:created>
  <dcterms:modified xsi:type="dcterms:W3CDTF">2025-10-13T20:04:37Z</dcterms:modified>
</cp:coreProperties>
</file>